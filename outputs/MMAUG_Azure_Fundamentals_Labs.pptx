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9ea332a9e842d5" /><Relationship Type="http://schemas.openxmlformats.org/officeDocument/2006/relationships/extended-properties" Target="/docProps/app.xml" Id="Rc0039409ddb64ad7" /><Relationship Type="http://schemas.openxmlformats.org/officeDocument/2006/relationships/officeDocument" Target="/ppt/presentation.xml" Id="R29005277b4cb4548" /></Relationships>
</file>

<file path=ppt/presentation.xml><?xml version="1.0" encoding="utf-8"?>
<p:presentation xmlns:p="http://schemas.openxmlformats.org/presentationml/2006/main">
  <p:sldMasterIdLst>
    <p:sldMasterId xmlns:r="http://schemas.openxmlformats.org/officeDocument/2006/relationships" id="2147483648" r:id="R199898f80ba34f32"/>
  </p:sldMasterIdLst>
  <p:notesMasterIdLst>
    <p:notesMasterId xmlns:r="http://schemas.openxmlformats.org/officeDocument/2006/relationships" r:id="R1d2efb9fe2c04cbf"/>
  </p:notesMasterIdLst>
  <p:sldIdLst>
    <p:sldId xmlns:r="http://schemas.openxmlformats.org/officeDocument/2006/relationships" id="256" r:id="Rc3aa4d2170b34f81"/>
    <p:sldId xmlns:r="http://schemas.openxmlformats.org/officeDocument/2006/relationships" id="257" r:id="R045e9128a58042c8"/>
    <p:sldId xmlns:r="http://schemas.openxmlformats.org/officeDocument/2006/relationships" id="258" r:id="Re22e0ac8d7a64bc1"/>
    <p:sldId xmlns:r="http://schemas.openxmlformats.org/officeDocument/2006/relationships" id="259" r:id="R4673b7a5588b4872"/>
    <p:sldId xmlns:r="http://schemas.openxmlformats.org/officeDocument/2006/relationships" id="260" r:id="R2945830352974931"/>
    <p:sldId xmlns:r="http://schemas.openxmlformats.org/officeDocument/2006/relationships" id="261" r:id="R7100415a6ede44c0"/>
    <p:sldId xmlns:r="http://schemas.openxmlformats.org/officeDocument/2006/relationships" id="262" r:id="R69c09b3a03a24b3c"/>
    <p:sldId xmlns:r="http://schemas.openxmlformats.org/officeDocument/2006/relationships" id="263" r:id="Re008bea18501497a"/>
    <p:sldId xmlns:r="http://schemas.openxmlformats.org/officeDocument/2006/relationships" id="264" r:id="R5a7d5076033b41b9"/>
    <p:sldId xmlns:r="http://schemas.openxmlformats.org/officeDocument/2006/relationships" id="265" r:id="R94b4715ce1b247aa"/>
    <p:sldId xmlns:r="http://schemas.openxmlformats.org/officeDocument/2006/relationships" id="266" r:id="Rb36ca674768444dd"/>
    <p:sldId xmlns:r="http://schemas.openxmlformats.org/officeDocument/2006/relationships" id="267" r:id="R7aa6475b722d4406"/>
    <p:sldId xmlns:r="http://schemas.openxmlformats.org/officeDocument/2006/relationships" id="268" r:id="Re316ba1bc5524ac2"/>
    <p:sldId xmlns:r="http://schemas.openxmlformats.org/officeDocument/2006/relationships" id="269" r:id="Raaabd3883b494f87"/>
    <p:sldId xmlns:r="http://schemas.openxmlformats.org/officeDocument/2006/relationships" id="270" r:id="Re10b8201d6964df2"/>
    <p:sldId xmlns:r="http://schemas.openxmlformats.org/officeDocument/2006/relationships" id="271" r:id="R4609872016e84ca4"/>
    <p:sldId xmlns:r="http://schemas.openxmlformats.org/officeDocument/2006/relationships" id="272" r:id="R3fdaec6c2fd143b4"/>
    <p:sldId xmlns:r="http://schemas.openxmlformats.org/officeDocument/2006/relationships" id="273" r:id="R9d730f43e9e64c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fee190d26a429b" /><Relationship Type="http://schemas.openxmlformats.org/officeDocument/2006/relationships/slideMaster" Target="/ppt/slideMasters/slideMaster1.xml" Id="R199898f80ba34f32" /><Relationship Type="http://schemas.openxmlformats.org/officeDocument/2006/relationships/notesMaster" Target="/ppt/notesMasters/notesMaster1.xml" Id="R1d2efb9fe2c04cbf" /><Relationship Type="http://schemas.openxmlformats.org/officeDocument/2006/relationships/presProps" Target="/ppt/presProps.xml" Id="R1b1cf9c95473433c" /><Relationship Type="http://schemas.openxmlformats.org/officeDocument/2006/relationships/tableStyles" Target="/ppt/tableStyles.xml" Id="Rd361f98e3fcc4d6b" /><Relationship Type="http://schemas.openxmlformats.org/officeDocument/2006/relationships/slide" Target="/ppt/slides/slide1.xml" Id="Rc3aa4d2170b34f81" /><Relationship Type="http://schemas.openxmlformats.org/officeDocument/2006/relationships/slide" Target="/ppt/slides/slide2.xml" Id="R045e9128a58042c8" /><Relationship Type="http://schemas.openxmlformats.org/officeDocument/2006/relationships/slide" Target="/ppt/slides/slide3.xml" Id="Re22e0ac8d7a64bc1" /><Relationship Type="http://schemas.openxmlformats.org/officeDocument/2006/relationships/slide" Target="/ppt/slides/slide4.xml" Id="R4673b7a5588b4872" /><Relationship Type="http://schemas.openxmlformats.org/officeDocument/2006/relationships/slide" Target="/ppt/slides/slide5.xml" Id="R2945830352974931" /><Relationship Type="http://schemas.openxmlformats.org/officeDocument/2006/relationships/slide" Target="/ppt/slides/slide6.xml" Id="R7100415a6ede44c0" /><Relationship Type="http://schemas.openxmlformats.org/officeDocument/2006/relationships/slide" Target="/ppt/slides/slide7.xml" Id="R69c09b3a03a24b3c" /><Relationship Type="http://schemas.openxmlformats.org/officeDocument/2006/relationships/slide" Target="/ppt/slides/slide8.xml" Id="Re008bea18501497a" /><Relationship Type="http://schemas.openxmlformats.org/officeDocument/2006/relationships/slide" Target="/ppt/slides/slide9.xml" Id="R5a7d5076033b41b9" /><Relationship Type="http://schemas.openxmlformats.org/officeDocument/2006/relationships/slide" Target="/ppt/slides/slide10.xml" Id="R94b4715ce1b247aa" /><Relationship Type="http://schemas.openxmlformats.org/officeDocument/2006/relationships/slide" Target="/ppt/slides/slide11.xml" Id="Rb36ca674768444dd" /><Relationship Type="http://schemas.openxmlformats.org/officeDocument/2006/relationships/slide" Target="/ppt/slides/slide12.xml" Id="R7aa6475b722d4406" /><Relationship Type="http://schemas.openxmlformats.org/officeDocument/2006/relationships/slide" Target="/ppt/slides/slide13.xml" Id="Re316ba1bc5524ac2" /><Relationship Type="http://schemas.openxmlformats.org/officeDocument/2006/relationships/slide" Target="/ppt/slides/slide14.xml" Id="Raaabd3883b494f87" /><Relationship Type="http://schemas.openxmlformats.org/officeDocument/2006/relationships/slide" Target="/ppt/slides/slide15.xml" Id="Re10b8201d6964df2" /><Relationship Type="http://schemas.openxmlformats.org/officeDocument/2006/relationships/slide" Target="/ppt/slides/slide16.xml" Id="R4609872016e84ca4" /><Relationship Type="http://schemas.openxmlformats.org/officeDocument/2006/relationships/slide" Target="/ppt/slides/slide17.xml" Id="R3fdaec6c2fd143b4" /><Relationship Type="http://schemas.openxmlformats.org/officeDocument/2006/relationships/slide" Target="/ppt/slides/slide18.xml" Id="R9d730f43e9e6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f82a9e7bb24b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56b0cdfe064811" /><Relationship Type="http://schemas.openxmlformats.org/officeDocument/2006/relationships/notesMaster" Target="/ppt/notesMasters/notesMaster1.xml" Id="Rd34c43ad1ade43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6514f69dd24e01" /><Relationship Type="http://schemas.openxmlformats.org/officeDocument/2006/relationships/notesMaster" Target="/ppt/notesMasters/notesMaster1.xml" Id="R1d68ecc2ae2c4d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a2c6d7ba414ef9" /><Relationship Type="http://schemas.openxmlformats.org/officeDocument/2006/relationships/notesMaster" Target="/ppt/notesMasters/notesMaster1.xml" Id="Rcbd6cee1349a48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5a68c078e247e0" /><Relationship Type="http://schemas.openxmlformats.org/officeDocument/2006/relationships/notesMaster" Target="/ppt/notesMasters/notesMaster1.xml" Id="R7dc4787b71ba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a3bd90f3684e4b" /><Relationship Type="http://schemas.openxmlformats.org/officeDocument/2006/relationships/notesMaster" Target="/ppt/notesMasters/notesMaster1.xml" Id="R7eccd7fad8ef4b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d00f3eef3c4f4f" /><Relationship Type="http://schemas.openxmlformats.org/officeDocument/2006/relationships/notesMaster" Target="/ppt/notesMasters/notesMaster1.xml" Id="Rc6ecf6cbcbc143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6ae9c8c0a94539" /><Relationship Type="http://schemas.openxmlformats.org/officeDocument/2006/relationships/notesMaster" Target="/ppt/notesMasters/notesMaster1.xml" Id="Re10b8eb9444743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19f9b371054034" /><Relationship Type="http://schemas.openxmlformats.org/officeDocument/2006/relationships/notesMaster" Target="/ppt/notesMasters/notesMaster1.xml" Id="R301abf03688d4a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8196252f9a4234" /><Relationship Type="http://schemas.openxmlformats.org/officeDocument/2006/relationships/notesMaster" Target="/ppt/notesMasters/notesMaster1.xml" Id="R215e98829b3148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d10275e85f4f19" /><Relationship Type="http://schemas.openxmlformats.org/officeDocument/2006/relationships/notesMaster" Target="/ppt/notesMasters/notesMaster1.xml" Id="R6c1c9a7fdc6648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570736e2d9429f" /><Relationship Type="http://schemas.openxmlformats.org/officeDocument/2006/relationships/notesMaster" Target="/ppt/notesMasters/notesMaster1.xml" Id="R9e049d5d75c644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3422d0106e4ac9" /><Relationship Type="http://schemas.openxmlformats.org/officeDocument/2006/relationships/notesMaster" Target="/ppt/notesMasters/notesMaster1.xml" Id="R864ca716a4324e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3a69823bae4990" /><Relationship Type="http://schemas.openxmlformats.org/officeDocument/2006/relationships/notesMaster" Target="/ppt/notesMasters/notesMaster1.xml" Id="R84689e1414ea4b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b6c812ba574278" /><Relationship Type="http://schemas.openxmlformats.org/officeDocument/2006/relationships/notesMaster" Target="/ppt/notesMasters/notesMaster1.xml" Id="Rf9e1c99d39b748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422fe64cd54605" /><Relationship Type="http://schemas.openxmlformats.org/officeDocument/2006/relationships/notesMaster" Target="/ppt/notesMasters/notesMaster1.xml" Id="R7d02e690557347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650a604010426c" /><Relationship Type="http://schemas.openxmlformats.org/officeDocument/2006/relationships/notesMaster" Target="/ppt/notesMasters/notesMaster1.xml" Id="Rf766bbf582d54c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c8c9e5d8334398" /><Relationship Type="http://schemas.openxmlformats.org/officeDocument/2006/relationships/notesMaster" Target="/ppt/notesMasters/notesMaster1.xml" Id="R50861dbe18c54b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26511a2e7e4172" /><Relationship Type="http://schemas.openxmlformats.org/officeDocument/2006/relationships/notesMaster" Target="/ppt/notesMasters/notesMaster1.xml" Id="Rb2625d905e09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explain that the session moves from simple cloud concepts into six guided labs. Ask for a show of hands from anyone using Azure for the first time. Generated cover artwork created for this deck. No external factual source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route map. The session follows the order shown, then finishes with hands-on validation and cleanup. Ask learners which step feels least familiar.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cloud computing before using service names. Explain CapEx as buying equipment and OpEx as paying for ongoing use. Clarify that the customer still owns responsibilities such as identity, data, and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housing analogy if helpful. IaaS resembles renting an empty apartment, PaaS resembles a serviced apartment, and SaaS resembles a hotel room. Avoid stretching the analogy. Ask which model gives the customer the most operating system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level in plain language. Policies and role assignments at a higher scope can affect lower scopes. A resource group does not force all resources into one physical server or one region. Source: Microsoft Learn, Azure Resource Manager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lab Resource Group name. Explain that deletion removes every contained resource. Pause on the word lifecycle. Ask what could go wrong if an unrelated production resource were placed in a temporary lab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containers and AKS conceptual. Explain that containerization alone does not require Kubernetes. For this workshop, the VM demonstrates IaaS and App Service demonstrates PaaS.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supporting resource before opening the VM creation page. The lab does not require signing in to the VM, so learners should choose no inbound ports unless the instructor explicitly approves a restricted rule. Source: Microsoft Learn, Windows VM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VNet first, then subnet, NIC, IP addresses, and NSG. Avoid detailed subnet mathematics. The public IP does not create access by itself. The NSG must also permit traffic. Direct internet exposure increases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Blob as object storage for files. Keep the container private. Mention that storage account names are globally unique and allow only lowercase letters and numbers. Source: Microsoft Learn, Azure Storage redundancy and Blob portal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Microsoft Entra ID as the identity system. Explain Reader, Contributor, and Owner in simple terms. Students must not change RBAC in the bootcamp environment. Ask why Owner would be excessive for someone who only needs to view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IaaS and PaaS responsibilities. The Web App receives an HTTPS hostname. The App Service plan supplies compute. ZIP deployment requires index.html at the package root. Source: Microsoft Learn, Deploy files to Azure App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Activity Log records control-plane changes, not the content of application requests. Ask learners to name one event they expect to see after completing the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quote prices because they vary by region, agreement, and date. Explain that students may not have permission to create budgets. Stopping a VM is not the same as deleting its disk, public IP, or other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before the labs. Keep the clock visible. Ask learners to stop and raise a hand if their subscription or region differs. Use the prepared VM if deployment remains incomplete after the planned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topology from left to right. Ask learners to point to the resources that belong to networking, storage, and web hosting. Reinforce that one cleanup action targets the complete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calm troubleshooting. Check subscription, exact resource, and deployment details. Do not make unnecessary RBAC changes. Do not weaken network or storage security to make an error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warning aloud. Learners must inspect the Resource Group before deletion and stop if anything looks unfamiliar. The final CLI result should be false. Source: Microsoft Learn, Delete Azure Resource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e3ce706baa43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0d150cfa1f4a49" /><Relationship Type="http://schemas.openxmlformats.org/officeDocument/2006/relationships/slideLayout" Target="/ppt/slideLayouts/slideLayout1.xml" Id="R4a16d901247c40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16d901247c40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2d670829d24f06" /><Relationship Type="http://schemas.openxmlformats.org/officeDocument/2006/relationships/image" Target="/ppt/media/image.png" Id="R9e4c8ef4458a4600" /><Relationship Type="http://schemas.openxmlformats.org/officeDocument/2006/relationships/notesSlide" Target="/ppt/notesSlides/notesSlide1.xml" Id="Re5b09ec63a254b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9995e3f9f44349" /><Relationship Type="http://schemas.openxmlformats.org/officeDocument/2006/relationships/notesSlide" Target="/ppt/notesSlides/notesSlide2.xml" Id="R44ff00a1d6be49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59f34319e34f6c" /><Relationship Type="http://schemas.openxmlformats.org/officeDocument/2006/relationships/notesSlide" Target="/ppt/notesSlides/notesSlide3.xml" Id="R7a1b1014698442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e9959d0c034847" /><Relationship Type="http://schemas.openxmlformats.org/officeDocument/2006/relationships/notesSlide" Target="/ppt/notesSlides/notesSlide4.xml" Id="Rc671930b13804a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a0dd9246fb4085" /><Relationship Type="http://schemas.openxmlformats.org/officeDocument/2006/relationships/notesSlide" Target="/ppt/notesSlides/notesSlide5.xml" Id="R93a60d5b337749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5530df63584d8e" /><Relationship Type="http://schemas.openxmlformats.org/officeDocument/2006/relationships/notesSlide" Target="/ppt/notesSlides/notesSlide6.xml" Id="Ra24269843624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f0229fa8c147c9" /><Relationship Type="http://schemas.openxmlformats.org/officeDocument/2006/relationships/notesSlide" Target="/ppt/notesSlides/notesSlide7.xml" Id="R635348bff1a14e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f9ec8227504068" /><Relationship Type="http://schemas.openxmlformats.org/officeDocument/2006/relationships/notesSlide" Target="/ppt/notesSlides/notesSlide8.xml" Id="R67c93975652549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8dde4223e04b8b" /><Relationship Type="http://schemas.openxmlformats.org/officeDocument/2006/relationships/notesSlide" Target="/ppt/notesSlides/notesSlide9.xml" Id="Rf9960eab50d443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c134a858f44faa" /><Relationship Type="http://schemas.openxmlformats.org/officeDocument/2006/relationships/notesSlide" Target="/ppt/notesSlides/notesSlide10.xml" Id="Raef63da2e4694c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b531581dfbf4d08" /><Relationship Type="http://schemas.openxmlformats.org/officeDocument/2006/relationships/notesSlide" Target="/ppt/notesSlides/notesSlide11.xml" Id="Rca60773a9b4b48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6b848eed9443e7" /><Relationship Type="http://schemas.openxmlformats.org/officeDocument/2006/relationships/notesSlide" Target="/ppt/notesSlides/notesSlide12.xml" Id="R9a6e363407e148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ae4e57c56942e2" /><Relationship Type="http://schemas.openxmlformats.org/officeDocument/2006/relationships/notesSlide" Target="/ppt/notesSlides/notesSlide13.xml" Id="R0f977e7db93348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5a855dceb24d1c" /><Relationship Type="http://schemas.openxmlformats.org/officeDocument/2006/relationships/notesSlide" Target="/ppt/notesSlides/notesSlide14.xml" Id="R8d44fac18ebd4b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7245e98459463c" /><Relationship Type="http://schemas.openxmlformats.org/officeDocument/2006/relationships/notesSlide" Target="/ppt/notesSlides/notesSlide15.xml" Id="R6103c4a5e90442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2fa6e115e52402e" /><Relationship Type="http://schemas.openxmlformats.org/officeDocument/2006/relationships/notesSlide" Target="/ppt/notesSlides/notesSlide16.xml" Id="R087874b0879940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b6eed552404518" /><Relationship Type="http://schemas.openxmlformats.org/officeDocument/2006/relationships/notesSlide" Target="/ppt/notesSlides/notesSlide17.xml" Id="R15a9ab01e33349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ecbf233ddfc4f8d" /><Relationship Type="http://schemas.openxmlformats.org/officeDocument/2006/relationships/notesSlide" Target="/ppt/notesSlides/notesSlide18.xml" Id="Rac1c02f471224da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4c8ef4458a460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E90251-E93C-4EAE-A3EF-32F726EEA9C1}"/>
              </a:ext>
            </a:extLst>
          </p:cNvPr>
          <p:cNvSpPr>
            <a:spLocks xmlns:a="http://schemas.openxmlformats.org/drawingml/2006/main" noGrp="1"/>
          </p:cNvSpPr>
          <p:nvPr/>
        </p:nvSpPr>
        <p:spPr>
          <a:xfrm xmlns:a="http://schemas.openxmlformats.org/drawingml/2006/main">
            <a:off x="666750" y="1333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Microsoft Azure</a:t>
            </a:r>
          </a:p>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Fundamentals</a:t>
            </a:r>
          </a:p>
        </p:txBody>
      </p:sp>
      <p:sp>
        <p:nvSpPr>
          <p:cNvPr id="3" name="">
            <a:extLst xmlns:a="http://schemas.openxmlformats.org/drawingml/2006/main">
              <a:ext uri="{FF2B5EF4-FFF2-40B4-BE49-F238E27FC236}">
                <a16:creationId xmlns:a16="http://schemas.microsoft.com/office/drawing/2014/main" id="{4E2E6AD9-9374-4CF1-A81B-63B366A31A23}"/>
              </a:ext>
            </a:extLst>
          </p:cNvPr>
          <p:cNvSpPr>
            <a:spLocks xmlns:a="http://schemas.openxmlformats.org/drawingml/2006/main" noGrp="1"/>
          </p:cNvSpPr>
          <p:nvPr/>
        </p:nvSpPr>
        <p:spPr>
          <a:xfrm xmlns:a="http://schemas.openxmlformats.org/drawingml/2006/main">
            <a:off x="704850" y="31432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Two-hour hands-on introduction</a:t>
            </a:r>
          </a:p>
        </p:txBody>
      </p:sp>
      <p:sp>
        <p:nvSpPr>
          <p:cNvPr id="4" name="">
            <a:extLst xmlns:a="http://schemas.openxmlformats.org/drawingml/2006/main">
              <a:ext uri="{FF2B5EF4-FFF2-40B4-BE49-F238E27FC236}">
                <a16:creationId xmlns:a16="http://schemas.microsoft.com/office/drawing/2014/main" id="{B37116D8-9F46-4737-9BEF-33C385F7DDD2}"/>
              </a:ext>
            </a:extLst>
          </p:cNvPr>
          <p:cNvSpPr>
            <a:spLocks xmlns:a="http://schemas.openxmlformats.org/drawingml/2006/main" noGrp="1"/>
          </p:cNvSpPr>
          <p:nvPr/>
        </p:nvSpPr>
        <p:spPr>
          <a:xfrm xmlns:a="http://schemas.openxmlformats.org/drawingml/2006/main">
            <a:off x="704850" y="37147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MMAUG 30-Day AI and DevOps Fundamentals Bootcamp</a:t>
            </a:r>
          </a:p>
        </p:txBody>
      </p:sp>
      <p:sp>
        <p:nvSpPr>
          <p:cNvPr id="5" name="">
            <a:extLst xmlns:a="http://schemas.openxmlformats.org/drawingml/2006/main">
              <a:ext uri="{FF2B5EF4-FFF2-40B4-BE49-F238E27FC236}">
                <a16:creationId xmlns:a16="http://schemas.microsoft.com/office/drawing/2014/main" id="{45C3A720-F0BA-4FF8-959B-7470B6DDFC27}"/>
              </a:ext>
            </a:extLst>
          </p:cNvPr>
          <p:cNvSpPr>
            <a:spLocks xmlns:a="http://schemas.openxmlformats.org/drawingml/2006/main" noGrp="1"/>
          </p:cNvSpPr>
          <p:nvPr/>
        </p:nvSpPr>
        <p:spPr>
          <a:xfrm xmlns:a="http://schemas.openxmlformats.org/drawingml/2006/main">
            <a:off x="704850" y="56578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Learn the concepts. Build the environment. Clean it up.</a:t>
            </a:r>
          </a:p>
        </p:txBody>
      </p:sp>
    </p:spTree>
    <p:extLst>
      <p:ext uri="{BB962C8B-B14F-4D97-AF65-F5344CB8AC3E}">
        <p14:creationId xmlns:p14="http://schemas.microsoft.com/office/powerpoint/2010/main" val="3150148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92F914D-6B82-4433-9860-A8E9A80B9CFA}"/>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learning journey</a:t>
            </a:r>
          </a:p>
        </p:txBody>
      </p:sp>
      <p:sp>
        <p:nvSpPr>
          <p:cNvPr id="2" name="">
            <a:extLst xmlns:a="http://schemas.openxmlformats.org/drawingml/2006/main">
              <a:ext uri="{FF2B5EF4-FFF2-40B4-BE49-F238E27FC236}">
                <a16:creationId xmlns:a16="http://schemas.microsoft.com/office/drawing/2014/main" id="{F9EDACE5-B87B-4973-8C58-41CD68526743}"/>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D62EE5-B60E-4733-AF5F-40A39FDCB0F5}"/>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Each idea prepares you for the next practical step</a:t>
            </a:r>
          </a:p>
        </p:txBody>
      </p:sp>
      <p:sp>
        <p:nvSpPr>
          <p:cNvPr id="4" name="">
            <a:extLst xmlns:a="http://schemas.openxmlformats.org/drawingml/2006/main">
              <a:ext uri="{FF2B5EF4-FFF2-40B4-BE49-F238E27FC236}">
                <a16:creationId xmlns:a16="http://schemas.microsoft.com/office/drawing/2014/main" id="{BA50077F-9180-4B74-BFE1-F5BBD77E08CD}"/>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3F276A78-2534-4CBA-B0BA-92BE73EEB355}"/>
              </a:ext>
            </a:extLst>
          </p:cNvPr>
          <p:cNvSpPr>
            <a:spLocks xmlns:a="http://schemas.openxmlformats.org/drawingml/2006/main" noGrp="1"/>
          </p:cNvSpPr>
          <p:nvPr/>
        </p:nvSpPr>
        <p:spPr>
          <a:xfrm xmlns:a="http://schemas.openxmlformats.org/drawingml/2006/main">
            <a:off x="704850"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F19C293-37CD-48ED-8519-C20D2D067F04}"/>
              </a:ext>
            </a:extLst>
          </p:cNvPr>
          <p:cNvSpPr>
            <a:spLocks xmlns:a="http://schemas.openxmlformats.org/drawingml/2006/main" noGrp="1"/>
          </p:cNvSpPr>
          <p:nvPr/>
        </p:nvSpPr>
        <p:spPr>
          <a:xfrm xmlns:a="http://schemas.openxmlformats.org/drawingml/2006/main">
            <a:off x="4762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9942785A-9E57-48FB-B707-0243E89BAADA}"/>
              </a:ext>
            </a:extLst>
          </p:cNvPr>
          <p:cNvSpPr>
            <a:spLocks xmlns:a="http://schemas.openxmlformats.org/drawingml/2006/main" noGrp="1"/>
          </p:cNvSpPr>
          <p:nvPr/>
        </p:nvSpPr>
        <p:spPr>
          <a:xfrm xmlns:a="http://schemas.openxmlformats.org/drawingml/2006/main">
            <a:off x="13144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25DA0E-9FAB-4372-90B9-11128AA2F58D}"/>
              </a:ext>
            </a:extLst>
          </p:cNvPr>
          <p:cNvSpPr>
            <a:spLocks xmlns:a="http://schemas.openxmlformats.org/drawingml/2006/main" noGrp="1"/>
          </p:cNvSpPr>
          <p:nvPr/>
        </p:nvSpPr>
        <p:spPr>
          <a:xfrm xmlns:a="http://schemas.openxmlformats.org/drawingml/2006/main">
            <a:off x="2085975"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C581D12E-7ED5-4AC3-A959-33201B447207}"/>
              </a:ext>
            </a:extLst>
          </p:cNvPr>
          <p:cNvSpPr>
            <a:spLocks xmlns:a="http://schemas.openxmlformats.org/drawingml/2006/main" noGrp="1"/>
          </p:cNvSpPr>
          <p:nvPr/>
        </p:nvSpPr>
        <p:spPr>
          <a:xfrm xmlns:a="http://schemas.openxmlformats.org/drawingml/2006/main">
            <a:off x="18573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Azure</a:t>
            </a:r>
          </a:p>
        </p:txBody>
      </p:sp>
      <p:sp>
        <p:nvSpPr>
          <p:cNvPr id="10" name="">
            <a:extLst xmlns:a="http://schemas.openxmlformats.org/drawingml/2006/main">
              <a:ext uri="{FF2B5EF4-FFF2-40B4-BE49-F238E27FC236}">
                <a16:creationId xmlns:a16="http://schemas.microsoft.com/office/drawing/2014/main" id="{3CA4DD8E-9CC4-4E4A-ADCF-8A9AF65B505B}"/>
              </a:ext>
            </a:extLst>
          </p:cNvPr>
          <p:cNvSpPr>
            <a:spLocks xmlns:a="http://schemas.openxmlformats.org/drawingml/2006/main" noGrp="1"/>
          </p:cNvSpPr>
          <p:nvPr/>
        </p:nvSpPr>
        <p:spPr>
          <a:xfrm xmlns:a="http://schemas.openxmlformats.org/drawingml/2006/main">
            <a:off x="26955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5DBBACF-7DB2-43B0-8AA1-0D9B408DCD31}"/>
              </a:ext>
            </a:extLst>
          </p:cNvPr>
          <p:cNvSpPr>
            <a:spLocks xmlns:a="http://schemas.openxmlformats.org/drawingml/2006/main" noGrp="1"/>
          </p:cNvSpPr>
          <p:nvPr/>
        </p:nvSpPr>
        <p:spPr>
          <a:xfrm xmlns:a="http://schemas.openxmlformats.org/drawingml/2006/main">
            <a:off x="346710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A7D403F0-8561-4BC8-BB94-32873DF56DFB}"/>
              </a:ext>
            </a:extLst>
          </p:cNvPr>
          <p:cNvSpPr>
            <a:spLocks xmlns:a="http://schemas.openxmlformats.org/drawingml/2006/main" noGrp="1"/>
          </p:cNvSpPr>
          <p:nvPr/>
        </p:nvSpPr>
        <p:spPr>
          <a:xfrm xmlns:a="http://schemas.openxmlformats.org/drawingml/2006/main">
            <a:off x="32385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Organize</a:t>
            </a:r>
          </a:p>
        </p:txBody>
      </p:sp>
      <p:sp>
        <p:nvSpPr>
          <p:cNvPr id="13" name="">
            <a:extLst xmlns:a="http://schemas.openxmlformats.org/drawingml/2006/main">
              <a:ext uri="{FF2B5EF4-FFF2-40B4-BE49-F238E27FC236}">
                <a16:creationId xmlns:a16="http://schemas.microsoft.com/office/drawing/2014/main" id="{F86B2FED-1417-4FF6-B9C2-CE9F35EEDF45}"/>
              </a:ext>
            </a:extLst>
          </p:cNvPr>
          <p:cNvSpPr>
            <a:spLocks xmlns:a="http://schemas.openxmlformats.org/drawingml/2006/main" noGrp="1"/>
          </p:cNvSpPr>
          <p:nvPr/>
        </p:nvSpPr>
        <p:spPr>
          <a:xfrm xmlns:a="http://schemas.openxmlformats.org/drawingml/2006/main">
            <a:off x="40767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0C70E0-B294-4672-A580-A6ADCB489B20}"/>
              </a:ext>
            </a:extLst>
          </p:cNvPr>
          <p:cNvSpPr>
            <a:spLocks xmlns:a="http://schemas.openxmlformats.org/drawingml/2006/main" noGrp="1"/>
          </p:cNvSpPr>
          <p:nvPr/>
        </p:nvSpPr>
        <p:spPr>
          <a:xfrm xmlns:a="http://schemas.openxmlformats.org/drawingml/2006/main">
            <a:off x="484822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DE84293B-7A19-4DEE-A933-0AB1B6A77E1D}"/>
              </a:ext>
            </a:extLst>
          </p:cNvPr>
          <p:cNvSpPr>
            <a:spLocks xmlns:a="http://schemas.openxmlformats.org/drawingml/2006/main" noGrp="1"/>
          </p:cNvSpPr>
          <p:nvPr/>
        </p:nvSpPr>
        <p:spPr>
          <a:xfrm xmlns:a="http://schemas.openxmlformats.org/drawingml/2006/main">
            <a:off x="46196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Build</a:t>
            </a:r>
          </a:p>
        </p:txBody>
      </p:sp>
      <p:sp>
        <p:nvSpPr>
          <p:cNvPr id="16" name="">
            <a:extLst xmlns:a="http://schemas.openxmlformats.org/drawingml/2006/main">
              <a:ext uri="{FF2B5EF4-FFF2-40B4-BE49-F238E27FC236}">
                <a16:creationId xmlns:a16="http://schemas.microsoft.com/office/drawing/2014/main" id="{07D44F83-C6CB-474E-8C45-8952A6F4EF6C}"/>
              </a:ext>
            </a:extLst>
          </p:cNvPr>
          <p:cNvSpPr>
            <a:spLocks xmlns:a="http://schemas.openxmlformats.org/drawingml/2006/main" noGrp="1"/>
          </p:cNvSpPr>
          <p:nvPr/>
        </p:nvSpPr>
        <p:spPr>
          <a:xfrm xmlns:a="http://schemas.openxmlformats.org/drawingml/2006/main">
            <a:off x="545782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B176624-4472-4BD6-9D66-ECCF1944F355}"/>
              </a:ext>
            </a:extLst>
          </p:cNvPr>
          <p:cNvSpPr>
            <a:spLocks xmlns:a="http://schemas.openxmlformats.org/drawingml/2006/main" noGrp="1"/>
          </p:cNvSpPr>
          <p:nvPr/>
        </p:nvSpPr>
        <p:spPr>
          <a:xfrm xmlns:a="http://schemas.openxmlformats.org/drawingml/2006/main">
            <a:off x="622935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A62EF4A3-0C4C-4DE2-A3E1-A68811164175}"/>
              </a:ext>
            </a:extLst>
          </p:cNvPr>
          <p:cNvSpPr>
            <a:spLocks xmlns:a="http://schemas.openxmlformats.org/drawingml/2006/main" noGrp="1"/>
          </p:cNvSpPr>
          <p:nvPr/>
        </p:nvSpPr>
        <p:spPr>
          <a:xfrm xmlns:a="http://schemas.openxmlformats.org/drawingml/2006/main">
            <a:off x="60007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Protect</a:t>
            </a:r>
          </a:p>
        </p:txBody>
      </p:sp>
      <p:sp>
        <p:nvSpPr>
          <p:cNvPr id="19" name="">
            <a:extLst xmlns:a="http://schemas.openxmlformats.org/drawingml/2006/main">
              <a:ext uri="{FF2B5EF4-FFF2-40B4-BE49-F238E27FC236}">
                <a16:creationId xmlns:a16="http://schemas.microsoft.com/office/drawing/2014/main" id="{F7BED0D2-F5E9-460F-B144-0518F1A8C51F}"/>
              </a:ext>
            </a:extLst>
          </p:cNvPr>
          <p:cNvSpPr>
            <a:spLocks xmlns:a="http://schemas.openxmlformats.org/drawingml/2006/main" noGrp="1"/>
          </p:cNvSpPr>
          <p:nvPr/>
        </p:nvSpPr>
        <p:spPr>
          <a:xfrm xmlns:a="http://schemas.openxmlformats.org/drawingml/2006/main">
            <a:off x="68389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21381B-DE45-4A31-8F31-4C3130895F4E}"/>
              </a:ext>
            </a:extLst>
          </p:cNvPr>
          <p:cNvSpPr>
            <a:spLocks xmlns:a="http://schemas.openxmlformats.org/drawingml/2006/main" noGrp="1"/>
          </p:cNvSpPr>
          <p:nvPr/>
        </p:nvSpPr>
        <p:spPr>
          <a:xfrm xmlns:a="http://schemas.openxmlformats.org/drawingml/2006/main">
            <a:off x="761047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3F76DD66-9A85-4AB9-B92C-671DE92A92F9}"/>
              </a:ext>
            </a:extLst>
          </p:cNvPr>
          <p:cNvSpPr>
            <a:spLocks xmlns:a="http://schemas.openxmlformats.org/drawingml/2006/main" noGrp="1"/>
          </p:cNvSpPr>
          <p:nvPr/>
        </p:nvSpPr>
        <p:spPr>
          <a:xfrm xmlns:a="http://schemas.openxmlformats.org/drawingml/2006/main">
            <a:off x="73818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Observe</a:t>
            </a:r>
          </a:p>
        </p:txBody>
      </p:sp>
      <p:sp>
        <p:nvSpPr>
          <p:cNvPr id="22" name="">
            <a:extLst xmlns:a="http://schemas.openxmlformats.org/drawingml/2006/main">
              <a:ext uri="{FF2B5EF4-FFF2-40B4-BE49-F238E27FC236}">
                <a16:creationId xmlns:a16="http://schemas.microsoft.com/office/drawing/2014/main" id="{6A0566E9-20B8-40E7-A7F4-F620EA027C50}"/>
              </a:ext>
            </a:extLst>
          </p:cNvPr>
          <p:cNvSpPr>
            <a:spLocks xmlns:a="http://schemas.openxmlformats.org/drawingml/2006/main" noGrp="1"/>
          </p:cNvSpPr>
          <p:nvPr/>
        </p:nvSpPr>
        <p:spPr>
          <a:xfrm xmlns:a="http://schemas.openxmlformats.org/drawingml/2006/main">
            <a:off x="82200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2B7E7E3-E0E3-47D3-96FE-6830697F4B67}"/>
              </a:ext>
            </a:extLst>
          </p:cNvPr>
          <p:cNvSpPr>
            <a:spLocks xmlns:a="http://schemas.openxmlformats.org/drawingml/2006/main" noGrp="1"/>
          </p:cNvSpPr>
          <p:nvPr/>
        </p:nvSpPr>
        <p:spPr>
          <a:xfrm xmlns:a="http://schemas.openxmlformats.org/drawingml/2006/main">
            <a:off x="8991600" y="2381250"/>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B3165A9C-B842-433B-AC60-51D760B875E4}"/>
              </a:ext>
            </a:extLst>
          </p:cNvPr>
          <p:cNvSpPr>
            <a:spLocks xmlns:a="http://schemas.openxmlformats.org/drawingml/2006/main" noGrp="1"/>
          </p:cNvSpPr>
          <p:nvPr/>
        </p:nvSpPr>
        <p:spPr>
          <a:xfrm xmlns:a="http://schemas.openxmlformats.org/drawingml/2006/main">
            <a:off x="87630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Control cost</a:t>
            </a:r>
          </a:p>
        </p:txBody>
      </p:sp>
      <p:sp>
        <p:nvSpPr>
          <p:cNvPr id="25" name="">
            <a:extLst xmlns:a="http://schemas.openxmlformats.org/drawingml/2006/main">
              <a:ext uri="{FF2B5EF4-FFF2-40B4-BE49-F238E27FC236}">
                <a16:creationId xmlns:a16="http://schemas.microsoft.com/office/drawing/2014/main" id="{4C18D4F2-6781-49A3-B6B5-42B67CF2D8F4}"/>
              </a:ext>
            </a:extLst>
          </p:cNvPr>
          <p:cNvSpPr>
            <a:spLocks xmlns:a="http://schemas.openxmlformats.org/drawingml/2006/main" noGrp="1"/>
          </p:cNvSpPr>
          <p:nvPr/>
        </p:nvSpPr>
        <p:spPr>
          <a:xfrm xmlns:a="http://schemas.openxmlformats.org/drawingml/2006/main">
            <a:off x="96012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68F9DC3-41ED-45D7-A974-F168585754C5}"/>
              </a:ext>
            </a:extLst>
          </p:cNvPr>
          <p:cNvSpPr>
            <a:spLocks xmlns:a="http://schemas.openxmlformats.org/drawingml/2006/main" noGrp="1"/>
          </p:cNvSpPr>
          <p:nvPr/>
        </p:nvSpPr>
        <p:spPr>
          <a:xfrm xmlns:a="http://schemas.openxmlformats.org/drawingml/2006/main">
            <a:off x="10372725" y="2381250"/>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65A4F804-D783-4B6B-8354-AD3A3A6957C0}"/>
              </a:ext>
            </a:extLst>
          </p:cNvPr>
          <p:cNvSpPr>
            <a:spLocks xmlns:a="http://schemas.openxmlformats.org/drawingml/2006/main" noGrp="1"/>
          </p:cNvSpPr>
          <p:nvPr/>
        </p:nvSpPr>
        <p:spPr>
          <a:xfrm xmlns:a="http://schemas.openxmlformats.org/drawingml/2006/main">
            <a:off x="101441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Clean up</a:t>
            </a:r>
          </a:p>
        </p:txBody>
      </p:sp>
      <p:sp>
        <p:nvSpPr>
          <p:cNvPr id="28" name="">
            <a:extLst xmlns:a="http://schemas.openxmlformats.org/drawingml/2006/main">
              <a:ext uri="{FF2B5EF4-FFF2-40B4-BE49-F238E27FC236}">
                <a16:creationId xmlns:a16="http://schemas.microsoft.com/office/drawing/2014/main" id="{AFC9E627-FEB0-462E-911A-678FDDB36AF8}"/>
              </a:ext>
            </a:extLst>
          </p:cNvPr>
          <p:cNvSpPr>
            <a:spLocks xmlns:a="http://schemas.openxmlformats.org/drawingml/2006/main" noGrp="1"/>
          </p:cNvSpPr>
          <p:nvPr/>
        </p:nvSpPr>
        <p:spPr>
          <a:xfrm xmlns:a="http://schemas.openxmlformats.org/drawingml/2006/main">
            <a:off x="666750" y="45148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The destination</a:t>
            </a:r>
          </a:p>
        </p:txBody>
      </p:sp>
      <p:sp>
        <p:nvSpPr>
          <p:cNvPr id="29" name="">
            <a:extLst xmlns:a="http://schemas.openxmlformats.org/drawingml/2006/main">
              <a:ext uri="{FF2B5EF4-FFF2-40B4-BE49-F238E27FC236}">
                <a16:creationId xmlns:a16="http://schemas.microsoft.com/office/drawing/2014/main" id="{F200EB9D-8400-40BC-8944-5DD47B8DD717}"/>
              </a:ext>
            </a:extLst>
          </p:cNvPr>
          <p:cNvSpPr>
            <a:spLocks xmlns:a="http://schemas.openxmlformats.org/drawingml/2006/main" noGrp="1"/>
          </p:cNvSpPr>
          <p:nvPr/>
        </p:nvSpPr>
        <p:spPr>
          <a:xfrm xmlns:a="http://schemas.openxmlformats.org/drawingml/2006/main">
            <a:off x="666750" y="49149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250" b="1">
                <a:solidFill>
                  <a:srgbClr val="17324D"/>
                </a:solidFill>
                <a:latin typeface="Arial"/>
                <a:ea typeface="Arial"/>
                <a:cs typeface="Arial"/>
              </a:defRPr>
            </a:pPr>
            <a:r>
              <a:rPr sz="2250" b="1">
                <a:solidFill>
                  <a:srgbClr val="17324D"/>
                </a:solidFill>
                <a:latin typeface="Arial"/>
                <a:ea typeface="Arial"/>
                <a:cs typeface="Arial"/>
              </a:rPr>
              <a:t>A small Azure environment you can explain, validate, and remove safely</a:t>
            </a:r>
          </a:p>
        </p:txBody>
      </p:sp>
    </p:spTree>
    <p:extLst>
      <p:ext uri="{BB962C8B-B14F-4D97-AF65-F5344CB8AC3E}">
        <p14:creationId xmlns:p14="http://schemas.microsoft.com/office/powerpoint/2010/main" val="2157894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CFD13F-4B43-4277-BAE3-D0EB4F1330B7}"/>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Cloud computing</a:t>
            </a:r>
          </a:p>
        </p:txBody>
      </p:sp>
      <p:sp>
        <p:nvSpPr>
          <p:cNvPr id="2" name="">
            <a:extLst xmlns:a="http://schemas.openxmlformats.org/drawingml/2006/main">
              <a:ext uri="{FF2B5EF4-FFF2-40B4-BE49-F238E27FC236}">
                <a16:creationId xmlns:a16="http://schemas.microsoft.com/office/drawing/2014/main" id="{54FF9E68-2BA2-4518-B757-114E59C203F7}"/>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4DFF8A-1280-4934-9234-07EC0D21125E}"/>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Rent technology services when you need them</a:t>
            </a:r>
          </a:p>
        </p:txBody>
      </p:sp>
      <p:sp>
        <p:nvSpPr>
          <p:cNvPr id="4" name="">
            <a:extLst xmlns:a="http://schemas.openxmlformats.org/drawingml/2006/main">
              <a:ext uri="{FF2B5EF4-FFF2-40B4-BE49-F238E27FC236}">
                <a16:creationId xmlns:a16="http://schemas.microsoft.com/office/drawing/2014/main" id="{FFFD915A-21EA-4774-A30A-A345597FB94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E6AE15CB-1372-4481-AAA2-E863A77AD065}"/>
              </a:ext>
            </a:extLst>
          </p:cNvPr>
          <p:cNvSpPr>
            <a:spLocks xmlns:a="http://schemas.openxmlformats.org/drawingml/2006/main" noGrp="1"/>
          </p:cNvSpPr>
          <p:nvPr/>
        </p:nvSpPr>
        <p:spPr>
          <a:xfrm xmlns:a="http://schemas.openxmlformats.org/drawingml/2006/main">
            <a:off x="90487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17324D"/>
                </a:solidFill>
                <a:latin typeface="Arial"/>
                <a:ea typeface="Arial"/>
                <a:cs typeface="Arial"/>
              </a:defRPr>
            </a:pPr>
            <a:r>
              <a:rPr sz="2100" b="1">
                <a:solidFill>
                  <a:srgbClr val="17324D"/>
                </a:solidFill>
                <a:latin typeface="Arial"/>
                <a:ea typeface="Arial"/>
                <a:cs typeface="Arial"/>
              </a:rPr>
              <a:t>On premises</a:t>
            </a:r>
          </a:p>
        </p:txBody>
      </p:sp>
      <p:sp>
        <p:nvSpPr>
          <p:cNvPr id="6" name="">
            <a:extLst xmlns:a="http://schemas.openxmlformats.org/drawingml/2006/main">
              <a:ext uri="{FF2B5EF4-FFF2-40B4-BE49-F238E27FC236}">
                <a16:creationId xmlns:a16="http://schemas.microsoft.com/office/drawing/2014/main" id="{0C45006E-4E38-44B3-B858-1634DDFE72C4}"/>
              </a:ext>
            </a:extLst>
          </p:cNvPr>
          <p:cNvSpPr>
            <a:spLocks xmlns:a="http://schemas.openxmlformats.org/drawingml/2006/main" noGrp="1"/>
          </p:cNvSpPr>
          <p:nvPr/>
        </p:nvSpPr>
        <p:spPr>
          <a:xfrm xmlns:a="http://schemas.openxmlformats.org/drawingml/2006/main">
            <a:off x="904875" y="2095500"/>
            <a:ext cx="4095750" cy="2857500"/>
          </a:xfrm>
          <a:prstGeom xmlns:a="http://schemas.openxmlformats.org/drawingml/2006/main" prst="roundRect">
            <a:avLst>
              <a:gd name="adj" fmla="val 2667"/>
            </a:avLst>
          </a:prstGeom>
          <a:solidFill xmlns:a="http://schemas.openxmlformats.org/drawingml/2006/main">
            <a:srgbClr val="F5F8FB"/>
          </a:solidFill>
          <a:ln xmlns:a="http://schemas.openxmlformats.org/drawingml/2006/main" w="19050">
            <a:solidFill>
              <a:srgbClr val="DCE4EA"/>
            </a:solidFill>
          </a:ln>
        </p:spPr>
      </p:sp>
      <p:sp>
        <p:nvSpPr>
          <p:cNvPr id="7" name="">
            <a:extLst xmlns:a="http://schemas.openxmlformats.org/drawingml/2006/main">
              <a:ext uri="{FF2B5EF4-FFF2-40B4-BE49-F238E27FC236}">
                <a16:creationId xmlns:a16="http://schemas.microsoft.com/office/drawing/2014/main" id="{AD6C5963-D9BB-45E8-99A0-458A1023D86B}"/>
              </a:ext>
            </a:extLst>
          </p:cNvPr>
          <p:cNvSpPr>
            <a:spLocks xmlns:a="http://schemas.openxmlformats.org/drawingml/2006/main" noGrp="1"/>
          </p:cNvSpPr>
          <p:nvPr/>
        </p:nvSpPr>
        <p:spPr>
          <a:xfrm xmlns:a="http://schemas.openxmlformats.org/drawingml/2006/main">
            <a:off x="119062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52606D"/>
                </a:solidFill>
                <a:latin typeface="Arial"/>
                <a:ea typeface="Arial"/>
                <a:cs typeface="Arial"/>
              </a:defRPr>
            </a:pPr>
            <a:r>
              <a:rPr sz="1575" b="1">
                <a:solidFill>
                  <a:srgbClr val="52606D"/>
                </a:solidFill>
                <a:latin typeface="Arial"/>
                <a:ea typeface="Arial"/>
                <a:cs typeface="Arial"/>
              </a:rPr>
              <a:t>You buy and operate</a:t>
            </a:r>
          </a:p>
        </p:txBody>
      </p:sp>
      <p:sp>
        <p:nvSpPr>
          <p:cNvPr id="8" name="">
            <a:extLst xmlns:a="http://schemas.openxmlformats.org/drawingml/2006/main">
              <a:ext uri="{FF2B5EF4-FFF2-40B4-BE49-F238E27FC236}">
                <a16:creationId xmlns:a16="http://schemas.microsoft.com/office/drawing/2014/main" id="{23B1BEBC-1578-4C80-97FE-6A24272D220D}"/>
              </a:ext>
            </a:extLst>
          </p:cNvPr>
          <p:cNvSpPr>
            <a:spLocks xmlns:a="http://schemas.openxmlformats.org/drawingml/2006/main" noGrp="1"/>
          </p:cNvSpPr>
          <p:nvPr/>
        </p:nvSpPr>
        <p:spPr>
          <a:xfrm xmlns:a="http://schemas.openxmlformats.org/drawingml/2006/main">
            <a:off x="1238250" y="30003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EACF39CA-F9C2-46D1-9FF8-788BE396EFC9}"/>
              </a:ext>
            </a:extLst>
          </p:cNvPr>
          <p:cNvSpPr>
            <a:spLocks xmlns:a="http://schemas.openxmlformats.org/drawingml/2006/main" noGrp="1"/>
          </p:cNvSpPr>
          <p:nvPr/>
        </p:nvSpPr>
        <p:spPr>
          <a:xfrm xmlns:a="http://schemas.openxmlformats.org/drawingml/2006/main">
            <a:off x="1562100" y="29146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Servers</a:t>
            </a:r>
          </a:p>
        </p:txBody>
      </p:sp>
      <p:sp>
        <p:nvSpPr>
          <p:cNvPr id="10" name="">
            <a:extLst xmlns:a="http://schemas.openxmlformats.org/drawingml/2006/main">
              <a:ext uri="{FF2B5EF4-FFF2-40B4-BE49-F238E27FC236}">
                <a16:creationId xmlns:a16="http://schemas.microsoft.com/office/drawing/2014/main" id="{252669B7-683E-4975-B6EC-3936D742074E}"/>
              </a:ext>
            </a:extLst>
          </p:cNvPr>
          <p:cNvSpPr>
            <a:spLocks xmlns:a="http://schemas.openxmlformats.org/drawingml/2006/main" noGrp="1"/>
          </p:cNvSpPr>
          <p:nvPr/>
        </p:nvSpPr>
        <p:spPr>
          <a:xfrm xmlns:a="http://schemas.openxmlformats.org/drawingml/2006/main">
            <a:off x="1238250" y="34575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238B46A7-B5C4-4682-B10A-EBEC4FC8186F}"/>
              </a:ext>
            </a:extLst>
          </p:cNvPr>
          <p:cNvSpPr>
            <a:spLocks xmlns:a="http://schemas.openxmlformats.org/drawingml/2006/main" noGrp="1"/>
          </p:cNvSpPr>
          <p:nvPr/>
        </p:nvSpPr>
        <p:spPr>
          <a:xfrm xmlns:a="http://schemas.openxmlformats.org/drawingml/2006/main">
            <a:off x="1562100" y="3371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Power and cooling</a:t>
            </a:r>
          </a:p>
        </p:txBody>
      </p:sp>
      <p:sp>
        <p:nvSpPr>
          <p:cNvPr id="12" name="">
            <a:extLst xmlns:a="http://schemas.openxmlformats.org/drawingml/2006/main">
              <a:ext uri="{FF2B5EF4-FFF2-40B4-BE49-F238E27FC236}">
                <a16:creationId xmlns:a16="http://schemas.microsoft.com/office/drawing/2014/main" id="{4E9919A9-0744-41D6-AF8A-03B6B29135A0}"/>
              </a:ext>
            </a:extLst>
          </p:cNvPr>
          <p:cNvSpPr>
            <a:spLocks xmlns:a="http://schemas.openxmlformats.org/drawingml/2006/main" noGrp="1"/>
          </p:cNvSpPr>
          <p:nvPr/>
        </p:nvSpPr>
        <p:spPr>
          <a:xfrm xmlns:a="http://schemas.openxmlformats.org/drawingml/2006/main">
            <a:off x="1238250" y="39147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3896DFC9-39E1-4B8F-868A-AC1CE0358F90}"/>
              </a:ext>
            </a:extLst>
          </p:cNvPr>
          <p:cNvSpPr>
            <a:spLocks xmlns:a="http://schemas.openxmlformats.org/drawingml/2006/main" noGrp="1"/>
          </p:cNvSpPr>
          <p:nvPr/>
        </p:nvSpPr>
        <p:spPr>
          <a:xfrm xmlns:a="http://schemas.openxmlformats.org/drawingml/2006/main">
            <a:off x="1562100" y="3829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Hardware repairs</a:t>
            </a:r>
          </a:p>
        </p:txBody>
      </p:sp>
      <p:sp>
        <p:nvSpPr>
          <p:cNvPr id="14" name="">
            <a:extLst xmlns:a="http://schemas.openxmlformats.org/drawingml/2006/main">
              <a:ext uri="{FF2B5EF4-FFF2-40B4-BE49-F238E27FC236}">
                <a16:creationId xmlns:a16="http://schemas.microsoft.com/office/drawing/2014/main" id="{AF8C25E0-6004-4487-84F4-B249FDEE7CFC}"/>
              </a:ext>
            </a:extLst>
          </p:cNvPr>
          <p:cNvSpPr>
            <a:spLocks xmlns:a="http://schemas.openxmlformats.org/drawingml/2006/main" noGrp="1"/>
          </p:cNvSpPr>
          <p:nvPr/>
        </p:nvSpPr>
        <p:spPr>
          <a:xfrm xmlns:a="http://schemas.openxmlformats.org/drawingml/2006/main">
            <a:off x="1238250" y="43719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19253398-011F-413D-A835-1DCCBA946E8E}"/>
              </a:ext>
            </a:extLst>
          </p:cNvPr>
          <p:cNvSpPr>
            <a:spLocks xmlns:a="http://schemas.openxmlformats.org/drawingml/2006/main" noGrp="1"/>
          </p:cNvSpPr>
          <p:nvPr/>
        </p:nvSpPr>
        <p:spPr>
          <a:xfrm xmlns:a="http://schemas.openxmlformats.org/drawingml/2006/main">
            <a:off x="1562100" y="4286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Capacity planning</a:t>
            </a:r>
          </a:p>
        </p:txBody>
      </p:sp>
      <p:sp>
        <p:nvSpPr>
          <p:cNvPr id="16" name="">
            <a:extLst xmlns:a="http://schemas.openxmlformats.org/drawingml/2006/main">
              <a:ext uri="{FF2B5EF4-FFF2-40B4-BE49-F238E27FC236}">
                <a16:creationId xmlns:a16="http://schemas.microsoft.com/office/drawing/2014/main" id="{F8031958-3FC8-4FD4-8533-E0EEC87000A3}"/>
              </a:ext>
            </a:extLst>
          </p:cNvPr>
          <p:cNvSpPr>
            <a:spLocks xmlns:a="http://schemas.openxmlformats.org/drawingml/2006/main" noGrp="1"/>
          </p:cNvSpPr>
          <p:nvPr/>
        </p:nvSpPr>
        <p:spPr>
          <a:xfrm xmlns:a="http://schemas.openxmlformats.org/drawingml/2006/main">
            <a:off x="709612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Cloud</a:t>
            </a:r>
          </a:p>
        </p:txBody>
      </p:sp>
      <p:sp>
        <p:nvSpPr>
          <p:cNvPr id="17" name="">
            <a:extLst xmlns:a="http://schemas.openxmlformats.org/drawingml/2006/main">
              <a:ext uri="{FF2B5EF4-FFF2-40B4-BE49-F238E27FC236}">
                <a16:creationId xmlns:a16="http://schemas.microsoft.com/office/drawing/2014/main" id="{B6A9FCFF-1A06-4411-AEB7-C1FD918AF864}"/>
              </a:ext>
            </a:extLst>
          </p:cNvPr>
          <p:cNvSpPr>
            <a:spLocks xmlns:a="http://schemas.openxmlformats.org/drawingml/2006/main" noGrp="1"/>
          </p:cNvSpPr>
          <p:nvPr/>
        </p:nvSpPr>
        <p:spPr>
          <a:xfrm xmlns:a="http://schemas.openxmlformats.org/drawingml/2006/main">
            <a:off x="7096125" y="2095500"/>
            <a:ext cx="4095750" cy="2857500"/>
          </a:xfrm>
          <a:prstGeom xmlns:a="http://schemas.openxmlformats.org/drawingml/2006/main" prst="roundRect">
            <a:avLst>
              <a:gd name="adj" fmla="val 2667"/>
            </a:avLst>
          </a:prstGeom>
          <a:solidFill xmlns:a="http://schemas.openxmlformats.org/drawingml/2006/main">
            <a:srgbClr val="EAF5FC"/>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BA64E541-CFD6-402D-A13F-F315B000EAF8}"/>
              </a:ext>
            </a:extLst>
          </p:cNvPr>
          <p:cNvSpPr>
            <a:spLocks xmlns:a="http://schemas.openxmlformats.org/drawingml/2006/main" noGrp="1"/>
          </p:cNvSpPr>
          <p:nvPr/>
        </p:nvSpPr>
        <p:spPr>
          <a:xfrm xmlns:a="http://schemas.openxmlformats.org/drawingml/2006/main">
            <a:off x="738187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0078D4"/>
                </a:solidFill>
                <a:latin typeface="Arial"/>
                <a:ea typeface="Arial"/>
                <a:cs typeface="Arial"/>
              </a:defRPr>
            </a:pPr>
            <a:r>
              <a:rPr sz="1575" b="1">
                <a:solidFill>
                  <a:srgbClr val="0078D4"/>
                </a:solidFill>
                <a:latin typeface="Arial"/>
                <a:ea typeface="Arial"/>
                <a:cs typeface="Arial"/>
              </a:rPr>
              <a:t>A provider operates the platform</a:t>
            </a:r>
          </a:p>
        </p:txBody>
      </p:sp>
      <p:sp>
        <p:nvSpPr>
          <p:cNvPr id="19" name="">
            <a:extLst xmlns:a="http://schemas.openxmlformats.org/drawingml/2006/main">
              <a:ext uri="{FF2B5EF4-FFF2-40B4-BE49-F238E27FC236}">
                <a16:creationId xmlns:a16="http://schemas.microsoft.com/office/drawing/2014/main" id="{98ED1EEB-E321-4145-AB5B-40EF441F346C}"/>
              </a:ext>
            </a:extLst>
          </p:cNvPr>
          <p:cNvSpPr>
            <a:spLocks xmlns:a="http://schemas.openxmlformats.org/drawingml/2006/main" noGrp="1"/>
          </p:cNvSpPr>
          <p:nvPr/>
        </p:nvSpPr>
        <p:spPr>
          <a:xfrm xmlns:a="http://schemas.openxmlformats.org/drawingml/2006/main">
            <a:off x="7429500" y="30003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DA8E39D2-DE9E-432C-9C79-48A0321D2173}"/>
              </a:ext>
            </a:extLst>
          </p:cNvPr>
          <p:cNvSpPr>
            <a:spLocks xmlns:a="http://schemas.openxmlformats.org/drawingml/2006/main" noGrp="1"/>
          </p:cNvSpPr>
          <p:nvPr/>
        </p:nvSpPr>
        <p:spPr>
          <a:xfrm xmlns:a="http://schemas.openxmlformats.org/drawingml/2006/main">
            <a:off x="7753350" y="29146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Use services on demand</a:t>
            </a:r>
          </a:p>
        </p:txBody>
      </p:sp>
      <p:sp>
        <p:nvSpPr>
          <p:cNvPr id="21" name="">
            <a:extLst xmlns:a="http://schemas.openxmlformats.org/drawingml/2006/main">
              <a:ext uri="{FF2B5EF4-FFF2-40B4-BE49-F238E27FC236}">
                <a16:creationId xmlns:a16="http://schemas.microsoft.com/office/drawing/2014/main" id="{D337CAA7-002B-4F11-BC16-F474EDC7CE06}"/>
              </a:ext>
            </a:extLst>
          </p:cNvPr>
          <p:cNvSpPr>
            <a:spLocks xmlns:a="http://schemas.openxmlformats.org/drawingml/2006/main" noGrp="1"/>
          </p:cNvSpPr>
          <p:nvPr/>
        </p:nvSpPr>
        <p:spPr>
          <a:xfrm xmlns:a="http://schemas.openxmlformats.org/drawingml/2006/main">
            <a:off x="7429500" y="34575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4DEBEDD6-D9EF-4506-8C62-797A990AF919}"/>
              </a:ext>
            </a:extLst>
          </p:cNvPr>
          <p:cNvSpPr>
            <a:spLocks xmlns:a="http://schemas.openxmlformats.org/drawingml/2006/main" noGrp="1"/>
          </p:cNvSpPr>
          <p:nvPr/>
        </p:nvSpPr>
        <p:spPr>
          <a:xfrm xmlns:a="http://schemas.openxmlformats.org/drawingml/2006/main">
            <a:off x="7753350" y="33718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Scale when demand changes</a:t>
            </a:r>
          </a:p>
        </p:txBody>
      </p:sp>
      <p:sp>
        <p:nvSpPr>
          <p:cNvPr id="23" name="">
            <a:extLst xmlns:a="http://schemas.openxmlformats.org/drawingml/2006/main">
              <a:ext uri="{FF2B5EF4-FFF2-40B4-BE49-F238E27FC236}">
                <a16:creationId xmlns:a16="http://schemas.microsoft.com/office/drawing/2014/main" id="{07A13C91-A129-46C5-AD0D-AF62C9401D5C}"/>
              </a:ext>
            </a:extLst>
          </p:cNvPr>
          <p:cNvSpPr>
            <a:spLocks xmlns:a="http://schemas.openxmlformats.org/drawingml/2006/main" noGrp="1"/>
          </p:cNvSpPr>
          <p:nvPr/>
        </p:nvSpPr>
        <p:spPr>
          <a:xfrm xmlns:a="http://schemas.openxmlformats.org/drawingml/2006/main">
            <a:off x="7429500" y="39147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8B1B4FBD-670F-4D8B-9D86-719DECA3987E}"/>
              </a:ext>
            </a:extLst>
          </p:cNvPr>
          <p:cNvSpPr>
            <a:spLocks xmlns:a="http://schemas.openxmlformats.org/drawingml/2006/main" noGrp="1"/>
          </p:cNvSpPr>
          <p:nvPr/>
        </p:nvSpPr>
        <p:spPr>
          <a:xfrm xmlns:a="http://schemas.openxmlformats.org/drawingml/2006/main">
            <a:off x="7753350" y="38290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Pay for measured use</a:t>
            </a:r>
          </a:p>
        </p:txBody>
      </p:sp>
      <p:sp>
        <p:nvSpPr>
          <p:cNvPr id="25" name="">
            <a:extLst xmlns:a="http://schemas.openxmlformats.org/drawingml/2006/main">
              <a:ext uri="{FF2B5EF4-FFF2-40B4-BE49-F238E27FC236}">
                <a16:creationId xmlns:a16="http://schemas.microsoft.com/office/drawing/2014/main" id="{4281ADDC-EACE-4DA4-8F58-366CFBE2B65B}"/>
              </a:ext>
            </a:extLst>
          </p:cNvPr>
          <p:cNvSpPr>
            <a:spLocks xmlns:a="http://schemas.openxmlformats.org/drawingml/2006/main" noGrp="1"/>
          </p:cNvSpPr>
          <p:nvPr/>
        </p:nvSpPr>
        <p:spPr>
          <a:xfrm xmlns:a="http://schemas.openxmlformats.org/drawingml/2006/main">
            <a:off x="7429500" y="43719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6B8F4DDE-747E-4132-9D5C-0E656C94D51A}"/>
              </a:ext>
            </a:extLst>
          </p:cNvPr>
          <p:cNvSpPr>
            <a:spLocks xmlns:a="http://schemas.openxmlformats.org/drawingml/2006/main" noGrp="1"/>
          </p:cNvSpPr>
          <p:nvPr/>
        </p:nvSpPr>
        <p:spPr>
          <a:xfrm xmlns:a="http://schemas.openxmlformats.org/drawingml/2006/main">
            <a:off x="7753350" y="42862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Access global regions</a:t>
            </a:r>
          </a:p>
        </p:txBody>
      </p:sp>
      <p:sp>
        <p:nvSpPr>
          <p:cNvPr id="27" name="">
            <a:extLst xmlns:a="http://schemas.openxmlformats.org/drawingml/2006/main">
              <a:ext uri="{FF2B5EF4-FFF2-40B4-BE49-F238E27FC236}">
                <a16:creationId xmlns:a16="http://schemas.microsoft.com/office/drawing/2014/main" id="{3BEA6B8A-C8A9-4CC8-965F-3B4B59D2AA6F}"/>
              </a:ext>
            </a:extLst>
          </p:cNvPr>
          <p:cNvSpPr>
            <a:spLocks xmlns:a="http://schemas.openxmlformats.org/drawingml/2006/main" noGrp="1"/>
          </p:cNvSpPr>
          <p:nvPr/>
        </p:nvSpPr>
        <p:spPr>
          <a:xfrm xmlns:a="http://schemas.openxmlformats.org/drawingml/2006/main">
            <a:off x="4286250" y="54673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Shared responsibility</a:t>
            </a:r>
          </a:p>
        </p:txBody>
      </p:sp>
      <p:sp>
        <p:nvSpPr>
          <p:cNvPr id="28" name="">
            <a:extLst xmlns:a="http://schemas.openxmlformats.org/drawingml/2006/main">
              <a:ext uri="{FF2B5EF4-FFF2-40B4-BE49-F238E27FC236}">
                <a16:creationId xmlns:a16="http://schemas.microsoft.com/office/drawing/2014/main" id="{5650C150-D576-48A1-8D30-FF8150B89566}"/>
              </a:ext>
            </a:extLst>
          </p:cNvPr>
          <p:cNvSpPr>
            <a:spLocks xmlns:a="http://schemas.openxmlformats.org/drawingml/2006/main" noGrp="1"/>
          </p:cNvSpPr>
          <p:nvPr/>
        </p:nvSpPr>
        <p:spPr>
          <a:xfrm xmlns:a="http://schemas.openxmlformats.org/drawingml/2006/main">
            <a:off x="2476500" y="58388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Microsoft secures the cloud. You secure what you put in it.</a:t>
            </a:r>
          </a:p>
        </p:txBody>
      </p:sp>
    </p:spTree>
    <p:extLst>
      <p:ext uri="{BB962C8B-B14F-4D97-AF65-F5344CB8AC3E}">
        <p14:creationId xmlns:p14="http://schemas.microsoft.com/office/powerpoint/2010/main" val="12912193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6CE34E2-6266-4D36-BCE0-1662658DC703}"/>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IaaS, PaaS, and SaaS</a:t>
            </a:r>
          </a:p>
        </p:txBody>
      </p:sp>
      <p:sp>
        <p:nvSpPr>
          <p:cNvPr id="2" name="">
            <a:extLst xmlns:a="http://schemas.openxmlformats.org/drawingml/2006/main">
              <a:ext uri="{FF2B5EF4-FFF2-40B4-BE49-F238E27FC236}">
                <a16:creationId xmlns:a16="http://schemas.microsoft.com/office/drawing/2014/main" id="{B8288CAA-7F15-4817-B596-2F0CA21D7368}"/>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1D4016-DBF0-405A-B53E-A80C37C0D04E}"/>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service model changes how much you manage</a:t>
            </a:r>
          </a:p>
        </p:txBody>
      </p:sp>
      <p:sp>
        <p:nvSpPr>
          <p:cNvPr id="4" name="">
            <a:extLst xmlns:a="http://schemas.openxmlformats.org/drawingml/2006/main">
              <a:ext uri="{FF2B5EF4-FFF2-40B4-BE49-F238E27FC236}">
                <a16:creationId xmlns:a16="http://schemas.microsoft.com/office/drawing/2014/main" id="{F778C366-77B1-4CA9-B8A8-54096ACC3C9F}"/>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6F224C95-76A7-4053-90BA-26E724A545B3}"/>
              </a:ext>
            </a:extLst>
          </p:cNvPr>
          <p:cNvSpPr>
            <a:spLocks xmlns:a="http://schemas.openxmlformats.org/drawingml/2006/main" noGrp="1"/>
          </p:cNvSpPr>
          <p:nvPr/>
        </p:nvSpPr>
        <p:spPr>
          <a:xfrm xmlns:a="http://schemas.openxmlformats.org/drawingml/2006/main">
            <a:off x="66675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78D4"/>
                </a:solidFill>
                <a:latin typeface="Arial"/>
                <a:ea typeface="Arial"/>
                <a:cs typeface="Arial"/>
              </a:defRPr>
            </a:pPr>
            <a:r>
              <a:rPr sz="2550" b="1">
                <a:solidFill>
                  <a:srgbClr val="0078D4"/>
                </a:solidFill>
                <a:latin typeface="Arial"/>
                <a:ea typeface="Arial"/>
                <a:cs typeface="Arial"/>
              </a:rPr>
              <a:t>IaaS</a:t>
            </a:r>
          </a:p>
        </p:txBody>
      </p:sp>
      <p:sp>
        <p:nvSpPr>
          <p:cNvPr id="6" name="">
            <a:extLst xmlns:a="http://schemas.openxmlformats.org/drawingml/2006/main">
              <a:ext uri="{FF2B5EF4-FFF2-40B4-BE49-F238E27FC236}">
                <a16:creationId xmlns:a16="http://schemas.microsoft.com/office/drawing/2014/main" id="{26947F5C-5B42-4201-9793-B63B073D1845}"/>
              </a:ext>
            </a:extLst>
          </p:cNvPr>
          <p:cNvSpPr>
            <a:spLocks xmlns:a="http://schemas.openxmlformats.org/drawingml/2006/main" noGrp="1"/>
          </p:cNvSpPr>
          <p:nvPr/>
        </p:nvSpPr>
        <p:spPr>
          <a:xfrm xmlns:a="http://schemas.openxmlformats.org/drawingml/2006/main">
            <a:off x="666750" y="2171700"/>
            <a:ext cx="3333750" cy="2476500"/>
          </a:xfrm>
          <a:prstGeom xmlns:a="http://schemas.openxmlformats.org/drawingml/2006/main" prst="roundRect">
            <a:avLst>
              <a:gd name="adj" fmla="val 3077"/>
            </a:avLst>
          </a:prstGeom>
          <a:solidFill xmlns:a="http://schemas.openxmlformats.org/drawingml/2006/main">
            <a:srgbClr val="EEF6FC"/>
          </a:solidFill>
          <a:ln xmlns:a="http://schemas.openxmlformats.org/drawingml/2006/main" w="19050">
            <a:solidFill>
              <a:srgbClr val="0078D4"/>
            </a:solidFill>
          </a:ln>
        </p:spPr>
      </p:sp>
      <p:sp>
        <p:nvSpPr>
          <p:cNvPr id="7" name="">
            <a:extLst xmlns:a="http://schemas.openxmlformats.org/drawingml/2006/main">
              <a:ext uri="{FF2B5EF4-FFF2-40B4-BE49-F238E27FC236}">
                <a16:creationId xmlns:a16="http://schemas.microsoft.com/office/drawing/2014/main" id="{E15BC57E-FA9C-420B-AE75-FF0D9E7E40B3}"/>
              </a:ext>
            </a:extLst>
          </p:cNvPr>
          <p:cNvSpPr>
            <a:spLocks xmlns:a="http://schemas.openxmlformats.org/drawingml/2006/main" noGrp="1"/>
          </p:cNvSpPr>
          <p:nvPr/>
        </p:nvSpPr>
        <p:spPr>
          <a:xfrm xmlns:a="http://schemas.openxmlformats.org/drawingml/2006/main">
            <a:off x="914400" y="2419350"/>
            <a:ext cx="552450" cy="5524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016777B1-FE21-4F21-9511-43CE671A0F44}"/>
              </a:ext>
            </a:extLst>
          </p:cNvPr>
          <p:cNvSpPr>
            <a:spLocks xmlns:a="http://schemas.openxmlformats.org/drawingml/2006/main" noGrp="1"/>
          </p:cNvSpPr>
          <p:nvPr/>
        </p:nvSpPr>
        <p:spPr>
          <a:xfrm xmlns:a="http://schemas.openxmlformats.org/drawingml/2006/main">
            <a:off x="163830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9" name="">
            <a:extLst xmlns:a="http://schemas.openxmlformats.org/drawingml/2006/main">
              <a:ext uri="{FF2B5EF4-FFF2-40B4-BE49-F238E27FC236}">
                <a16:creationId xmlns:a16="http://schemas.microsoft.com/office/drawing/2014/main" id="{F55F9F3F-64FC-489B-A1ED-4AFED41999EE}"/>
              </a:ext>
            </a:extLst>
          </p:cNvPr>
          <p:cNvSpPr>
            <a:spLocks xmlns:a="http://schemas.openxmlformats.org/drawingml/2006/main" noGrp="1"/>
          </p:cNvSpPr>
          <p:nvPr/>
        </p:nvSpPr>
        <p:spPr>
          <a:xfrm xmlns:a="http://schemas.openxmlformats.org/drawingml/2006/main">
            <a:off x="93345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manage the operating system</a:t>
            </a:r>
          </a:p>
        </p:txBody>
      </p:sp>
      <p:sp>
        <p:nvSpPr>
          <p:cNvPr id="10" name="">
            <a:extLst xmlns:a="http://schemas.openxmlformats.org/drawingml/2006/main">
              <a:ext uri="{FF2B5EF4-FFF2-40B4-BE49-F238E27FC236}">
                <a16:creationId xmlns:a16="http://schemas.microsoft.com/office/drawing/2014/main" id="{097753A3-FC63-4E0C-A913-08D397E81270}"/>
              </a:ext>
            </a:extLst>
          </p:cNvPr>
          <p:cNvSpPr>
            <a:spLocks xmlns:a="http://schemas.openxmlformats.org/drawingml/2006/main" noGrp="1"/>
          </p:cNvSpPr>
          <p:nvPr/>
        </p:nvSpPr>
        <p:spPr>
          <a:xfrm xmlns:a="http://schemas.openxmlformats.org/drawingml/2006/main">
            <a:off x="4524375"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A4EF"/>
                </a:solidFill>
                <a:latin typeface="Arial"/>
                <a:ea typeface="Arial"/>
                <a:cs typeface="Arial"/>
              </a:defRPr>
            </a:pPr>
            <a:r>
              <a:rPr sz="2550" b="1">
                <a:solidFill>
                  <a:srgbClr val="00A4EF"/>
                </a:solidFill>
                <a:latin typeface="Arial"/>
                <a:ea typeface="Arial"/>
                <a:cs typeface="Arial"/>
              </a:rPr>
              <a:t>PaaS</a:t>
            </a:r>
          </a:p>
        </p:txBody>
      </p:sp>
      <p:sp>
        <p:nvSpPr>
          <p:cNvPr id="11" name="">
            <a:extLst xmlns:a="http://schemas.openxmlformats.org/drawingml/2006/main">
              <a:ext uri="{FF2B5EF4-FFF2-40B4-BE49-F238E27FC236}">
                <a16:creationId xmlns:a16="http://schemas.microsoft.com/office/drawing/2014/main" id="{FB98BA19-2602-4139-8F1A-8318116C9EE1}"/>
              </a:ext>
            </a:extLst>
          </p:cNvPr>
          <p:cNvSpPr>
            <a:spLocks xmlns:a="http://schemas.openxmlformats.org/drawingml/2006/main" noGrp="1"/>
          </p:cNvSpPr>
          <p:nvPr/>
        </p:nvSpPr>
        <p:spPr>
          <a:xfrm xmlns:a="http://schemas.openxmlformats.org/drawingml/2006/main">
            <a:off x="4524375" y="2171700"/>
            <a:ext cx="3333750" cy="2476500"/>
          </a:xfrm>
          <a:prstGeom xmlns:a="http://schemas.openxmlformats.org/drawingml/2006/main" prst="roundRect">
            <a:avLst>
              <a:gd name="adj" fmla="val 3077"/>
            </a:avLst>
          </a:prstGeom>
          <a:solidFill xmlns:a="http://schemas.openxmlformats.org/drawingml/2006/main">
            <a:srgbClr val="E7F8FC"/>
          </a:solidFill>
          <a:ln xmlns:a="http://schemas.openxmlformats.org/drawingml/2006/main" w="19050">
            <a:solidFill>
              <a:srgbClr val="00A4EF"/>
            </a:solidFill>
          </a:ln>
        </p:spPr>
      </p:sp>
      <p:sp>
        <p:nvSpPr>
          <p:cNvPr id="12" name="">
            <a:extLst xmlns:a="http://schemas.openxmlformats.org/drawingml/2006/main">
              <a:ext uri="{FF2B5EF4-FFF2-40B4-BE49-F238E27FC236}">
                <a16:creationId xmlns:a16="http://schemas.microsoft.com/office/drawing/2014/main" id="{88B9EC27-8E6F-48DE-9CEC-C61A8F01B135}"/>
              </a:ext>
            </a:extLst>
          </p:cNvPr>
          <p:cNvSpPr>
            <a:spLocks xmlns:a="http://schemas.openxmlformats.org/drawingml/2006/main" noGrp="1"/>
          </p:cNvSpPr>
          <p:nvPr/>
        </p:nvSpPr>
        <p:spPr>
          <a:xfrm xmlns:a="http://schemas.openxmlformats.org/drawingml/2006/main">
            <a:off x="4772025" y="2419350"/>
            <a:ext cx="552450" cy="552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AA38D540-69AA-4E52-9E7B-60AE55EFA4A1}"/>
              </a:ext>
            </a:extLst>
          </p:cNvPr>
          <p:cNvSpPr>
            <a:spLocks xmlns:a="http://schemas.openxmlformats.org/drawingml/2006/main" noGrp="1"/>
          </p:cNvSpPr>
          <p:nvPr/>
        </p:nvSpPr>
        <p:spPr>
          <a:xfrm xmlns:a="http://schemas.openxmlformats.org/drawingml/2006/main">
            <a:off x="5495925"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4" name="">
            <a:extLst xmlns:a="http://schemas.openxmlformats.org/drawingml/2006/main">
              <a:ext uri="{FF2B5EF4-FFF2-40B4-BE49-F238E27FC236}">
                <a16:creationId xmlns:a16="http://schemas.microsoft.com/office/drawing/2014/main" id="{B9B33546-70EF-4844-9C18-66797FA85A05}"/>
              </a:ext>
            </a:extLst>
          </p:cNvPr>
          <p:cNvSpPr>
            <a:spLocks xmlns:a="http://schemas.openxmlformats.org/drawingml/2006/main" noGrp="1"/>
          </p:cNvSpPr>
          <p:nvPr/>
        </p:nvSpPr>
        <p:spPr>
          <a:xfrm xmlns:a="http://schemas.openxmlformats.org/drawingml/2006/main">
            <a:off x="4791075"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deploy the application</a:t>
            </a:r>
          </a:p>
        </p:txBody>
      </p:sp>
      <p:sp>
        <p:nvSpPr>
          <p:cNvPr id="15" name="">
            <a:extLst xmlns:a="http://schemas.openxmlformats.org/drawingml/2006/main">
              <a:ext uri="{FF2B5EF4-FFF2-40B4-BE49-F238E27FC236}">
                <a16:creationId xmlns:a16="http://schemas.microsoft.com/office/drawing/2014/main" id="{1A99E386-0161-4702-81F6-99EDDA2AE7F0}"/>
              </a:ext>
            </a:extLst>
          </p:cNvPr>
          <p:cNvSpPr>
            <a:spLocks xmlns:a="http://schemas.openxmlformats.org/drawingml/2006/main" noGrp="1"/>
          </p:cNvSpPr>
          <p:nvPr/>
        </p:nvSpPr>
        <p:spPr>
          <a:xfrm xmlns:a="http://schemas.openxmlformats.org/drawingml/2006/main">
            <a:off x="838200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07C10"/>
                </a:solidFill>
                <a:latin typeface="Arial"/>
                <a:ea typeface="Arial"/>
                <a:cs typeface="Arial"/>
              </a:defRPr>
            </a:pPr>
            <a:r>
              <a:rPr sz="2550" b="1">
                <a:solidFill>
                  <a:srgbClr val="107C10"/>
                </a:solidFill>
                <a:latin typeface="Arial"/>
                <a:ea typeface="Arial"/>
                <a:cs typeface="Arial"/>
              </a:rPr>
              <a:t>SaaS</a:t>
            </a:r>
          </a:p>
        </p:txBody>
      </p:sp>
      <p:sp>
        <p:nvSpPr>
          <p:cNvPr id="16" name="">
            <a:extLst xmlns:a="http://schemas.openxmlformats.org/drawingml/2006/main">
              <a:ext uri="{FF2B5EF4-FFF2-40B4-BE49-F238E27FC236}">
                <a16:creationId xmlns:a16="http://schemas.microsoft.com/office/drawing/2014/main" id="{A4D459AB-F81B-478A-BD06-6AE11086E2F3}"/>
              </a:ext>
            </a:extLst>
          </p:cNvPr>
          <p:cNvSpPr>
            <a:spLocks xmlns:a="http://schemas.openxmlformats.org/drawingml/2006/main" noGrp="1"/>
          </p:cNvSpPr>
          <p:nvPr/>
        </p:nvSpPr>
        <p:spPr>
          <a:xfrm xmlns:a="http://schemas.openxmlformats.org/drawingml/2006/main">
            <a:off x="8382000" y="2171700"/>
            <a:ext cx="3333750" cy="2476500"/>
          </a:xfrm>
          <a:prstGeom xmlns:a="http://schemas.openxmlformats.org/drawingml/2006/main" prst="roundRect">
            <a:avLst>
              <a:gd name="adj" fmla="val 3077"/>
            </a:avLst>
          </a:prstGeom>
          <a:solidFill xmlns:a="http://schemas.openxmlformats.org/drawingml/2006/main">
            <a:srgbClr val="EDF8ED"/>
          </a:solidFill>
          <a:ln xmlns:a="http://schemas.openxmlformats.org/drawingml/2006/main" w="19050">
            <a:solidFill>
              <a:srgbClr val="107C10"/>
            </a:solidFill>
          </a:ln>
        </p:spPr>
      </p:sp>
      <p:sp>
        <p:nvSpPr>
          <p:cNvPr id="17" name="">
            <a:extLst xmlns:a="http://schemas.openxmlformats.org/drawingml/2006/main">
              <a:ext uri="{FF2B5EF4-FFF2-40B4-BE49-F238E27FC236}">
                <a16:creationId xmlns:a16="http://schemas.microsoft.com/office/drawing/2014/main" id="{F9BE81D2-427A-4BEE-BAFC-5460B932D2BD}"/>
              </a:ext>
            </a:extLst>
          </p:cNvPr>
          <p:cNvSpPr>
            <a:spLocks xmlns:a="http://schemas.openxmlformats.org/drawingml/2006/main" noGrp="1"/>
          </p:cNvSpPr>
          <p:nvPr/>
        </p:nvSpPr>
        <p:spPr>
          <a:xfrm xmlns:a="http://schemas.openxmlformats.org/drawingml/2006/main">
            <a:off x="8629650" y="2419350"/>
            <a:ext cx="552450" cy="5524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6038C260-6BE7-470F-86D4-16478E3D56BA}"/>
              </a:ext>
            </a:extLst>
          </p:cNvPr>
          <p:cNvSpPr>
            <a:spLocks xmlns:a="http://schemas.openxmlformats.org/drawingml/2006/main" noGrp="1"/>
          </p:cNvSpPr>
          <p:nvPr/>
        </p:nvSpPr>
        <p:spPr>
          <a:xfrm xmlns:a="http://schemas.openxmlformats.org/drawingml/2006/main">
            <a:off x="935355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Microsoft 365</a:t>
            </a:r>
          </a:p>
        </p:txBody>
      </p:sp>
      <p:sp>
        <p:nvSpPr>
          <p:cNvPr id="19" name="">
            <a:extLst xmlns:a="http://schemas.openxmlformats.org/drawingml/2006/main">
              <a:ext uri="{FF2B5EF4-FFF2-40B4-BE49-F238E27FC236}">
                <a16:creationId xmlns:a16="http://schemas.microsoft.com/office/drawing/2014/main" id="{ED7BDD5D-C066-4D03-9C4E-11EC3EAD5F16}"/>
              </a:ext>
            </a:extLst>
          </p:cNvPr>
          <p:cNvSpPr>
            <a:spLocks xmlns:a="http://schemas.openxmlformats.org/drawingml/2006/main" noGrp="1"/>
          </p:cNvSpPr>
          <p:nvPr/>
        </p:nvSpPr>
        <p:spPr>
          <a:xfrm xmlns:a="http://schemas.openxmlformats.org/drawingml/2006/main">
            <a:off x="864870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use the finished software</a:t>
            </a:r>
          </a:p>
        </p:txBody>
      </p:sp>
      <p:sp>
        <p:nvSpPr>
          <p:cNvPr id="20" name="">
            <a:extLst xmlns:a="http://schemas.openxmlformats.org/drawingml/2006/main">
              <a:ext uri="{FF2B5EF4-FFF2-40B4-BE49-F238E27FC236}">
                <a16:creationId xmlns:a16="http://schemas.microsoft.com/office/drawing/2014/main" id="{2A3C41E1-5EB2-4406-B6D8-F465438AC89F}"/>
              </a:ext>
            </a:extLst>
          </p:cNvPr>
          <p:cNvSpPr>
            <a:spLocks xmlns:a="http://schemas.openxmlformats.org/drawingml/2006/main" noGrp="1"/>
          </p:cNvSpPr>
          <p:nvPr/>
        </p:nvSpPr>
        <p:spPr>
          <a:xfrm xmlns:a="http://schemas.openxmlformats.org/drawingml/2006/main">
            <a:off x="781050" y="51435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More control</a:t>
            </a:r>
          </a:p>
        </p:txBody>
      </p:sp>
      <p:sp>
        <p:nvSpPr>
          <p:cNvPr id="21" name="">
            <a:extLst xmlns:a="http://schemas.openxmlformats.org/drawingml/2006/main">
              <a:ext uri="{FF2B5EF4-FFF2-40B4-BE49-F238E27FC236}">
                <a16:creationId xmlns:a16="http://schemas.microsoft.com/office/drawing/2014/main" id="{2482ADF6-BB44-4493-B80E-CEB8B5775260}"/>
              </a:ext>
            </a:extLst>
          </p:cNvPr>
          <p:cNvSpPr>
            <a:spLocks xmlns:a="http://schemas.openxmlformats.org/drawingml/2006/main" noGrp="1"/>
          </p:cNvSpPr>
          <p:nvPr/>
        </p:nvSpPr>
        <p:spPr>
          <a:xfrm xmlns:a="http://schemas.openxmlformats.org/drawingml/2006/main">
            <a:off x="2095500" y="5276850"/>
            <a:ext cx="7620000" cy="7620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B0844CB-8046-4435-8F03-73D9D9FC7D40}"/>
              </a:ext>
            </a:extLst>
          </p:cNvPr>
          <p:cNvSpPr>
            <a:spLocks xmlns:a="http://schemas.openxmlformats.org/drawingml/2006/main" noGrp="1"/>
          </p:cNvSpPr>
          <p:nvPr/>
        </p:nvSpPr>
        <p:spPr>
          <a:xfrm xmlns:a="http://schemas.openxmlformats.org/drawingml/2006/main">
            <a:off x="9239250" y="51435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142"/>
          </a:bodyPr>
          <a:lstStyle xmlns:a="http://schemas.openxmlformats.org/drawingml/2006/main"/>
          <a:p xmlns:a="http://schemas.openxmlformats.org/drawingml/2006/main">
            <a:pPr algn="r">
              <a:defRPr sz="1350" b="0">
                <a:solidFill>
                  <a:srgbClr val="52606D"/>
                </a:solidFill>
                <a:latin typeface="Arial"/>
                <a:ea typeface="Arial"/>
                <a:cs typeface="Arial"/>
              </a:defRPr>
            </a:pPr>
            <a:r>
              <a:rPr sz="1350" b="0">
                <a:solidFill>
                  <a:srgbClr val="52606D"/>
                </a:solidFill>
                <a:latin typeface="Arial"/>
                <a:ea typeface="Arial"/>
                <a:cs typeface="Arial"/>
              </a:rPr>
              <a:t>Less platform management</a:t>
            </a:r>
          </a:p>
        </p:txBody>
      </p:sp>
    </p:spTree>
    <p:extLst>
      <p:ext uri="{BB962C8B-B14F-4D97-AF65-F5344CB8AC3E}">
        <p14:creationId xmlns:p14="http://schemas.microsoft.com/office/powerpoint/2010/main" val="1309094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48A787-49C2-4E7E-8E20-2CE3D796335F}"/>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How Azure is organized</a:t>
            </a:r>
          </a:p>
        </p:txBody>
      </p:sp>
      <p:sp>
        <p:nvSpPr>
          <p:cNvPr id="2" name="">
            <a:extLst xmlns:a="http://schemas.openxmlformats.org/drawingml/2006/main">
              <a:ext uri="{FF2B5EF4-FFF2-40B4-BE49-F238E27FC236}">
                <a16:creationId xmlns:a16="http://schemas.microsoft.com/office/drawing/2014/main" id="{4A59E557-EE91-4430-9983-9F5C7F207FC5}"/>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A383E8-AF5B-4123-BD89-93495814FB3A}"/>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Access and policy flow down through four levels</a:t>
            </a:r>
          </a:p>
        </p:txBody>
      </p:sp>
      <p:sp>
        <p:nvSpPr>
          <p:cNvPr id="4" name="">
            <a:extLst xmlns:a="http://schemas.openxmlformats.org/drawingml/2006/main">
              <a:ext uri="{FF2B5EF4-FFF2-40B4-BE49-F238E27FC236}">
                <a16:creationId xmlns:a16="http://schemas.microsoft.com/office/drawing/2014/main" id="{A1F7ECBA-002A-4478-9C0D-21502A46B7BD}"/>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FA8F0A1A-D579-491E-B8DE-119E7A57D081}"/>
              </a:ext>
            </a:extLst>
          </p:cNvPr>
          <p:cNvSpPr>
            <a:spLocks xmlns:a="http://schemas.openxmlformats.org/drawingml/2006/main" noGrp="1"/>
          </p:cNvSpPr>
          <p:nvPr/>
        </p:nvSpPr>
        <p:spPr>
          <a:xfrm xmlns:a="http://schemas.openxmlformats.org/drawingml/2006/main">
            <a:off x="2190750" y="1524000"/>
            <a:ext cx="7810500" cy="685800"/>
          </a:xfrm>
          <a:prstGeom xmlns:a="http://schemas.openxmlformats.org/drawingml/2006/main" prst="roundRect">
            <a:avLst>
              <a:gd name="adj" fmla="val 11111"/>
            </a:avLst>
          </a:prstGeom>
          <a:solidFill xmlns:a="http://schemas.openxmlformats.org/drawingml/2006/main">
            <a:srgbClr val="17324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46BD1F-C094-4561-999A-0E3039A5869D}"/>
              </a:ext>
            </a:extLst>
          </p:cNvPr>
          <p:cNvSpPr>
            <a:spLocks xmlns:a="http://schemas.openxmlformats.org/drawingml/2006/main" noGrp="1"/>
          </p:cNvSpPr>
          <p:nvPr/>
        </p:nvSpPr>
        <p:spPr>
          <a:xfrm xmlns:a="http://schemas.openxmlformats.org/drawingml/2006/main">
            <a:off x="2457450" y="1685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Management group</a:t>
            </a:r>
          </a:p>
        </p:txBody>
      </p:sp>
      <p:sp>
        <p:nvSpPr>
          <p:cNvPr id="7" name="">
            <a:extLst xmlns:a="http://schemas.openxmlformats.org/drawingml/2006/main">
              <a:ext uri="{FF2B5EF4-FFF2-40B4-BE49-F238E27FC236}">
                <a16:creationId xmlns:a16="http://schemas.microsoft.com/office/drawing/2014/main" id="{8127FC3C-E052-42F3-879F-BBDB27262561}"/>
              </a:ext>
            </a:extLst>
          </p:cNvPr>
          <p:cNvSpPr>
            <a:spLocks xmlns:a="http://schemas.openxmlformats.org/drawingml/2006/main" noGrp="1"/>
          </p:cNvSpPr>
          <p:nvPr/>
        </p:nvSpPr>
        <p:spPr>
          <a:xfrm xmlns:a="http://schemas.openxmlformats.org/drawingml/2006/main">
            <a:off x="5143500" y="16954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Organizes subscriptions</a:t>
            </a:r>
          </a:p>
        </p:txBody>
      </p:sp>
      <p:sp>
        <p:nvSpPr>
          <p:cNvPr id="8" name="">
            <a:extLst xmlns:a="http://schemas.openxmlformats.org/drawingml/2006/main">
              <a:ext uri="{FF2B5EF4-FFF2-40B4-BE49-F238E27FC236}">
                <a16:creationId xmlns:a16="http://schemas.microsoft.com/office/drawing/2014/main" id="{A5EB6673-DA1F-41E5-921E-C113AFED73C3}"/>
              </a:ext>
            </a:extLst>
          </p:cNvPr>
          <p:cNvSpPr>
            <a:spLocks xmlns:a="http://schemas.openxmlformats.org/drawingml/2006/main" noGrp="1"/>
          </p:cNvSpPr>
          <p:nvPr/>
        </p:nvSpPr>
        <p:spPr>
          <a:xfrm xmlns:a="http://schemas.openxmlformats.org/drawingml/2006/main">
            <a:off x="2762250" y="2476500"/>
            <a:ext cx="6667500"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4A0999-C0EC-429B-BBEF-2B405BD7C014}"/>
              </a:ext>
            </a:extLst>
          </p:cNvPr>
          <p:cNvSpPr>
            <a:spLocks xmlns:a="http://schemas.openxmlformats.org/drawingml/2006/main" noGrp="1"/>
          </p:cNvSpPr>
          <p:nvPr/>
        </p:nvSpPr>
        <p:spPr>
          <a:xfrm xmlns:a="http://schemas.openxmlformats.org/drawingml/2006/main">
            <a:off x="3028950" y="2638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Subscription</a:t>
            </a:r>
          </a:p>
        </p:txBody>
      </p:sp>
      <p:sp>
        <p:nvSpPr>
          <p:cNvPr id="10" name="">
            <a:extLst xmlns:a="http://schemas.openxmlformats.org/drawingml/2006/main">
              <a:ext uri="{FF2B5EF4-FFF2-40B4-BE49-F238E27FC236}">
                <a16:creationId xmlns:a16="http://schemas.microsoft.com/office/drawing/2014/main" id="{B14D783D-9F1F-4B47-ADB1-82C6A1F3704B}"/>
              </a:ext>
            </a:extLst>
          </p:cNvPr>
          <p:cNvSpPr>
            <a:spLocks xmlns:a="http://schemas.openxmlformats.org/drawingml/2006/main" noGrp="1"/>
          </p:cNvSpPr>
          <p:nvPr/>
        </p:nvSpPr>
        <p:spPr>
          <a:xfrm xmlns:a="http://schemas.openxmlformats.org/drawingml/2006/main">
            <a:off x="5715000" y="2647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Billing and access boundary</a:t>
            </a:r>
          </a:p>
        </p:txBody>
      </p:sp>
      <p:sp>
        <p:nvSpPr>
          <p:cNvPr id="11" name="">
            <a:extLst xmlns:a="http://schemas.openxmlformats.org/drawingml/2006/main">
              <a:ext uri="{FF2B5EF4-FFF2-40B4-BE49-F238E27FC236}">
                <a16:creationId xmlns:a16="http://schemas.microsoft.com/office/drawing/2014/main" id="{98718546-F669-4394-AB0E-CBD9C4A7BFDD}"/>
              </a:ext>
            </a:extLst>
          </p:cNvPr>
          <p:cNvSpPr>
            <a:spLocks xmlns:a="http://schemas.openxmlformats.org/drawingml/2006/main" noGrp="1"/>
          </p:cNvSpPr>
          <p:nvPr/>
        </p:nvSpPr>
        <p:spPr>
          <a:xfrm xmlns:a="http://schemas.openxmlformats.org/drawingml/2006/main">
            <a:off x="3333750" y="3429000"/>
            <a:ext cx="5524500" cy="685800"/>
          </a:xfrm>
          <a:prstGeom xmlns:a="http://schemas.openxmlformats.org/drawingml/2006/main" prst="roundRect">
            <a:avLst>
              <a:gd name="adj" fmla="val 11111"/>
            </a:avLst>
          </a:prstGeom>
          <a:solidFill xmlns:a="http://schemas.openxmlformats.org/drawingml/2006/main">
            <a:srgbClr val="00A4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A918E0-BC1F-4871-BFBD-947D5825B200}"/>
              </a:ext>
            </a:extLst>
          </p:cNvPr>
          <p:cNvSpPr>
            <a:spLocks xmlns:a="http://schemas.openxmlformats.org/drawingml/2006/main" noGrp="1"/>
          </p:cNvSpPr>
          <p:nvPr/>
        </p:nvSpPr>
        <p:spPr>
          <a:xfrm xmlns:a="http://schemas.openxmlformats.org/drawingml/2006/main">
            <a:off x="3600450" y="3590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 group</a:t>
            </a:r>
          </a:p>
        </p:txBody>
      </p:sp>
      <p:sp>
        <p:nvSpPr>
          <p:cNvPr id="13" name="">
            <a:extLst xmlns:a="http://schemas.openxmlformats.org/drawingml/2006/main">
              <a:ext uri="{FF2B5EF4-FFF2-40B4-BE49-F238E27FC236}">
                <a16:creationId xmlns:a16="http://schemas.microsoft.com/office/drawing/2014/main" id="{ED8515D6-C74E-4CE7-91BD-A22DB18E7D87}"/>
              </a:ext>
            </a:extLst>
          </p:cNvPr>
          <p:cNvSpPr>
            <a:spLocks xmlns:a="http://schemas.openxmlformats.org/drawingml/2006/main" noGrp="1"/>
          </p:cNvSpPr>
          <p:nvPr/>
        </p:nvSpPr>
        <p:spPr>
          <a:xfrm xmlns:a="http://schemas.openxmlformats.org/drawingml/2006/main">
            <a:off x="6286500" y="3600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Lifecycle container</a:t>
            </a:r>
          </a:p>
        </p:txBody>
      </p:sp>
      <p:sp>
        <p:nvSpPr>
          <p:cNvPr id="14" name="">
            <a:extLst xmlns:a="http://schemas.openxmlformats.org/drawingml/2006/main">
              <a:ext uri="{FF2B5EF4-FFF2-40B4-BE49-F238E27FC236}">
                <a16:creationId xmlns:a16="http://schemas.microsoft.com/office/drawing/2014/main" id="{55D4DE13-D716-4DBA-9D03-EF46201B7E54}"/>
              </a:ext>
            </a:extLst>
          </p:cNvPr>
          <p:cNvSpPr>
            <a:spLocks xmlns:a="http://schemas.openxmlformats.org/drawingml/2006/main" noGrp="1"/>
          </p:cNvSpPr>
          <p:nvPr/>
        </p:nvSpPr>
        <p:spPr>
          <a:xfrm xmlns:a="http://schemas.openxmlformats.org/drawingml/2006/main">
            <a:off x="3905250" y="4381500"/>
            <a:ext cx="4381500" cy="685800"/>
          </a:xfrm>
          <a:prstGeom xmlns:a="http://schemas.openxmlformats.org/drawingml/2006/main" prst="roundRect">
            <a:avLst>
              <a:gd name="adj" fmla="val 11111"/>
            </a:avLst>
          </a:prstGeom>
          <a:solidFill xmlns:a="http://schemas.openxmlformats.org/drawingml/2006/main">
            <a:srgbClr val="107C1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733EAE-A3A0-466C-989C-8010C91E8118}"/>
              </a:ext>
            </a:extLst>
          </p:cNvPr>
          <p:cNvSpPr>
            <a:spLocks xmlns:a="http://schemas.openxmlformats.org/drawingml/2006/main" noGrp="1"/>
          </p:cNvSpPr>
          <p:nvPr/>
        </p:nvSpPr>
        <p:spPr>
          <a:xfrm xmlns:a="http://schemas.openxmlformats.org/drawingml/2006/main">
            <a:off x="4171950" y="4543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a:t>
            </a:r>
          </a:p>
        </p:txBody>
      </p:sp>
      <p:sp>
        <p:nvSpPr>
          <p:cNvPr id="16" name="">
            <a:extLst xmlns:a="http://schemas.openxmlformats.org/drawingml/2006/main">
              <a:ext uri="{FF2B5EF4-FFF2-40B4-BE49-F238E27FC236}">
                <a16:creationId xmlns:a16="http://schemas.microsoft.com/office/drawing/2014/main" id="{398B16FB-0B94-4DA2-944D-2B81620BE1E4}"/>
              </a:ext>
            </a:extLst>
          </p:cNvPr>
          <p:cNvSpPr>
            <a:spLocks xmlns:a="http://schemas.openxmlformats.org/drawingml/2006/main" noGrp="1"/>
          </p:cNvSpPr>
          <p:nvPr/>
        </p:nvSpPr>
        <p:spPr>
          <a:xfrm xmlns:a="http://schemas.openxmlformats.org/drawingml/2006/main">
            <a:off x="6858000" y="455295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281"/>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VM, VNet, Storage, Web App</a:t>
            </a:r>
          </a:p>
        </p:txBody>
      </p:sp>
      <p:sp>
        <p:nvSpPr>
          <p:cNvPr id="17" name="">
            <a:extLst xmlns:a="http://schemas.openxmlformats.org/drawingml/2006/main">
              <a:ext uri="{FF2B5EF4-FFF2-40B4-BE49-F238E27FC236}">
                <a16:creationId xmlns:a16="http://schemas.microsoft.com/office/drawing/2014/main" id="{88E0E04A-A0CB-4034-8948-D38ED58E694F}"/>
              </a:ext>
            </a:extLst>
          </p:cNvPr>
          <p:cNvSpPr>
            <a:spLocks xmlns:a="http://schemas.openxmlformats.org/drawingml/2006/main" noGrp="1"/>
          </p:cNvSpPr>
          <p:nvPr/>
        </p:nvSpPr>
        <p:spPr>
          <a:xfrm xmlns:a="http://schemas.openxmlformats.org/drawingml/2006/main">
            <a:off x="2762250" y="5524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52606D"/>
                </a:solidFill>
                <a:latin typeface="Arial"/>
                <a:ea typeface="Arial"/>
                <a:cs typeface="Arial"/>
              </a:defRPr>
            </a:pPr>
            <a:r>
              <a:rPr sz="1575" b="0">
                <a:solidFill>
                  <a:srgbClr val="52606D"/>
                </a:solidFill>
                <a:latin typeface="Arial"/>
                <a:ea typeface="Arial"/>
                <a:cs typeface="Arial"/>
              </a:rPr>
              <a:t>Think of folders for governance, not physical boxes</a:t>
            </a:r>
          </a:p>
        </p:txBody>
      </p:sp>
    </p:spTree>
    <p:extLst>
      <p:ext uri="{BB962C8B-B14F-4D97-AF65-F5344CB8AC3E}">
        <p14:creationId xmlns:p14="http://schemas.microsoft.com/office/powerpoint/2010/main" val="18450728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C8EBAA-942A-4549-AB95-52C4E1EE4745}"/>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Resource groups</a:t>
            </a:r>
          </a:p>
        </p:txBody>
      </p:sp>
      <p:sp>
        <p:nvSpPr>
          <p:cNvPr id="2" name="">
            <a:extLst xmlns:a="http://schemas.openxmlformats.org/drawingml/2006/main">
              <a:ext uri="{FF2B5EF4-FFF2-40B4-BE49-F238E27FC236}">
                <a16:creationId xmlns:a16="http://schemas.microsoft.com/office/drawing/2014/main" id="{4E41A97E-586E-489C-A998-737497C974E7}"/>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89E4FB-F1E1-4375-8619-0D59C812A4D6}"/>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Related resources share one lifecycle</a:t>
            </a:r>
          </a:p>
        </p:txBody>
      </p:sp>
      <p:sp>
        <p:nvSpPr>
          <p:cNvPr id="4" name="">
            <a:extLst xmlns:a="http://schemas.openxmlformats.org/drawingml/2006/main">
              <a:ext uri="{FF2B5EF4-FFF2-40B4-BE49-F238E27FC236}">
                <a16:creationId xmlns:a16="http://schemas.microsoft.com/office/drawing/2014/main" id="{D6310B4B-6612-4C6C-9282-24338C3B575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473692EF-F40F-42A1-ABFD-E7E0FAD3CDC4}"/>
              </a:ext>
            </a:extLst>
          </p:cNvPr>
          <p:cNvSpPr>
            <a:spLocks xmlns:a="http://schemas.openxmlformats.org/drawingml/2006/main" noGrp="1"/>
          </p:cNvSpPr>
          <p:nvPr/>
        </p:nvSpPr>
        <p:spPr>
          <a:xfrm xmlns:a="http://schemas.openxmlformats.org/drawingml/2006/main">
            <a:off x="857250" y="1571625"/>
            <a:ext cx="10477500" cy="3429000"/>
          </a:xfrm>
          <a:prstGeom xmlns:a="http://schemas.openxmlformats.org/drawingml/2006/main" prst="roundRect">
            <a:avLst>
              <a:gd name="adj" fmla="val 2222"/>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1FB81CCB-ED6E-4E62-A107-C4E42A69548F}"/>
              </a:ext>
            </a:extLst>
          </p:cNvPr>
          <p:cNvSpPr>
            <a:spLocks xmlns:a="http://schemas.openxmlformats.org/drawingml/2006/main" noGrp="1"/>
          </p:cNvSpPr>
          <p:nvPr/>
        </p:nvSpPr>
        <p:spPr>
          <a:xfrm xmlns:a="http://schemas.openxmlformats.org/drawingml/2006/main">
            <a:off x="1190625" y="18097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24342DE4-FBB3-4AAB-9140-B7C2DF132A17}"/>
              </a:ext>
            </a:extLst>
          </p:cNvPr>
          <p:cNvSpPr>
            <a:spLocks xmlns:a="http://schemas.openxmlformats.org/drawingml/2006/main" noGrp="1"/>
          </p:cNvSpPr>
          <p:nvPr/>
        </p:nvSpPr>
        <p:spPr>
          <a:xfrm xmlns:a="http://schemas.openxmlformats.org/drawingml/2006/main">
            <a:off x="1285875" y="2857500"/>
            <a:ext cx="876300" cy="8763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VM</a:t>
            </a:r>
          </a:p>
        </p:txBody>
      </p:sp>
      <p:sp>
        <p:nvSpPr>
          <p:cNvPr id="8" name="">
            <a:extLst xmlns:a="http://schemas.openxmlformats.org/drawingml/2006/main">
              <a:ext uri="{FF2B5EF4-FFF2-40B4-BE49-F238E27FC236}">
                <a16:creationId xmlns:a16="http://schemas.microsoft.com/office/drawing/2014/main" id="{A8A7DC50-54FA-4A58-9D31-B5C21430C972}"/>
              </a:ext>
            </a:extLst>
          </p:cNvPr>
          <p:cNvSpPr>
            <a:spLocks xmlns:a="http://schemas.openxmlformats.org/drawingml/2006/main" noGrp="1"/>
          </p:cNvSpPr>
          <p:nvPr/>
        </p:nvSpPr>
        <p:spPr>
          <a:xfrm xmlns:a="http://schemas.openxmlformats.org/drawingml/2006/main">
            <a:off x="98107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VM</a:t>
            </a:r>
          </a:p>
        </p:txBody>
      </p:sp>
      <p:sp>
        <p:nvSpPr>
          <p:cNvPr id="9" name="">
            <a:extLst xmlns:a="http://schemas.openxmlformats.org/drawingml/2006/main">
              <a:ext uri="{FF2B5EF4-FFF2-40B4-BE49-F238E27FC236}">
                <a16:creationId xmlns:a16="http://schemas.microsoft.com/office/drawing/2014/main" id="{1270E3A2-1D2D-4503-8434-8F1CA62BFD69}"/>
              </a:ext>
            </a:extLst>
          </p:cNvPr>
          <p:cNvSpPr>
            <a:spLocks xmlns:a="http://schemas.openxmlformats.org/drawingml/2006/main" noGrp="1"/>
          </p:cNvSpPr>
          <p:nvPr/>
        </p:nvSpPr>
        <p:spPr>
          <a:xfrm xmlns:a="http://schemas.openxmlformats.org/drawingml/2006/main">
            <a:off x="3714750" y="2857500"/>
            <a:ext cx="876300" cy="8763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VN</a:t>
            </a:r>
          </a:p>
        </p:txBody>
      </p:sp>
      <p:sp>
        <p:nvSpPr>
          <p:cNvPr id="10" name="">
            <a:extLst xmlns:a="http://schemas.openxmlformats.org/drawingml/2006/main">
              <a:ext uri="{FF2B5EF4-FFF2-40B4-BE49-F238E27FC236}">
                <a16:creationId xmlns:a16="http://schemas.microsoft.com/office/drawing/2014/main" id="{1132E204-0698-47F1-BD4E-46E5BCA12850}"/>
              </a:ext>
            </a:extLst>
          </p:cNvPr>
          <p:cNvSpPr>
            <a:spLocks xmlns:a="http://schemas.openxmlformats.org/drawingml/2006/main" noGrp="1"/>
          </p:cNvSpPr>
          <p:nvPr/>
        </p:nvSpPr>
        <p:spPr>
          <a:xfrm xmlns:a="http://schemas.openxmlformats.org/drawingml/2006/main">
            <a:off x="340995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VNet</a:t>
            </a:r>
          </a:p>
        </p:txBody>
      </p:sp>
      <p:sp>
        <p:nvSpPr>
          <p:cNvPr id="11" name="">
            <a:extLst xmlns:a="http://schemas.openxmlformats.org/drawingml/2006/main">
              <a:ext uri="{FF2B5EF4-FFF2-40B4-BE49-F238E27FC236}">
                <a16:creationId xmlns:a16="http://schemas.microsoft.com/office/drawing/2014/main" id="{77F49388-22A2-471F-ACCD-564FE0E15E3F}"/>
              </a:ext>
            </a:extLst>
          </p:cNvPr>
          <p:cNvSpPr>
            <a:spLocks xmlns:a="http://schemas.openxmlformats.org/drawingml/2006/main" noGrp="1"/>
          </p:cNvSpPr>
          <p:nvPr/>
        </p:nvSpPr>
        <p:spPr>
          <a:xfrm xmlns:a="http://schemas.openxmlformats.org/drawingml/2006/main">
            <a:off x="6143625" y="2857500"/>
            <a:ext cx="876300" cy="8763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
            </a:r>
          </a:p>
        </p:txBody>
      </p:sp>
      <p:sp>
        <p:nvSpPr>
          <p:cNvPr id="12" name="">
            <a:extLst xmlns:a="http://schemas.openxmlformats.org/drawingml/2006/main">
              <a:ext uri="{FF2B5EF4-FFF2-40B4-BE49-F238E27FC236}">
                <a16:creationId xmlns:a16="http://schemas.microsoft.com/office/drawing/2014/main" id="{AC1F88C6-9422-4B18-8D73-1EA6E1965F4C}"/>
              </a:ext>
            </a:extLst>
          </p:cNvPr>
          <p:cNvSpPr>
            <a:spLocks xmlns:a="http://schemas.openxmlformats.org/drawingml/2006/main" noGrp="1"/>
          </p:cNvSpPr>
          <p:nvPr/>
        </p:nvSpPr>
        <p:spPr>
          <a:xfrm xmlns:a="http://schemas.openxmlformats.org/drawingml/2006/main">
            <a:off x="583882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Storage</a:t>
            </a:r>
          </a:p>
        </p:txBody>
      </p:sp>
      <p:sp>
        <p:nvSpPr>
          <p:cNvPr id="13" name="">
            <a:extLst xmlns:a="http://schemas.openxmlformats.org/drawingml/2006/main">
              <a:ext uri="{FF2B5EF4-FFF2-40B4-BE49-F238E27FC236}">
                <a16:creationId xmlns:a16="http://schemas.microsoft.com/office/drawing/2014/main" id="{A9A7A51B-A86D-44C6-A73C-34FA4504B198}"/>
              </a:ext>
            </a:extLst>
          </p:cNvPr>
          <p:cNvSpPr>
            <a:spLocks xmlns:a="http://schemas.openxmlformats.org/drawingml/2006/main" noGrp="1"/>
          </p:cNvSpPr>
          <p:nvPr/>
        </p:nvSpPr>
        <p:spPr>
          <a:xfrm xmlns:a="http://schemas.openxmlformats.org/drawingml/2006/main">
            <a:off x="8572500" y="2857500"/>
            <a:ext cx="876300" cy="8763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We</a:t>
            </a:r>
          </a:p>
        </p:txBody>
      </p:sp>
      <p:sp>
        <p:nvSpPr>
          <p:cNvPr id="14" name="">
            <a:extLst xmlns:a="http://schemas.openxmlformats.org/drawingml/2006/main">
              <a:ext uri="{FF2B5EF4-FFF2-40B4-BE49-F238E27FC236}">
                <a16:creationId xmlns:a16="http://schemas.microsoft.com/office/drawing/2014/main" id="{71125A78-03A4-468D-A0DB-947B3614236A}"/>
              </a:ext>
            </a:extLst>
          </p:cNvPr>
          <p:cNvSpPr>
            <a:spLocks xmlns:a="http://schemas.openxmlformats.org/drawingml/2006/main" noGrp="1"/>
          </p:cNvSpPr>
          <p:nvPr/>
        </p:nvSpPr>
        <p:spPr>
          <a:xfrm xmlns:a="http://schemas.openxmlformats.org/drawingml/2006/main">
            <a:off x="826770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Web App</a:t>
            </a:r>
          </a:p>
        </p:txBody>
      </p:sp>
      <p:sp>
        <p:nvSpPr>
          <p:cNvPr id="15" name="">
            <a:extLst xmlns:a="http://schemas.openxmlformats.org/drawingml/2006/main">
              <a:ext uri="{FF2B5EF4-FFF2-40B4-BE49-F238E27FC236}">
                <a16:creationId xmlns:a16="http://schemas.microsoft.com/office/drawing/2014/main" id="{CF3785EA-99DE-49CF-839E-0302904FC24C}"/>
              </a:ext>
            </a:extLst>
          </p:cNvPr>
          <p:cNvSpPr>
            <a:spLocks xmlns:a="http://schemas.openxmlformats.org/drawingml/2006/main" noGrp="1"/>
          </p:cNvSpPr>
          <p:nvPr/>
        </p:nvSpPr>
        <p:spPr>
          <a:xfrm xmlns:a="http://schemas.openxmlformats.org/drawingml/2006/main">
            <a:off x="138112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Create together</a:t>
            </a:r>
          </a:p>
        </p:txBody>
      </p:sp>
      <p:sp>
        <p:nvSpPr>
          <p:cNvPr id="16" name="">
            <a:extLst xmlns:a="http://schemas.openxmlformats.org/drawingml/2006/main">
              <a:ext uri="{FF2B5EF4-FFF2-40B4-BE49-F238E27FC236}">
                <a16:creationId xmlns:a16="http://schemas.microsoft.com/office/drawing/2014/main" id="{07309C02-6C2D-4336-BA33-749ADFE0E80A}"/>
              </a:ext>
            </a:extLst>
          </p:cNvPr>
          <p:cNvSpPr>
            <a:spLocks xmlns:a="http://schemas.openxmlformats.org/drawingml/2006/main" noGrp="1"/>
          </p:cNvSpPr>
          <p:nvPr/>
        </p:nvSpPr>
        <p:spPr>
          <a:xfrm xmlns:a="http://schemas.openxmlformats.org/drawingml/2006/main">
            <a:off x="4953000"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Review together</a:t>
            </a:r>
          </a:p>
        </p:txBody>
      </p:sp>
      <p:sp>
        <p:nvSpPr>
          <p:cNvPr id="17" name="">
            <a:extLst xmlns:a="http://schemas.openxmlformats.org/drawingml/2006/main">
              <a:ext uri="{FF2B5EF4-FFF2-40B4-BE49-F238E27FC236}">
                <a16:creationId xmlns:a16="http://schemas.microsoft.com/office/drawing/2014/main" id="{75FA9B71-C6E1-4B43-B160-B5811716F348}"/>
              </a:ext>
            </a:extLst>
          </p:cNvPr>
          <p:cNvSpPr>
            <a:spLocks xmlns:a="http://schemas.openxmlformats.org/drawingml/2006/main" noGrp="1"/>
          </p:cNvSpPr>
          <p:nvPr/>
        </p:nvSpPr>
        <p:spPr>
          <a:xfrm xmlns:a="http://schemas.openxmlformats.org/drawingml/2006/main">
            <a:off x="852487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D83B01"/>
                </a:solidFill>
                <a:latin typeface="Arial"/>
                <a:ea typeface="Arial"/>
                <a:cs typeface="Arial"/>
              </a:defRPr>
            </a:pPr>
            <a:r>
              <a:rPr sz="1500" b="1">
                <a:solidFill>
                  <a:srgbClr val="D83B01"/>
                </a:solidFill>
                <a:latin typeface="Arial"/>
                <a:ea typeface="Arial"/>
                <a:cs typeface="Arial"/>
              </a:rPr>
              <a:t>Delete together</a:t>
            </a:r>
          </a:p>
        </p:txBody>
      </p:sp>
    </p:spTree>
    <p:extLst>
      <p:ext uri="{BB962C8B-B14F-4D97-AF65-F5344CB8AC3E}">
        <p14:creationId xmlns:p14="http://schemas.microsoft.com/office/powerpoint/2010/main" val="1387460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88B381C-6EA0-40A9-9890-A9154190AB9F}"/>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compute choices</a:t>
            </a:r>
          </a:p>
        </p:txBody>
      </p:sp>
      <p:sp>
        <p:nvSpPr>
          <p:cNvPr id="2" name="">
            <a:extLst xmlns:a="http://schemas.openxmlformats.org/drawingml/2006/main">
              <a:ext uri="{FF2B5EF4-FFF2-40B4-BE49-F238E27FC236}">
                <a16:creationId xmlns:a16="http://schemas.microsoft.com/office/drawing/2014/main" id="{C12D887E-3D0E-4B80-B312-5F8500365832}"/>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FE90FA-436E-4012-907F-520EC808DA3B}"/>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Choose the simplest service that fits the workload</a:t>
            </a:r>
          </a:p>
        </p:txBody>
      </p:sp>
      <p:sp>
        <p:nvSpPr>
          <p:cNvPr id="4" name="">
            <a:extLst xmlns:a="http://schemas.openxmlformats.org/drawingml/2006/main">
              <a:ext uri="{FF2B5EF4-FFF2-40B4-BE49-F238E27FC236}">
                <a16:creationId xmlns:a16="http://schemas.microsoft.com/office/drawing/2014/main" id="{37B0A6E6-7A9F-45E7-A406-317DC61E56C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6CACF9E3-7153-42E4-A107-438E5C5694EE}"/>
              </a:ext>
            </a:extLst>
          </p:cNvPr>
          <p:cNvSpPr>
            <a:spLocks xmlns:a="http://schemas.openxmlformats.org/drawingml/2006/main" noGrp="1"/>
          </p:cNvSpPr>
          <p:nvPr/>
        </p:nvSpPr>
        <p:spPr>
          <a:xfrm xmlns:a="http://schemas.openxmlformats.org/drawingml/2006/main">
            <a:off x="762000" y="1428750"/>
            <a:ext cx="590550" cy="5905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5CD8E22-5B70-4589-A9AB-69858FB7FCF2}"/>
              </a:ext>
            </a:extLst>
          </p:cNvPr>
          <p:cNvSpPr>
            <a:spLocks xmlns:a="http://schemas.openxmlformats.org/drawingml/2006/main" noGrp="1"/>
          </p:cNvSpPr>
          <p:nvPr/>
        </p:nvSpPr>
        <p:spPr>
          <a:xfrm xmlns:a="http://schemas.openxmlformats.org/drawingml/2006/main">
            <a:off x="1638300" y="14097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7" name="">
            <a:extLst xmlns:a="http://schemas.openxmlformats.org/drawingml/2006/main">
              <a:ext uri="{FF2B5EF4-FFF2-40B4-BE49-F238E27FC236}">
                <a16:creationId xmlns:a16="http://schemas.microsoft.com/office/drawing/2014/main" id="{D3CB9AB7-884E-44E1-8BEE-178CFA8560C5}"/>
              </a:ext>
            </a:extLst>
          </p:cNvPr>
          <p:cNvSpPr>
            <a:spLocks xmlns:a="http://schemas.openxmlformats.org/drawingml/2006/main" noGrp="1"/>
          </p:cNvSpPr>
          <p:nvPr/>
        </p:nvSpPr>
        <p:spPr>
          <a:xfrm xmlns:a="http://schemas.openxmlformats.org/drawingml/2006/main">
            <a:off x="4476750" y="14097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Full operating system control</a:t>
            </a:r>
          </a:p>
        </p:txBody>
      </p:sp>
      <p:sp>
        <p:nvSpPr>
          <p:cNvPr id="8" name="">
            <a:extLst xmlns:a="http://schemas.openxmlformats.org/drawingml/2006/main">
              <a:ext uri="{FF2B5EF4-FFF2-40B4-BE49-F238E27FC236}">
                <a16:creationId xmlns:a16="http://schemas.microsoft.com/office/drawing/2014/main" id="{8D782A6A-D619-40FB-9102-AF854768B330}"/>
              </a:ext>
            </a:extLst>
          </p:cNvPr>
          <p:cNvSpPr>
            <a:spLocks xmlns:a="http://schemas.openxmlformats.org/drawingml/2006/main" noGrp="1"/>
          </p:cNvSpPr>
          <p:nvPr/>
        </p:nvSpPr>
        <p:spPr>
          <a:xfrm xmlns:a="http://schemas.openxmlformats.org/drawingml/2006/main">
            <a:off x="7858125" y="14097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Legacy app or custom server</a:t>
            </a:r>
          </a:p>
        </p:txBody>
      </p:sp>
      <p:sp>
        <p:nvSpPr>
          <p:cNvPr id="9" name="">
            <a:extLst xmlns:a="http://schemas.openxmlformats.org/drawingml/2006/main">
              <a:ext uri="{FF2B5EF4-FFF2-40B4-BE49-F238E27FC236}">
                <a16:creationId xmlns:a16="http://schemas.microsoft.com/office/drawing/2014/main" id="{60C4AE13-AFFC-4371-8886-C7D4332A02CC}"/>
              </a:ext>
            </a:extLst>
          </p:cNvPr>
          <p:cNvSpPr>
            <a:spLocks xmlns:a="http://schemas.openxmlformats.org/drawingml/2006/main" noGrp="1"/>
          </p:cNvSpPr>
          <p:nvPr/>
        </p:nvSpPr>
        <p:spPr>
          <a:xfrm xmlns:a="http://schemas.openxmlformats.org/drawingml/2006/main">
            <a:off x="1619250" y="21240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FAE84D-BEF4-40A6-B831-0719A497D564}"/>
              </a:ext>
            </a:extLst>
          </p:cNvPr>
          <p:cNvSpPr>
            <a:spLocks xmlns:a="http://schemas.openxmlformats.org/drawingml/2006/main" noGrp="1"/>
          </p:cNvSpPr>
          <p:nvPr/>
        </p:nvSpPr>
        <p:spPr>
          <a:xfrm xmlns:a="http://schemas.openxmlformats.org/drawingml/2006/main">
            <a:off x="762000" y="2476500"/>
            <a:ext cx="590550" cy="5905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F663B2D6-A59C-4AD8-9C3B-241F2AEE3212}"/>
              </a:ext>
            </a:extLst>
          </p:cNvPr>
          <p:cNvSpPr>
            <a:spLocks xmlns:a="http://schemas.openxmlformats.org/drawingml/2006/main" noGrp="1"/>
          </p:cNvSpPr>
          <p:nvPr/>
        </p:nvSpPr>
        <p:spPr>
          <a:xfrm xmlns:a="http://schemas.openxmlformats.org/drawingml/2006/main">
            <a:off x="16383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2" name="">
            <a:extLst xmlns:a="http://schemas.openxmlformats.org/drawingml/2006/main">
              <a:ext uri="{FF2B5EF4-FFF2-40B4-BE49-F238E27FC236}">
                <a16:creationId xmlns:a16="http://schemas.microsoft.com/office/drawing/2014/main" id="{433043BD-2C32-4B50-9CEA-50CC0B64A208}"/>
              </a:ext>
            </a:extLst>
          </p:cNvPr>
          <p:cNvSpPr>
            <a:spLocks xmlns:a="http://schemas.openxmlformats.org/drawingml/2006/main" noGrp="1"/>
          </p:cNvSpPr>
          <p:nvPr/>
        </p:nvSpPr>
        <p:spPr>
          <a:xfrm xmlns:a="http://schemas.openxmlformats.org/drawingml/2006/main">
            <a:off x="4476750" y="24574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Managed web hosting</a:t>
            </a:r>
          </a:p>
        </p:txBody>
      </p:sp>
      <p:sp>
        <p:nvSpPr>
          <p:cNvPr id="13" name="">
            <a:extLst xmlns:a="http://schemas.openxmlformats.org/drawingml/2006/main">
              <a:ext uri="{FF2B5EF4-FFF2-40B4-BE49-F238E27FC236}">
                <a16:creationId xmlns:a16="http://schemas.microsoft.com/office/drawing/2014/main" id="{56082C8C-E101-4CE8-9D9D-094D52D5551E}"/>
              </a:ext>
            </a:extLst>
          </p:cNvPr>
          <p:cNvSpPr>
            <a:spLocks xmlns:a="http://schemas.openxmlformats.org/drawingml/2006/main" noGrp="1"/>
          </p:cNvSpPr>
          <p:nvPr/>
        </p:nvSpPr>
        <p:spPr>
          <a:xfrm xmlns:a="http://schemas.openxmlformats.org/drawingml/2006/main">
            <a:off x="7858125" y="24574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Website or API</a:t>
            </a:r>
          </a:p>
        </p:txBody>
      </p:sp>
      <p:sp>
        <p:nvSpPr>
          <p:cNvPr id="14" name="">
            <a:extLst xmlns:a="http://schemas.openxmlformats.org/drawingml/2006/main">
              <a:ext uri="{FF2B5EF4-FFF2-40B4-BE49-F238E27FC236}">
                <a16:creationId xmlns:a16="http://schemas.microsoft.com/office/drawing/2014/main" id="{8ED6C6CB-AF02-4469-A50B-F24FF2EAEFF7}"/>
              </a:ext>
            </a:extLst>
          </p:cNvPr>
          <p:cNvSpPr>
            <a:spLocks xmlns:a="http://schemas.openxmlformats.org/drawingml/2006/main" noGrp="1"/>
          </p:cNvSpPr>
          <p:nvPr/>
        </p:nvSpPr>
        <p:spPr>
          <a:xfrm xmlns:a="http://schemas.openxmlformats.org/drawingml/2006/main">
            <a:off x="1619250" y="317182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4219A3-301C-4E30-8891-8BC056A977E1}"/>
              </a:ext>
            </a:extLst>
          </p:cNvPr>
          <p:cNvSpPr>
            <a:spLocks xmlns:a="http://schemas.openxmlformats.org/drawingml/2006/main" noGrp="1"/>
          </p:cNvSpPr>
          <p:nvPr/>
        </p:nvSpPr>
        <p:spPr>
          <a:xfrm xmlns:a="http://schemas.openxmlformats.org/drawingml/2006/main">
            <a:off x="762000" y="3524250"/>
            <a:ext cx="590550" cy="5905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05F5B804-A0C1-4228-A600-CF5E3CFDC8CA}"/>
              </a:ext>
            </a:extLst>
          </p:cNvPr>
          <p:cNvSpPr>
            <a:spLocks xmlns:a="http://schemas.openxmlformats.org/drawingml/2006/main" noGrp="1"/>
          </p:cNvSpPr>
          <p:nvPr/>
        </p:nvSpPr>
        <p:spPr>
          <a:xfrm xmlns:a="http://schemas.openxmlformats.org/drawingml/2006/main">
            <a:off x="1638300" y="35052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Functions</a:t>
            </a:r>
          </a:p>
        </p:txBody>
      </p:sp>
      <p:sp>
        <p:nvSpPr>
          <p:cNvPr id="17" name="">
            <a:extLst xmlns:a="http://schemas.openxmlformats.org/drawingml/2006/main">
              <a:ext uri="{FF2B5EF4-FFF2-40B4-BE49-F238E27FC236}">
                <a16:creationId xmlns:a16="http://schemas.microsoft.com/office/drawing/2014/main" id="{53CF9FBA-9429-4A8C-994C-BA61A6E28ACD}"/>
              </a:ext>
            </a:extLst>
          </p:cNvPr>
          <p:cNvSpPr>
            <a:spLocks xmlns:a="http://schemas.openxmlformats.org/drawingml/2006/main" noGrp="1"/>
          </p:cNvSpPr>
          <p:nvPr/>
        </p:nvSpPr>
        <p:spPr>
          <a:xfrm xmlns:a="http://schemas.openxmlformats.org/drawingml/2006/main">
            <a:off x="4476750" y="35052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Runs code after an event</a:t>
            </a:r>
          </a:p>
        </p:txBody>
      </p:sp>
      <p:sp>
        <p:nvSpPr>
          <p:cNvPr id="18" name="">
            <a:extLst xmlns:a="http://schemas.openxmlformats.org/drawingml/2006/main">
              <a:ext uri="{FF2B5EF4-FFF2-40B4-BE49-F238E27FC236}">
                <a16:creationId xmlns:a16="http://schemas.microsoft.com/office/drawing/2014/main" id="{5D4F3360-84BD-459F-9A10-D116603415A6}"/>
              </a:ext>
            </a:extLst>
          </p:cNvPr>
          <p:cNvSpPr>
            <a:spLocks xmlns:a="http://schemas.openxmlformats.org/drawingml/2006/main" noGrp="1"/>
          </p:cNvSpPr>
          <p:nvPr/>
        </p:nvSpPr>
        <p:spPr>
          <a:xfrm xmlns:a="http://schemas.openxmlformats.org/drawingml/2006/main">
            <a:off x="7858125" y="35052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Short background task</a:t>
            </a:r>
          </a:p>
        </p:txBody>
      </p:sp>
      <p:sp>
        <p:nvSpPr>
          <p:cNvPr id="19" name="">
            <a:extLst xmlns:a="http://schemas.openxmlformats.org/drawingml/2006/main">
              <a:ext uri="{FF2B5EF4-FFF2-40B4-BE49-F238E27FC236}">
                <a16:creationId xmlns:a16="http://schemas.microsoft.com/office/drawing/2014/main" id="{4EA99F80-6D94-4841-8D72-9058A24AF574}"/>
              </a:ext>
            </a:extLst>
          </p:cNvPr>
          <p:cNvSpPr>
            <a:spLocks xmlns:a="http://schemas.openxmlformats.org/drawingml/2006/main" noGrp="1"/>
          </p:cNvSpPr>
          <p:nvPr/>
        </p:nvSpPr>
        <p:spPr>
          <a:xfrm xmlns:a="http://schemas.openxmlformats.org/drawingml/2006/main">
            <a:off x="1619250" y="42195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22D1E4-C243-4DD1-93BC-D4CDAEDBD192}"/>
              </a:ext>
            </a:extLst>
          </p:cNvPr>
          <p:cNvSpPr>
            <a:spLocks xmlns:a="http://schemas.openxmlformats.org/drawingml/2006/main" noGrp="1"/>
          </p:cNvSpPr>
          <p:nvPr/>
        </p:nvSpPr>
        <p:spPr>
          <a:xfrm xmlns:a="http://schemas.openxmlformats.org/drawingml/2006/main">
            <a:off x="762000" y="4572000"/>
            <a:ext cx="590550" cy="5905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A9AD0766-4B71-4493-A3D1-8C32DAA70A8C}"/>
              </a:ext>
            </a:extLst>
          </p:cNvPr>
          <p:cNvSpPr>
            <a:spLocks xmlns:a="http://schemas.openxmlformats.org/drawingml/2006/main" noGrp="1"/>
          </p:cNvSpPr>
          <p:nvPr/>
        </p:nvSpPr>
        <p:spPr>
          <a:xfrm xmlns:a="http://schemas.openxmlformats.org/drawingml/2006/main">
            <a:off x="1638300" y="45529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Containers / AKS</a:t>
            </a:r>
          </a:p>
        </p:txBody>
      </p:sp>
      <p:sp>
        <p:nvSpPr>
          <p:cNvPr id="22" name="">
            <a:extLst xmlns:a="http://schemas.openxmlformats.org/drawingml/2006/main">
              <a:ext uri="{FF2B5EF4-FFF2-40B4-BE49-F238E27FC236}">
                <a16:creationId xmlns:a16="http://schemas.microsoft.com/office/drawing/2014/main" id="{88AB98E2-5B26-4152-ABCA-23C98D77152B}"/>
              </a:ext>
            </a:extLst>
          </p:cNvPr>
          <p:cNvSpPr>
            <a:spLocks xmlns:a="http://schemas.openxmlformats.org/drawingml/2006/main" noGrp="1"/>
          </p:cNvSpPr>
          <p:nvPr/>
        </p:nvSpPr>
        <p:spPr>
          <a:xfrm xmlns:a="http://schemas.openxmlformats.org/drawingml/2006/main">
            <a:off x="4476750" y="45529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2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Packages and orchestrates services</a:t>
            </a:r>
          </a:p>
        </p:txBody>
      </p:sp>
      <p:sp>
        <p:nvSpPr>
          <p:cNvPr id="23" name="">
            <a:extLst xmlns:a="http://schemas.openxmlformats.org/drawingml/2006/main">
              <a:ext uri="{FF2B5EF4-FFF2-40B4-BE49-F238E27FC236}">
                <a16:creationId xmlns:a16="http://schemas.microsoft.com/office/drawing/2014/main" id="{0BBA77CB-BDAD-471A-B473-CD5CFD6DA508}"/>
              </a:ext>
            </a:extLst>
          </p:cNvPr>
          <p:cNvSpPr>
            <a:spLocks xmlns:a="http://schemas.openxmlformats.org/drawingml/2006/main" noGrp="1"/>
          </p:cNvSpPr>
          <p:nvPr/>
        </p:nvSpPr>
        <p:spPr>
          <a:xfrm xmlns:a="http://schemas.openxmlformats.org/drawingml/2006/main">
            <a:off x="7858125" y="45529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Complex container platform</a:t>
            </a:r>
          </a:p>
        </p:txBody>
      </p:sp>
    </p:spTree>
    <p:extLst>
      <p:ext uri="{BB962C8B-B14F-4D97-AF65-F5344CB8AC3E}">
        <p14:creationId xmlns:p14="http://schemas.microsoft.com/office/powerpoint/2010/main" val="18900133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ED9579-A5DE-45B8-A150-DDB3DB551CF3}"/>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 virtual machine needs supporting resources</a:t>
            </a:r>
          </a:p>
        </p:txBody>
      </p:sp>
      <p:sp>
        <p:nvSpPr>
          <p:cNvPr id="2" name="">
            <a:extLst xmlns:a="http://schemas.openxmlformats.org/drawingml/2006/main">
              <a:ext uri="{FF2B5EF4-FFF2-40B4-BE49-F238E27FC236}">
                <a16:creationId xmlns:a16="http://schemas.microsoft.com/office/drawing/2014/main" id="{519649BD-30D8-4A82-91CD-8AEB7BB8713E}"/>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724818-A8CE-4AAC-BD6B-6A825E55C0D3}"/>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VM is one part of the deployed system</a:t>
            </a:r>
          </a:p>
        </p:txBody>
      </p:sp>
      <p:sp>
        <p:nvSpPr>
          <p:cNvPr id="4" name="">
            <a:extLst xmlns:a="http://schemas.openxmlformats.org/drawingml/2006/main">
              <a:ext uri="{FF2B5EF4-FFF2-40B4-BE49-F238E27FC236}">
                <a16:creationId xmlns:a16="http://schemas.microsoft.com/office/drawing/2014/main" id="{667D758F-B029-4163-93FE-E1040C85C7FD}"/>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642BBAE7-FB0C-4911-8443-566E005E4955}"/>
              </a:ext>
            </a:extLst>
          </p:cNvPr>
          <p:cNvSpPr>
            <a:spLocks xmlns:a="http://schemas.openxmlformats.org/drawingml/2006/main" noGrp="1"/>
          </p:cNvSpPr>
          <p:nvPr/>
        </p:nvSpPr>
        <p:spPr>
          <a:xfrm xmlns:a="http://schemas.openxmlformats.org/drawingml/2006/main">
            <a:off x="4905375" y="2333625"/>
            <a:ext cx="1428750" cy="14287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VM</a:t>
            </a:r>
          </a:p>
        </p:txBody>
      </p:sp>
      <p:sp>
        <p:nvSpPr>
          <p:cNvPr id="6" name="">
            <a:extLst xmlns:a="http://schemas.openxmlformats.org/drawingml/2006/main">
              <a:ext uri="{FF2B5EF4-FFF2-40B4-BE49-F238E27FC236}">
                <a16:creationId xmlns:a16="http://schemas.microsoft.com/office/drawing/2014/main" id="{43E6EA12-F128-4E84-8DC6-D870076A6D8D}"/>
              </a:ext>
            </a:extLst>
          </p:cNvPr>
          <p:cNvSpPr>
            <a:spLocks xmlns:a="http://schemas.openxmlformats.org/drawingml/2006/main" noGrp="1"/>
          </p:cNvSpPr>
          <p:nvPr/>
        </p:nvSpPr>
        <p:spPr>
          <a:xfrm xmlns:a="http://schemas.openxmlformats.org/drawingml/2006/main">
            <a:off x="114300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7324D"/>
            </a:solidFill>
          </a:ln>
        </p:spPr>
      </p:sp>
      <p:sp>
        <p:nvSpPr>
          <p:cNvPr id="7" name="">
            <a:extLst xmlns:a="http://schemas.openxmlformats.org/drawingml/2006/main">
              <a:ext uri="{FF2B5EF4-FFF2-40B4-BE49-F238E27FC236}">
                <a16:creationId xmlns:a16="http://schemas.microsoft.com/office/drawing/2014/main" id="{EBC14E19-0401-4413-8B24-B0057AFB0955}"/>
              </a:ext>
            </a:extLst>
          </p:cNvPr>
          <p:cNvSpPr>
            <a:spLocks xmlns:a="http://schemas.openxmlformats.org/drawingml/2006/main" noGrp="1"/>
          </p:cNvSpPr>
          <p:nvPr/>
        </p:nvSpPr>
        <p:spPr>
          <a:xfrm xmlns:a="http://schemas.openxmlformats.org/drawingml/2006/main">
            <a:off x="137160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Image</a:t>
            </a:r>
          </a:p>
        </p:txBody>
      </p:sp>
      <p:sp>
        <p:nvSpPr>
          <p:cNvPr id="8" name="">
            <a:extLst xmlns:a="http://schemas.openxmlformats.org/drawingml/2006/main">
              <a:ext uri="{FF2B5EF4-FFF2-40B4-BE49-F238E27FC236}">
                <a16:creationId xmlns:a16="http://schemas.microsoft.com/office/drawing/2014/main" id="{8B266E72-F9E0-4DB8-AF40-712377532095}"/>
              </a:ext>
            </a:extLst>
          </p:cNvPr>
          <p:cNvSpPr>
            <a:spLocks xmlns:a="http://schemas.openxmlformats.org/drawingml/2006/main" noGrp="1"/>
          </p:cNvSpPr>
          <p:nvPr/>
        </p:nvSpPr>
        <p:spPr>
          <a:xfrm xmlns:a="http://schemas.openxmlformats.org/drawingml/2006/main">
            <a:off x="137160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Starting OS</a:t>
            </a:r>
          </a:p>
        </p:txBody>
      </p:sp>
      <p:sp>
        <p:nvSpPr>
          <p:cNvPr id="9" name="">
            <a:extLst xmlns:a="http://schemas.openxmlformats.org/drawingml/2006/main">
              <a:ext uri="{FF2B5EF4-FFF2-40B4-BE49-F238E27FC236}">
                <a16:creationId xmlns:a16="http://schemas.microsoft.com/office/drawing/2014/main" id="{E75E65FF-D945-4E30-9F32-A94F09DAF61F}"/>
              </a:ext>
            </a:extLst>
          </p:cNvPr>
          <p:cNvSpPr>
            <a:spLocks xmlns:a="http://schemas.openxmlformats.org/drawingml/2006/main" noGrp="1"/>
          </p:cNvSpPr>
          <p:nvPr/>
        </p:nvSpPr>
        <p:spPr>
          <a:xfrm xmlns:a="http://schemas.openxmlformats.org/drawingml/2006/main">
            <a:off x="114300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00A4EF"/>
            </a:solidFill>
          </a:ln>
        </p:spPr>
      </p:sp>
      <p:sp>
        <p:nvSpPr>
          <p:cNvPr id="10" name="">
            <a:extLst xmlns:a="http://schemas.openxmlformats.org/drawingml/2006/main">
              <a:ext uri="{FF2B5EF4-FFF2-40B4-BE49-F238E27FC236}">
                <a16:creationId xmlns:a16="http://schemas.microsoft.com/office/drawing/2014/main" id="{9DA30B2E-EAB7-42E5-A6E8-6759A0385296}"/>
              </a:ext>
            </a:extLst>
          </p:cNvPr>
          <p:cNvSpPr>
            <a:spLocks xmlns:a="http://schemas.openxmlformats.org/drawingml/2006/main" noGrp="1"/>
          </p:cNvSpPr>
          <p:nvPr/>
        </p:nvSpPr>
        <p:spPr>
          <a:xfrm xmlns:a="http://schemas.openxmlformats.org/drawingml/2006/main">
            <a:off x="137160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00A4EF"/>
                </a:solidFill>
                <a:latin typeface="Arial"/>
                <a:ea typeface="Arial"/>
                <a:cs typeface="Arial"/>
              </a:defRPr>
            </a:pPr>
            <a:r>
              <a:rPr sz="1725" b="1">
                <a:solidFill>
                  <a:srgbClr val="00A4EF"/>
                </a:solidFill>
                <a:latin typeface="Arial"/>
                <a:ea typeface="Arial"/>
                <a:cs typeface="Arial"/>
              </a:rPr>
              <a:t>Size</a:t>
            </a:r>
          </a:p>
        </p:txBody>
      </p:sp>
      <p:sp>
        <p:nvSpPr>
          <p:cNvPr id="11" name="">
            <a:extLst xmlns:a="http://schemas.openxmlformats.org/drawingml/2006/main">
              <a:ext uri="{FF2B5EF4-FFF2-40B4-BE49-F238E27FC236}">
                <a16:creationId xmlns:a16="http://schemas.microsoft.com/office/drawing/2014/main" id="{57FFE72C-F051-43B4-9CE1-DDE92F815FAA}"/>
              </a:ext>
            </a:extLst>
          </p:cNvPr>
          <p:cNvSpPr>
            <a:spLocks xmlns:a="http://schemas.openxmlformats.org/drawingml/2006/main" noGrp="1"/>
          </p:cNvSpPr>
          <p:nvPr/>
        </p:nvSpPr>
        <p:spPr>
          <a:xfrm xmlns:a="http://schemas.openxmlformats.org/drawingml/2006/main">
            <a:off x="137160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CPU and memory</a:t>
            </a:r>
          </a:p>
        </p:txBody>
      </p:sp>
      <p:sp>
        <p:nvSpPr>
          <p:cNvPr id="12" name="">
            <a:extLst xmlns:a="http://schemas.openxmlformats.org/drawingml/2006/main">
              <a:ext uri="{FF2B5EF4-FFF2-40B4-BE49-F238E27FC236}">
                <a16:creationId xmlns:a16="http://schemas.microsoft.com/office/drawing/2014/main" id="{B4C6897B-4DBD-42DD-82A3-CAD6F2DC86D7}"/>
              </a:ext>
            </a:extLst>
          </p:cNvPr>
          <p:cNvSpPr>
            <a:spLocks xmlns:a="http://schemas.openxmlformats.org/drawingml/2006/main" noGrp="1"/>
          </p:cNvSpPr>
          <p:nvPr/>
        </p:nvSpPr>
        <p:spPr>
          <a:xfrm xmlns:a="http://schemas.openxmlformats.org/drawingml/2006/main">
            <a:off x="847725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07C10"/>
            </a:solidFill>
          </a:ln>
        </p:spPr>
      </p:sp>
      <p:sp>
        <p:nvSpPr>
          <p:cNvPr id="13" name="">
            <a:extLst xmlns:a="http://schemas.openxmlformats.org/drawingml/2006/main">
              <a:ext uri="{FF2B5EF4-FFF2-40B4-BE49-F238E27FC236}">
                <a16:creationId xmlns:a16="http://schemas.microsoft.com/office/drawing/2014/main" id="{6D8C21F2-D5A9-493F-9595-C60AC8E3EE8F}"/>
              </a:ext>
            </a:extLst>
          </p:cNvPr>
          <p:cNvSpPr>
            <a:spLocks xmlns:a="http://schemas.openxmlformats.org/drawingml/2006/main" noGrp="1"/>
          </p:cNvSpPr>
          <p:nvPr/>
        </p:nvSpPr>
        <p:spPr>
          <a:xfrm xmlns:a="http://schemas.openxmlformats.org/drawingml/2006/main">
            <a:off x="870585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7C10"/>
                </a:solidFill>
                <a:latin typeface="Arial"/>
                <a:ea typeface="Arial"/>
                <a:cs typeface="Arial"/>
              </a:defRPr>
            </a:pPr>
            <a:r>
              <a:rPr sz="1725" b="1">
                <a:solidFill>
                  <a:srgbClr val="107C10"/>
                </a:solidFill>
                <a:latin typeface="Arial"/>
                <a:ea typeface="Arial"/>
                <a:cs typeface="Arial"/>
              </a:rPr>
              <a:t>OS disk</a:t>
            </a:r>
          </a:p>
        </p:txBody>
      </p:sp>
      <p:sp>
        <p:nvSpPr>
          <p:cNvPr id="14" name="">
            <a:extLst xmlns:a="http://schemas.openxmlformats.org/drawingml/2006/main">
              <a:ext uri="{FF2B5EF4-FFF2-40B4-BE49-F238E27FC236}">
                <a16:creationId xmlns:a16="http://schemas.microsoft.com/office/drawing/2014/main" id="{7CED17AF-5083-4C70-AE73-F26AD1D07602}"/>
              </a:ext>
            </a:extLst>
          </p:cNvPr>
          <p:cNvSpPr>
            <a:spLocks xmlns:a="http://schemas.openxmlformats.org/drawingml/2006/main" noGrp="1"/>
          </p:cNvSpPr>
          <p:nvPr/>
        </p:nvSpPr>
        <p:spPr>
          <a:xfrm xmlns:a="http://schemas.openxmlformats.org/drawingml/2006/main">
            <a:off x="870585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Persistent storage</a:t>
            </a:r>
          </a:p>
        </p:txBody>
      </p:sp>
      <p:sp>
        <p:nvSpPr>
          <p:cNvPr id="15" name="">
            <a:extLst xmlns:a="http://schemas.openxmlformats.org/drawingml/2006/main">
              <a:ext uri="{FF2B5EF4-FFF2-40B4-BE49-F238E27FC236}">
                <a16:creationId xmlns:a16="http://schemas.microsoft.com/office/drawing/2014/main" id="{DE731E3B-0EEF-48E8-972E-2228397C9672}"/>
              </a:ext>
            </a:extLst>
          </p:cNvPr>
          <p:cNvSpPr>
            <a:spLocks xmlns:a="http://schemas.openxmlformats.org/drawingml/2006/main" noGrp="1"/>
          </p:cNvSpPr>
          <p:nvPr/>
        </p:nvSpPr>
        <p:spPr>
          <a:xfrm xmlns:a="http://schemas.openxmlformats.org/drawingml/2006/main">
            <a:off x="847725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707A4BDC-ED69-4F4B-8EDE-4ABA0010D2E8}"/>
              </a:ext>
            </a:extLst>
          </p:cNvPr>
          <p:cNvSpPr>
            <a:spLocks xmlns:a="http://schemas.openxmlformats.org/drawingml/2006/main" noGrp="1"/>
          </p:cNvSpPr>
          <p:nvPr/>
        </p:nvSpPr>
        <p:spPr>
          <a:xfrm xmlns:a="http://schemas.openxmlformats.org/drawingml/2006/main">
            <a:off x="870585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FFB900"/>
                </a:solidFill>
                <a:latin typeface="Arial"/>
                <a:ea typeface="Arial"/>
                <a:cs typeface="Arial"/>
              </a:defRPr>
            </a:pPr>
            <a:r>
              <a:rPr sz="1725" b="1">
                <a:solidFill>
                  <a:srgbClr val="FFB900"/>
                </a:solidFill>
                <a:latin typeface="Arial"/>
                <a:ea typeface="Arial"/>
                <a:cs typeface="Arial"/>
              </a:rPr>
              <a:t>NIC</a:t>
            </a:r>
          </a:p>
        </p:txBody>
      </p:sp>
      <p:sp>
        <p:nvSpPr>
          <p:cNvPr id="17" name="">
            <a:extLst xmlns:a="http://schemas.openxmlformats.org/drawingml/2006/main">
              <a:ext uri="{FF2B5EF4-FFF2-40B4-BE49-F238E27FC236}">
                <a16:creationId xmlns:a16="http://schemas.microsoft.com/office/drawing/2014/main" id="{431F0FDE-3FFE-4EEB-A1A1-3172A7B57846}"/>
              </a:ext>
            </a:extLst>
          </p:cNvPr>
          <p:cNvSpPr>
            <a:spLocks xmlns:a="http://schemas.openxmlformats.org/drawingml/2006/main" noGrp="1"/>
          </p:cNvSpPr>
          <p:nvPr/>
        </p:nvSpPr>
        <p:spPr>
          <a:xfrm xmlns:a="http://schemas.openxmlformats.org/drawingml/2006/main">
            <a:off x="870585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Network connection</a:t>
            </a:r>
          </a:p>
        </p:txBody>
      </p:sp>
      <p:sp>
        <p:nvSpPr>
          <p:cNvPr id="18" name="">
            <a:extLst xmlns:a="http://schemas.openxmlformats.org/drawingml/2006/main">
              <a:ext uri="{FF2B5EF4-FFF2-40B4-BE49-F238E27FC236}">
                <a16:creationId xmlns:a16="http://schemas.microsoft.com/office/drawing/2014/main" id="{3E0C4CD0-677C-4F8B-944D-2194207AF40F}"/>
              </a:ext>
            </a:extLst>
          </p:cNvPr>
          <p:cNvSpPr>
            <a:spLocks xmlns:a="http://schemas.openxmlformats.org/drawingml/2006/main" noGrp="1"/>
          </p:cNvSpPr>
          <p:nvPr/>
        </p:nvSpPr>
        <p:spPr>
          <a:xfrm xmlns:a="http://schemas.openxmlformats.org/drawingml/2006/main">
            <a:off x="3714750" y="215265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F18C249-376E-4782-8E59-EC3995A99FCC}"/>
              </a:ext>
            </a:extLst>
          </p:cNvPr>
          <p:cNvSpPr>
            <a:spLocks xmlns:a="http://schemas.openxmlformats.org/drawingml/2006/main" noGrp="1"/>
          </p:cNvSpPr>
          <p:nvPr/>
        </p:nvSpPr>
        <p:spPr>
          <a:xfrm xmlns:a="http://schemas.openxmlformats.org/drawingml/2006/main">
            <a:off x="3714750" y="434340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006827E-6D41-4DFC-845E-76273471E7C7}"/>
              </a:ext>
            </a:extLst>
          </p:cNvPr>
          <p:cNvSpPr>
            <a:spLocks xmlns:a="http://schemas.openxmlformats.org/drawingml/2006/main" noGrp="1"/>
          </p:cNvSpPr>
          <p:nvPr/>
        </p:nvSpPr>
        <p:spPr>
          <a:xfrm xmlns:a="http://schemas.openxmlformats.org/drawingml/2006/main">
            <a:off x="6334125" y="215265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CDAE4C7-1807-4E52-902C-AA25A01EA506}"/>
              </a:ext>
            </a:extLst>
          </p:cNvPr>
          <p:cNvSpPr>
            <a:spLocks xmlns:a="http://schemas.openxmlformats.org/drawingml/2006/main" noGrp="1"/>
          </p:cNvSpPr>
          <p:nvPr/>
        </p:nvSpPr>
        <p:spPr>
          <a:xfrm xmlns:a="http://schemas.openxmlformats.org/drawingml/2006/main">
            <a:off x="6334125" y="434340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8B8DB65-4170-4C10-AA07-2E0B4BC89E01}"/>
              </a:ext>
            </a:extLst>
          </p:cNvPr>
          <p:cNvSpPr>
            <a:spLocks xmlns:a="http://schemas.openxmlformats.org/drawingml/2006/main" noGrp="1"/>
          </p:cNvSpPr>
          <p:nvPr/>
        </p:nvSpPr>
        <p:spPr>
          <a:xfrm xmlns:a="http://schemas.openxmlformats.org/drawingml/2006/main">
            <a:off x="3667125" y="5429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D83B01"/>
                </a:solidFill>
                <a:latin typeface="Arial"/>
                <a:ea typeface="Arial"/>
                <a:cs typeface="Arial"/>
              </a:defRPr>
            </a:pPr>
            <a:r>
              <a:rPr sz="1725" b="1">
                <a:solidFill>
                  <a:srgbClr val="D83B01"/>
                </a:solidFill>
                <a:latin typeface="Arial"/>
                <a:ea typeface="Arial"/>
                <a:cs typeface="Arial"/>
              </a:rPr>
              <a:t>Lab rule: no internet-wide RDP rule</a:t>
            </a:r>
          </a:p>
        </p:txBody>
      </p:sp>
    </p:spTree>
    <p:extLst>
      <p:ext uri="{BB962C8B-B14F-4D97-AF65-F5344CB8AC3E}">
        <p14:creationId xmlns:p14="http://schemas.microsoft.com/office/powerpoint/2010/main" val="511373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8929AF-3D45-49CB-8676-C650DB2D1BEB}"/>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networking</a:t>
            </a:r>
          </a:p>
        </p:txBody>
      </p:sp>
      <p:sp>
        <p:nvSpPr>
          <p:cNvPr id="2" name="">
            <a:extLst xmlns:a="http://schemas.openxmlformats.org/drawingml/2006/main">
              <a:ext uri="{FF2B5EF4-FFF2-40B4-BE49-F238E27FC236}">
                <a16:creationId xmlns:a16="http://schemas.microsoft.com/office/drawing/2014/main" id="{DD766450-AB3D-402D-84B7-5D65EEDA96F7}"/>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C7354B-C6D1-4368-B44B-234C15E02014}"/>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Private address space connects the workload</a:t>
            </a:r>
          </a:p>
        </p:txBody>
      </p:sp>
      <p:sp>
        <p:nvSpPr>
          <p:cNvPr id="4" name="">
            <a:extLst xmlns:a="http://schemas.openxmlformats.org/drawingml/2006/main">
              <a:ext uri="{FF2B5EF4-FFF2-40B4-BE49-F238E27FC236}">
                <a16:creationId xmlns:a16="http://schemas.microsoft.com/office/drawing/2014/main" id="{B16AFDC7-FAD2-435C-87F1-278C00201BA7}"/>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C860C327-E9BA-4372-A207-C4578453DD8C}"/>
              </a:ext>
            </a:extLst>
          </p:cNvPr>
          <p:cNvSpPr>
            <a:spLocks xmlns:a="http://schemas.openxmlformats.org/drawingml/2006/main" noGrp="1"/>
          </p:cNvSpPr>
          <p:nvPr/>
        </p:nvSpPr>
        <p:spPr>
          <a:xfrm xmlns:a="http://schemas.openxmlformats.org/drawingml/2006/main">
            <a:off x="904875" y="1476375"/>
            <a:ext cx="10382250" cy="4000500"/>
          </a:xfrm>
          <a:prstGeom xmlns:a="http://schemas.openxmlformats.org/drawingml/2006/main" prst="roundRect">
            <a:avLst>
              <a:gd name="adj" fmla="val 1905"/>
            </a:avLst>
          </a:prstGeom>
          <a:solidFill xmlns:a="http://schemas.openxmlformats.org/drawingml/2006/main">
            <a:srgbClr val="F4FAFD"/>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029C786D-11BA-4B4E-942E-652BAAE7D909}"/>
              </a:ext>
            </a:extLst>
          </p:cNvPr>
          <p:cNvSpPr>
            <a:spLocks xmlns:a="http://schemas.openxmlformats.org/drawingml/2006/main" noGrp="1"/>
          </p:cNvSpPr>
          <p:nvPr/>
        </p:nvSpPr>
        <p:spPr>
          <a:xfrm xmlns:a="http://schemas.openxmlformats.org/drawingml/2006/main">
            <a:off x="1238250" y="171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vnet-mmaug-demo    10.0.0.0/16</a:t>
            </a:r>
          </a:p>
        </p:txBody>
      </p:sp>
      <p:sp>
        <p:nvSpPr>
          <p:cNvPr id="7" name="">
            <a:extLst xmlns:a="http://schemas.openxmlformats.org/drawingml/2006/main">
              <a:ext uri="{FF2B5EF4-FFF2-40B4-BE49-F238E27FC236}">
                <a16:creationId xmlns:a16="http://schemas.microsoft.com/office/drawing/2014/main" id="{89861346-426E-423A-8501-46E6AA3C52EA}"/>
              </a:ext>
            </a:extLst>
          </p:cNvPr>
          <p:cNvSpPr>
            <a:spLocks xmlns:a="http://schemas.openxmlformats.org/drawingml/2006/main" noGrp="1"/>
          </p:cNvSpPr>
          <p:nvPr/>
        </p:nvSpPr>
        <p:spPr>
          <a:xfrm xmlns:a="http://schemas.openxmlformats.org/drawingml/2006/main">
            <a:off x="1476375" y="2381250"/>
            <a:ext cx="7239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0E56ECC0-89CA-4E1C-98EF-CADE0AE189A8}"/>
              </a:ext>
            </a:extLst>
          </p:cNvPr>
          <p:cNvSpPr>
            <a:spLocks xmlns:a="http://schemas.openxmlformats.org/drawingml/2006/main" noGrp="1"/>
          </p:cNvSpPr>
          <p:nvPr/>
        </p:nvSpPr>
        <p:spPr>
          <a:xfrm xmlns:a="http://schemas.openxmlformats.org/drawingml/2006/main">
            <a:off x="1809750" y="26098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0A4EF"/>
                </a:solidFill>
                <a:latin typeface="Arial"/>
                <a:ea typeface="Arial"/>
                <a:cs typeface="Arial"/>
              </a:defRPr>
            </a:pPr>
            <a:r>
              <a:rPr sz="1650" b="1">
                <a:solidFill>
                  <a:srgbClr val="00A4EF"/>
                </a:solidFill>
                <a:latin typeface="Arial"/>
                <a:ea typeface="Arial"/>
                <a:cs typeface="Arial"/>
              </a:rPr>
              <a:t>snet-workload    10.0.1.0/24</a:t>
            </a:r>
          </a:p>
        </p:txBody>
      </p:sp>
      <p:sp>
        <p:nvSpPr>
          <p:cNvPr id="9" name="">
            <a:extLst xmlns:a="http://schemas.openxmlformats.org/drawingml/2006/main">
              <a:ext uri="{FF2B5EF4-FFF2-40B4-BE49-F238E27FC236}">
                <a16:creationId xmlns:a16="http://schemas.microsoft.com/office/drawing/2014/main" id="{ED00538C-CD9A-44F5-A8FD-805D6CB21F3F}"/>
              </a:ext>
            </a:extLst>
          </p:cNvPr>
          <p:cNvSpPr>
            <a:spLocks xmlns:a="http://schemas.openxmlformats.org/drawingml/2006/main" noGrp="1"/>
          </p:cNvSpPr>
          <p:nvPr/>
        </p:nvSpPr>
        <p:spPr>
          <a:xfrm xmlns:a="http://schemas.openxmlformats.org/drawingml/2006/main">
            <a:off x="2333625" y="3352800"/>
            <a:ext cx="857250" cy="8572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NIC</a:t>
            </a:r>
          </a:p>
        </p:txBody>
      </p:sp>
      <p:sp>
        <p:nvSpPr>
          <p:cNvPr id="10" name="">
            <a:extLst xmlns:a="http://schemas.openxmlformats.org/drawingml/2006/main">
              <a:ext uri="{FF2B5EF4-FFF2-40B4-BE49-F238E27FC236}">
                <a16:creationId xmlns:a16="http://schemas.microsoft.com/office/drawing/2014/main" id="{C13D312D-14DA-4BD3-9DE5-3F8AFCDBB7C1}"/>
              </a:ext>
            </a:extLst>
          </p:cNvPr>
          <p:cNvSpPr>
            <a:spLocks xmlns:a="http://schemas.openxmlformats.org/drawingml/2006/main" noGrp="1"/>
          </p:cNvSpPr>
          <p:nvPr/>
        </p:nvSpPr>
        <p:spPr>
          <a:xfrm xmlns:a="http://schemas.openxmlformats.org/drawingml/2006/main">
            <a:off x="4429125" y="3352800"/>
            <a:ext cx="857250" cy="857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VM</a:t>
            </a:r>
          </a:p>
        </p:txBody>
      </p:sp>
      <p:sp>
        <p:nvSpPr>
          <p:cNvPr id="11" name="">
            <a:extLst xmlns:a="http://schemas.openxmlformats.org/drawingml/2006/main">
              <a:ext uri="{FF2B5EF4-FFF2-40B4-BE49-F238E27FC236}">
                <a16:creationId xmlns:a16="http://schemas.microsoft.com/office/drawing/2014/main" id="{C7D6656B-D628-4590-92FF-95D10B75E066}"/>
              </a:ext>
            </a:extLst>
          </p:cNvPr>
          <p:cNvSpPr>
            <a:spLocks xmlns:a="http://schemas.openxmlformats.org/drawingml/2006/main" noGrp="1"/>
          </p:cNvSpPr>
          <p:nvPr/>
        </p:nvSpPr>
        <p:spPr>
          <a:xfrm xmlns:a="http://schemas.openxmlformats.org/drawingml/2006/main">
            <a:off x="3190875" y="3752850"/>
            <a:ext cx="12382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379782-2444-4378-907D-9C2822B863BA}"/>
              </a:ext>
            </a:extLst>
          </p:cNvPr>
          <p:cNvSpPr>
            <a:spLocks xmlns:a="http://schemas.openxmlformats.org/drawingml/2006/main" noGrp="1"/>
          </p:cNvSpPr>
          <p:nvPr/>
        </p:nvSpPr>
        <p:spPr>
          <a:xfrm xmlns:a="http://schemas.openxmlformats.org/drawingml/2006/main">
            <a:off x="6524625" y="3238500"/>
            <a:ext cx="1714500" cy="1047750"/>
          </a:xfrm>
          <a:prstGeom xmlns:a="http://schemas.openxmlformats.org/drawingml/2006/main" prst="roundRect">
            <a:avLst>
              <a:gd name="adj" fmla="val 7273"/>
            </a:avLst>
          </a:prstGeom>
          <a:solidFill xmlns:a="http://schemas.openxmlformats.org/drawingml/2006/main">
            <a:srgbClr val="FFF4E8"/>
          </a:solidFill>
          <a:ln xmlns:a="http://schemas.openxmlformats.org/drawingml/2006/main" w="19050">
            <a:solidFill>
              <a:srgbClr val="D83B01"/>
            </a:solidFill>
          </a:ln>
        </p:spPr>
      </p:sp>
      <p:sp>
        <p:nvSpPr>
          <p:cNvPr id="13" name="">
            <a:extLst xmlns:a="http://schemas.openxmlformats.org/drawingml/2006/main">
              <a:ext uri="{FF2B5EF4-FFF2-40B4-BE49-F238E27FC236}">
                <a16:creationId xmlns:a16="http://schemas.microsoft.com/office/drawing/2014/main" id="{FF7DF359-52FD-4E22-BCC8-9765AE35BE15}"/>
              </a:ext>
            </a:extLst>
          </p:cNvPr>
          <p:cNvSpPr>
            <a:spLocks xmlns:a="http://schemas.openxmlformats.org/drawingml/2006/main" noGrp="1"/>
          </p:cNvSpPr>
          <p:nvPr/>
        </p:nvSpPr>
        <p:spPr>
          <a:xfrm xmlns:a="http://schemas.openxmlformats.org/drawingml/2006/main">
            <a:off x="6858000" y="34290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NSG</a:t>
            </a:r>
          </a:p>
        </p:txBody>
      </p:sp>
      <p:sp>
        <p:nvSpPr>
          <p:cNvPr id="14" name="">
            <a:extLst xmlns:a="http://schemas.openxmlformats.org/drawingml/2006/main">
              <a:ext uri="{FF2B5EF4-FFF2-40B4-BE49-F238E27FC236}">
                <a16:creationId xmlns:a16="http://schemas.microsoft.com/office/drawing/2014/main" id="{6EAB2FA8-4FB7-41AD-B22A-585498EBB296}"/>
              </a:ext>
            </a:extLst>
          </p:cNvPr>
          <p:cNvSpPr>
            <a:spLocks xmlns:a="http://schemas.openxmlformats.org/drawingml/2006/main" noGrp="1"/>
          </p:cNvSpPr>
          <p:nvPr/>
        </p:nvSpPr>
        <p:spPr>
          <a:xfrm xmlns:a="http://schemas.openxmlformats.org/drawingml/2006/main">
            <a:off x="6715125" y="381952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Traffic rules</a:t>
            </a:r>
          </a:p>
        </p:txBody>
      </p:sp>
      <p:sp>
        <p:nvSpPr>
          <p:cNvPr id="15" name="">
            <a:extLst xmlns:a="http://schemas.openxmlformats.org/drawingml/2006/main">
              <a:ext uri="{FF2B5EF4-FFF2-40B4-BE49-F238E27FC236}">
                <a16:creationId xmlns:a16="http://schemas.microsoft.com/office/drawing/2014/main" id="{766AE202-4D15-430B-9BD9-5ACFD5223196}"/>
              </a:ext>
            </a:extLst>
          </p:cNvPr>
          <p:cNvSpPr>
            <a:spLocks xmlns:a="http://schemas.openxmlformats.org/drawingml/2006/main" noGrp="1"/>
          </p:cNvSpPr>
          <p:nvPr/>
        </p:nvSpPr>
        <p:spPr>
          <a:xfrm xmlns:a="http://schemas.openxmlformats.org/drawingml/2006/main">
            <a:off x="9144000" y="2638425"/>
            <a:ext cx="1571625"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0078D4"/>
            </a:solidFill>
          </a:ln>
        </p:spPr>
      </p:sp>
      <p:sp>
        <p:nvSpPr>
          <p:cNvPr id="16" name="">
            <a:extLst xmlns:a="http://schemas.openxmlformats.org/drawingml/2006/main">
              <a:ext uri="{FF2B5EF4-FFF2-40B4-BE49-F238E27FC236}">
                <a16:creationId xmlns:a16="http://schemas.microsoft.com/office/drawing/2014/main" id="{64F65D3F-1678-47DE-B0F2-B21666457AD2}"/>
              </a:ext>
            </a:extLst>
          </p:cNvPr>
          <p:cNvSpPr>
            <a:spLocks xmlns:a="http://schemas.openxmlformats.org/drawingml/2006/main" noGrp="1"/>
          </p:cNvSpPr>
          <p:nvPr/>
        </p:nvSpPr>
        <p:spPr>
          <a:xfrm xmlns:a="http://schemas.openxmlformats.org/drawingml/2006/main">
            <a:off x="9334500" y="2933700"/>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0078D4"/>
                </a:solidFill>
                <a:latin typeface="Arial"/>
                <a:ea typeface="Arial"/>
                <a:cs typeface="Arial"/>
              </a:defRPr>
            </a:pPr>
            <a:r>
              <a:rPr sz="1575" b="1">
                <a:solidFill>
                  <a:srgbClr val="0078D4"/>
                </a:solidFill>
                <a:latin typeface="Arial"/>
                <a:ea typeface="Arial"/>
                <a:cs typeface="Arial"/>
              </a:rPr>
              <a:t>Public IP</a:t>
            </a:r>
          </a:p>
        </p:txBody>
      </p:sp>
      <p:sp>
        <p:nvSpPr>
          <p:cNvPr id="17" name="">
            <a:extLst xmlns:a="http://schemas.openxmlformats.org/drawingml/2006/main">
              <a:ext uri="{FF2B5EF4-FFF2-40B4-BE49-F238E27FC236}">
                <a16:creationId xmlns:a16="http://schemas.microsoft.com/office/drawing/2014/main" id="{A2AEDB8D-330C-4731-BB8F-86F541AA7675}"/>
              </a:ext>
            </a:extLst>
          </p:cNvPr>
          <p:cNvSpPr>
            <a:spLocks xmlns:a="http://schemas.openxmlformats.org/drawingml/2006/main" noGrp="1"/>
          </p:cNvSpPr>
          <p:nvPr/>
        </p:nvSpPr>
        <p:spPr>
          <a:xfrm xmlns:a="http://schemas.openxmlformats.org/drawingml/2006/main">
            <a:off x="9353550" y="342900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2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Optional</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in this lab</a:t>
            </a:r>
          </a:p>
        </p:txBody>
      </p:sp>
      <p:sp>
        <p:nvSpPr>
          <p:cNvPr id="18" name="">
            <a:extLst xmlns:a="http://schemas.openxmlformats.org/drawingml/2006/main">
              <a:ext uri="{FF2B5EF4-FFF2-40B4-BE49-F238E27FC236}">
                <a16:creationId xmlns:a16="http://schemas.microsoft.com/office/drawing/2014/main" id="{E4DEA7D6-52DC-43C3-95E8-118306CAE668}"/>
              </a:ext>
            </a:extLst>
          </p:cNvPr>
          <p:cNvSpPr>
            <a:spLocks xmlns:a="http://schemas.openxmlformats.org/drawingml/2006/main" noGrp="1"/>
          </p:cNvSpPr>
          <p:nvPr/>
        </p:nvSpPr>
        <p:spPr>
          <a:xfrm xmlns:a="http://schemas.openxmlformats.org/drawingml/2006/main">
            <a:off x="1952625" y="50006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/16 is a larger range. /24 is a smaller range inside it.</a:t>
            </a:r>
          </a:p>
        </p:txBody>
      </p:sp>
    </p:spTree>
    <p:extLst>
      <p:ext uri="{BB962C8B-B14F-4D97-AF65-F5344CB8AC3E}">
        <p14:creationId xmlns:p14="http://schemas.microsoft.com/office/powerpoint/2010/main" val="12249660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F3E7328-8568-4E9A-9C26-99C826E60EE5}"/>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Storage</a:t>
            </a:r>
          </a:p>
        </p:txBody>
      </p:sp>
      <p:sp>
        <p:nvSpPr>
          <p:cNvPr id="2" name="">
            <a:extLst xmlns:a="http://schemas.openxmlformats.org/drawingml/2006/main">
              <a:ext uri="{FF2B5EF4-FFF2-40B4-BE49-F238E27FC236}">
                <a16:creationId xmlns:a16="http://schemas.microsoft.com/office/drawing/2014/main" id="{6809254A-CCEC-4CB7-8B41-260F5F067F11}"/>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662017-976E-4F11-B774-A463D1D3BDDD}"/>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One account can provide several storage services</a:t>
            </a:r>
          </a:p>
        </p:txBody>
      </p:sp>
      <p:sp>
        <p:nvSpPr>
          <p:cNvPr id="4" name="">
            <a:extLst xmlns:a="http://schemas.openxmlformats.org/drawingml/2006/main">
              <a:ext uri="{FF2B5EF4-FFF2-40B4-BE49-F238E27FC236}">
                <a16:creationId xmlns:a16="http://schemas.microsoft.com/office/drawing/2014/main" id="{C92479E7-64DC-4030-9638-AEA46F76C4D8}"/>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7ED1D5D9-2D3F-4FC2-AF8C-4479B4927601}"/>
              </a:ext>
            </a:extLst>
          </p:cNvPr>
          <p:cNvSpPr>
            <a:spLocks xmlns:a="http://schemas.openxmlformats.org/drawingml/2006/main" noGrp="1"/>
          </p:cNvSpPr>
          <p:nvPr/>
        </p:nvSpPr>
        <p:spPr>
          <a:xfrm xmlns:a="http://schemas.openxmlformats.org/drawingml/2006/main">
            <a:off x="857250" y="2381250"/>
            <a:ext cx="1238250" cy="1238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ST</a:t>
            </a:r>
          </a:p>
        </p:txBody>
      </p:sp>
      <p:sp>
        <p:nvSpPr>
          <p:cNvPr id="6" name="">
            <a:extLst xmlns:a="http://schemas.openxmlformats.org/drawingml/2006/main">
              <a:ext uri="{FF2B5EF4-FFF2-40B4-BE49-F238E27FC236}">
                <a16:creationId xmlns:a16="http://schemas.microsoft.com/office/drawing/2014/main" id="{2DA1EB14-47CE-4644-88F4-4AAD81636AB3}"/>
              </a:ext>
            </a:extLst>
          </p:cNvPr>
          <p:cNvSpPr>
            <a:spLocks xmlns:a="http://schemas.openxmlformats.org/drawingml/2006/main" noGrp="1"/>
          </p:cNvSpPr>
          <p:nvPr/>
        </p:nvSpPr>
        <p:spPr>
          <a:xfrm xmlns:a="http://schemas.openxmlformats.org/drawingml/2006/main">
            <a:off x="619125" y="38100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275"/>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Storage account</a:t>
            </a:r>
          </a:p>
        </p:txBody>
      </p:sp>
      <p:sp>
        <p:nvSpPr>
          <p:cNvPr id="7" name="">
            <a:extLst xmlns:a="http://schemas.openxmlformats.org/drawingml/2006/main">
              <a:ext uri="{FF2B5EF4-FFF2-40B4-BE49-F238E27FC236}">
                <a16:creationId xmlns:a16="http://schemas.microsoft.com/office/drawing/2014/main" id="{03198858-6C6C-46E7-83DB-00D28E58CD7A}"/>
              </a:ext>
            </a:extLst>
          </p:cNvPr>
          <p:cNvSpPr>
            <a:spLocks xmlns:a="http://schemas.openxmlformats.org/drawingml/2006/main" noGrp="1"/>
          </p:cNvSpPr>
          <p:nvPr/>
        </p:nvSpPr>
        <p:spPr>
          <a:xfrm xmlns:a="http://schemas.openxmlformats.org/drawingml/2006/main">
            <a:off x="3095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1D348122-1F39-40DC-84D8-6DEE9DC9AE87}"/>
              </a:ext>
            </a:extLst>
          </p:cNvPr>
          <p:cNvSpPr>
            <a:spLocks xmlns:a="http://schemas.openxmlformats.org/drawingml/2006/main" noGrp="1"/>
          </p:cNvSpPr>
          <p:nvPr/>
        </p:nvSpPr>
        <p:spPr>
          <a:xfrm xmlns:a="http://schemas.openxmlformats.org/drawingml/2006/main">
            <a:off x="3286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00A4EF"/>
                </a:solidFill>
                <a:latin typeface="Arial"/>
                <a:ea typeface="Arial"/>
                <a:cs typeface="Arial"/>
              </a:defRPr>
            </a:pPr>
            <a:r>
              <a:rPr sz="1875" b="1">
                <a:solidFill>
                  <a:srgbClr val="00A4EF"/>
                </a:solidFill>
                <a:latin typeface="Arial"/>
                <a:ea typeface="Arial"/>
                <a:cs typeface="Arial"/>
              </a:rPr>
              <a:t>Blob</a:t>
            </a:r>
          </a:p>
        </p:txBody>
      </p:sp>
      <p:sp>
        <p:nvSpPr>
          <p:cNvPr id="9" name="">
            <a:extLst xmlns:a="http://schemas.openxmlformats.org/drawingml/2006/main">
              <a:ext uri="{FF2B5EF4-FFF2-40B4-BE49-F238E27FC236}">
                <a16:creationId xmlns:a16="http://schemas.microsoft.com/office/drawing/2014/main" id="{806B4C02-FD6F-457E-842D-DCDDBB0DD540}"/>
              </a:ext>
            </a:extLst>
          </p:cNvPr>
          <p:cNvSpPr>
            <a:spLocks xmlns:a="http://schemas.openxmlformats.org/drawingml/2006/main" noGrp="1"/>
          </p:cNvSpPr>
          <p:nvPr/>
        </p:nvSpPr>
        <p:spPr>
          <a:xfrm xmlns:a="http://schemas.openxmlformats.org/drawingml/2006/main">
            <a:off x="3238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Files and objects</a:t>
            </a:r>
          </a:p>
        </p:txBody>
      </p:sp>
      <p:sp>
        <p:nvSpPr>
          <p:cNvPr id="10" name="">
            <a:extLst xmlns:a="http://schemas.openxmlformats.org/drawingml/2006/main">
              <a:ext uri="{FF2B5EF4-FFF2-40B4-BE49-F238E27FC236}">
                <a16:creationId xmlns:a16="http://schemas.microsoft.com/office/drawing/2014/main" id="{78DBF558-8F95-4758-8501-E4DB61FBF156}"/>
              </a:ext>
            </a:extLst>
          </p:cNvPr>
          <p:cNvSpPr>
            <a:spLocks xmlns:a="http://schemas.openxmlformats.org/drawingml/2006/main" noGrp="1"/>
          </p:cNvSpPr>
          <p:nvPr/>
        </p:nvSpPr>
        <p:spPr>
          <a:xfrm xmlns:a="http://schemas.openxmlformats.org/drawingml/2006/main">
            <a:off x="2095500" y="2962275"/>
            <a:ext cx="1000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844173-BFA3-479E-A106-29290111179A}"/>
              </a:ext>
            </a:extLst>
          </p:cNvPr>
          <p:cNvSpPr>
            <a:spLocks xmlns:a="http://schemas.openxmlformats.org/drawingml/2006/main" noGrp="1"/>
          </p:cNvSpPr>
          <p:nvPr/>
        </p:nvSpPr>
        <p:spPr>
          <a:xfrm xmlns:a="http://schemas.openxmlformats.org/drawingml/2006/main">
            <a:off x="5191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07C10"/>
            </a:solidFill>
          </a:ln>
        </p:spPr>
      </p:sp>
      <p:sp>
        <p:nvSpPr>
          <p:cNvPr id="12" name="">
            <a:extLst xmlns:a="http://schemas.openxmlformats.org/drawingml/2006/main">
              <a:ext uri="{FF2B5EF4-FFF2-40B4-BE49-F238E27FC236}">
                <a16:creationId xmlns:a16="http://schemas.microsoft.com/office/drawing/2014/main" id="{891A41DB-BEC0-4A7F-81DF-2A85B8188398}"/>
              </a:ext>
            </a:extLst>
          </p:cNvPr>
          <p:cNvSpPr>
            <a:spLocks xmlns:a="http://schemas.openxmlformats.org/drawingml/2006/main" noGrp="1"/>
          </p:cNvSpPr>
          <p:nvPr/>
        </p:nvSpPr>
        <p:spPr>
          <a:xfrm xmlns:a="http://schemas.openxmlformats.org/drawingml/2006/main">
            <a:off x="5381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07C10"/>
                </a:solidFill>
                <a:latin typeface="Arial"/>
                <a:ea typeface="Arial"/>
                <a:cs typeface="Arial"/>
              </a:defRPr>
            </a:pPr>
            <a:r>
              <a:rPr sz="1875" b="1">
                <a:solidFill>
                  <a:srgbClr val="107C10"/>
                </a:solidFill>
                <a:latin typeface="Arial"/>
                <a:ea typeface="Arial"/>
                <a:cs typeface="Arial"/>
              </a:rPr>
              <a:t>Files</a:t>
            </a:r>
          </a:p>
        </p:txBody>
      </p:sp>
      <p:sp>
        <p:nvSpPr>
          <p:cNvPr id="13" name="">
            <a:extLst xmlns:a="http://schemas.openxmlformats.org/drawingml/2006/main">
              <a:ext uri="{FF2B5EF4-FFF2-40B4-BE49-F238E27FC236}">
                <a16:creationId xmlns:a16="http://schemas.microsoft.com/office/drawing/2014/main" id="{84831868-2104-4F11-BB52-F890AAD4E388}"/>
              </a:ext>
            </a:extLst>
          </p:cNvPr>
          <p:cNvSpPr>
            <a:spLocks xmlns:a="http://schemas.openxmlformats.org/drawingml/2006/main" noGrp="1"/>
          </p:cNvSpPr>
          <p:nvPr/>
        </p:nvSpPr>
        <p:spPr>
          <a:xfrm xmlns:a="http://schemas.openxmlformats.org/drawingml/2006/main">
            <a:off x="5334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Shared folders</a:t>
            </a:r>
          </a:p>
        </p:txBody>
      </p:sp>
      <p:sp>
        <p:nvSpPr>
          <p:cNvPr id="14" name="">
            <a:extLst xmlns:a="http://schemas.openxmlformats.org/drawingml/2006/main">
              <a:ext uri="{FF2B5EF4-FFF2-40B4-BE49-F238E27FC236}">
                <a16:creationId xmlns:a16="http://schemas.microsoft.com/office/drawing/2014/main" id="{07163147-A185-4033-86FF-D74235FD895F}"/>
              </a:ext>
            </a:extLst>
          </p:cNvPr>
          <p:cNvSpPr>
            <a:spLocks xmlns:a="http://schemas.openxmlformats.org/drawingml/2006/main" noGrp="1"/>
          </p:cNvSpPr>
          <p:nvPr/>
        </p:nvSpPr>
        <p:spPr>
          <a:xfrm xmlns:a="http://schemas.openxmlformats.org/drawingml/2006/main">
            <a:off x="2095500" y="2962275"/>
            <a:ext cx="3095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5493869-EFCA-437D-9008-7171006CBFE3}"/>
              </a:ext>
            </a:extLst>
          </p:cNvPr>
          <p:cNvSpPr>
            <a:spLocks xmlns:a="http://schemas.openxmlformats.org/drawingml/2006/main" noGrp="1"/>
          </p:cNvSpPr>
          <p:nvPr/>
        </p:nvSpPr>
        <p:spPr>
          <a:xfrm xmlns:a="http://schemas.openxmlformats.org/drawingml/2006/main">
            <a:off x="7286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156E4B64-D802-43D6-9FBE-38A99ABA63F1}"/>
              </a:ext>
            </a:extLst>
          </p:cNvPr>
          <p:cNvSpPr>
            <a:spLocks xmlns:a="http://schemas.openxmlformats.org/drawingml/2006/main" noGrp="1"/>
          </p:cNvSpPr>
          <p:nvPr/>
        </p:nvSpPr>
        <p:spPr>
          <a:xfrm xmlns:a="http://schemas.openxmlformats.org/drawingml/2006/main">
            <a:off x="7477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FFB900"/>
                </a:solidFill>
                <a:latin typeface="Arial"/>
                <a:ea typeface="Arial"/>
                <a:cs typeface="Arial"/>
              </a:defRPr>
            </a:pPr>
            <a:r>
              <a:rPr sz="1875" b="1">
                <a:solidFill>
                  <a:srgbClr val="FFB900"/>
                </a:solidFill>
                <a:latin typeface="Arial"/>
                <a:ea typeface="Arial"/>
                <a:cs typeface="Arial"/>
              </a:rPr>
              <a:t>Queues</a:t>
            </a:r>
          </a:p>
        </p:txBody>
      </p:sp>
      <p:sp>
        <p:nvSpPr>
          <p:cNvPr id="17" name="">
            <a:extLst xmlns:a="http://schemas.openxmlformats.org/drawingml/2006/main">
              <a:ext uri="{FF2B5EF4-FFF2-40B4-BE49-F238E27FC236}">
                <a16:creationId xmlns:a16="http://schemas.microsoft.com/office/drawing/2014/main" id="{C2EE1561-8A75-4DD6-BC07-ABC71B21ED7A}"/>
              </a:ext>
            </a:extLst>
          </p:cNvPr>
          <p:cNvSpPr>
            <a:spLocks xmlns:a="http://schemas.openxmlformats.org/drawingml/2006/main" noGrp="1"/>
          </p:cNvSpPr>
          <p:nvPr/>
        </p:nvSpPr>
        <p:spPr>
          <a:xfrm xmlns:a="http://schemas.openxmlformats.org/drawingml/2006/main">
            <a:off x="7429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Messages</a:t>
            </a:r>
          </a:p>
        </p:txBody>
      </p:sp>
      <p:sp>
        <p:nvSpPr>
          <p:cNvPr id="18" name="">
            <a:extLst xmlns:a="http://schemas.openxmlformats.org/drawingml/2006/main">
              <a:ext uri="{FF2B5EF4-FFF2-40B4-BE49-F238E27FC236}">
                <a16:creationId xmlns:a16="http://schemas.microsoft.com/office/drawing/2014/main" id="{0C96BC2A-51C5-4F82-BF3B-0F6BFE477135}"/>
              </a:ext>
            </a:extLst>
          </p:cNvPr>
          <p:cNvSpPr>
            <a:spLocks xmlns:a="http://schemas.openxmlformats.org/drawingml/2006/main" noGrp="1"/>
          </p:cNvSpPr>
          <p:nvPr/>
        </p:nvSpPr>
        <p:spPr>
          <a:xfrm xmlns:a="http://schemas.openxmlformats.org/drawingml/2006/main">
            <a:off x="2095500" y="2962275"/>
            <a:ext cx="5191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8B80C7-219A-4A2F-9FC6-74DAF8E9EA1C}"/>
              </a:ext>
            </a:extLst>
          </p:cNvPr>
          <p:cNvSpPr>
            <a:spLocks xmlns:a="http://schemas.openxmlformats.org/drawingml/2006/main" noGrp="1"/>
          </p:cNvSpPr>
          <p:nvPr/>
        </p:nvSpPr>
        <p:spPr>
          <a:xfrm xmlns:a="http://schemas.openxmlformats.org/drawingml/2006/main">
            <a:off x="9382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7324D"/>
            </a:solidFill>
          </a:ln>
        </p:spPr>
      </p:sp>
      <p:sp>
        <p:nvSpPr>
          <p:cNvPr id="20" name="">
            <a:extLst xmlns:a="http://schemas.openxmlformats.org/drawingml/2006/main">
              <a:ext uri="{FF2B5EF4-FFF2-40B4-BE49-F238E27FC236}">
                <a16:creationId xmlns:a16="http://schemas.microsoft.com/office/drawing/2014/main" id="{EDEB479B-6F21-4916-831C-29058651DC5D}"/>
              </a:ext>
            </a:extLst>
          </p:cNvPr>
          <p:cNvSpPr>
            <a:spLocks xmlns:a="http://schemas.openxmlformats.org/drawingml/2006/main" noGrp="1"/>
          </p:cNvSpPr>
          <p:nvPr/>
        </p:nvSpPr>
        <p:spPr>
          <a:xfrm xmlns:a="http://schemas.openxmlformats.org/drawingml/2006/main">
            <a:off x="9572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Tables</a:t>
            </a:r>
          </a:p>
        </p:txBody>
      </p:sp>
      <p:sp>
        <p:nvSpPr>
          <p:cNvPr id="21" name="">
            <a:extLst xmlns:a="http://schemas.openxmlformats.org/drawingml/2006/main">
              <a:ext uri="{FF2B5EF4-FFF2-40B4-BE49-F238E27FC236}">
                <a16:creationId xmlns:a16="http://schemas.microsoft.com/office/drawing/2014/main" id="{A7CF04AE-DA22-43F8-956B-DD82C73C4B74}"/>
              </a:ext>
            </a:extLst>
          </p:cNvPr>
          <p:cNvSpPr>
            <a:spLocks xmlns:a="http://schemas.openxmlformats.org/drawingml/2006/main" noGrp="1"/>
          </p:cNvSpPr>
          <p:nvPr/>
        </p:nvSpPr>
        <p:spPr>
          <a:xfrm xmlns:a="http://schemas.openxmlformats.org/drawingml/2006/main">
            <a:off x="9525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Key-value data</a:t>
            </a:r>
          </a:p>
        </p:txBody>
      </p:sp>
      <p:sp>
        <p:nvSpPr>
          <p:cNvPr id="22" name="">
            <a:extLst xmlns:a="http://schemas.openxmlformats.org/drawingml/2006/main">
              <a:ext uri="{FF2B5EF4-FFF2-40B4-BE49-F238E27FC236}">
                <a16:creationId xmlns:a16="http://schemas.microsoft.com/office/drawing/2014/main" id="{57DE3B4E-59D3-4806-A81A-9F6C321B3C45}"/>
              </a:ext>
            </a:extLst>
          </p:cNvPr>
          <p:cNvSpPr>
            <a:spLocks xmlns:a="http://schemas.openxmlformats.org/drawingml/2006/main" noGrp="1"/>
          </p:cNvSpPr>
          <p:nvPr/>
        </p:nvSpPr>
        <p:spPr>
          <a:xfrm xmlns:a="http://schemas.openxmlformats.org/drawingml/2006/main">
            <a:off x="2095500" y="2962275"/>
            <a:ext cx="7286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91263A4-8D34-4DF5-A1E5-DFB407A99545}"/>
              </a:ext>
            </a:extLst>
          </p:cNvPr>
          <p:cNvSpPr>
            <a:spLocks xmlns:a="http://schemas.openxmlformats.org/drawingml/2006/main" noGrp="1"/>
          </p:cNvSpPr>
          <p:nvPr/>
        </p:nvSpPr>
        <p:spPr>
          <a:xfrm xmlns:a="http://schemas.openxmlformats.org/drawingml/2006/main">
            <a:off x="3143250" y="4095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100" b="1">
                <a:solidFill>
                  <a:srgbClr val="17324D"/>
                </a:solidFill>
                <a:latin typeface="Arial"/>
                <a:ea typeface="Arial"/>
                <a:cs typeface="Arial"/>
              </a:defRPr>
            </a:pPr>
            <a:r>
              <a:rPr sz="2100" b="1">
                <a:solidFill>
                  <a:srgbClr val="17324D"/>
                </a:solidFill>
                <a:latin typeface="Arial"/>
                <a:ea typeface="Arial"/>
                <a:cs typeface="Arial"/>
              </a:rPr>
              <a:t>Lab choice: private Blob container with LRS</a:t>
            </a:r>
          </a:p>
        </p:txBody>
      </p:sp>
      <p:sp>
        <p:nvSpPr>
          <p:cNvPr id="24" name="">
            <a:extLst xmlns:a="http://schemas.openxmlformats.org/drawingml/2006/main">
              <a:ext uri="{FF2B5EF4-FFF2-40B4-BE49-F238E27FC236}">
                <a16:creationId xmlns:a16="http://schemas.microsoft.com/office/drawing/2014/main" id="{DCEEAE84-BEFA-42A5-8316-70A1006401F3}"/>
              </a:ext>
            </a:extLst>
          </p:cNvPr>
          <p:cNvSpPr>
            <a:spLocks xmlns:a="http://schemas.openxmlformats.org/drawingml/2006/main" noGrp="1"/>
          </p:cNvSpPr>
          <p:nvPr/>
        </p:nvSpPr>
        <p:spPr>
          <a:xfrm xmlns:a="http://schemas.openxmlformats.org/drawingml/2006/main">
            <a:off x="1619250" y="4857750"/>
            <a:ext cx="895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2606D"/>
                </a:solidFill>
                <a:latin typeface="Arial"/>
                <a:ea typeface="Arial"/>
                <a:cs typeface="Arial"/>
              </a:defRPr>
            </a:pPr>
            <a:r>
              <a:rPr sz="1425" b="0">
                <a:solidFill>
                  <a:srgbClr val="52606D"/>
                </a:solidFill>
                <a:latin typeface="Arial"/>
                <a:ea typeface="Arial"/>
                <a:cs typeface="Arial"/>
              </a:rPr>
              <a:t>LRS keeps local copies. ZRS spreads copies across zones. GRS also copies data to another region.</a:t>
            </a:r>
          </a:p>
        </p:txBody>
      </p:sp>
    </p:spTree>
    <p:extLst>
      <p:ext uri="{BB962C8B-B14F-4D97-AF65-F5344CB8AC3E}">
        <p14:creationId xmlns:p14="http://schemas.microsoft.com/office/powerpoint/2010/main" val="13984205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D5F77D-7928-40BD-84E7-7C94523E4C42}"/>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Identity and Azure RBAC</a:t>
            </a:r>
          </a:p>
        </p:txBody>
      </p:sp>
      <p:sp>
        <p:nvSpPr>
          <p:cNvPr id="2" name="">
            <a:extLst xmlns:a="http://schemas.openxmlformats.org/drawingml/2006/main">
              <a:ext uri="{FF2B5EF4-FFF2-40B4-BE49-F238E27FC236}">
                <a16:creationId xmlns:a16="http://schemas.microsoft.com/office/drawing/2014/main" id="{60DB125B-3766-4584-81D8-B529E7245C22}"/>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F56D02-BB1E-4D12-A5D2-D476061A96B6}"/>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Authentication confirms identity. Authorization grants access.</a:t>
            </a:r>
          </a:p>
        </p:txBody>
      </p:sp>
      <p:sp>
        <p:nvSpPr>
          <p:cNvPr id="4" name="">
            <a:extLst xmlns:a="http://schemas.openxmlformats.org/drawingml/2006/main">
              <a:ext uri="{FF2B5EF4-FFF2-40B4-BE49-F238E27FC236}">
                <a16:creationId xmlns:a16="http://schemas.microsoft.com/office/drawing/2014/main" id="{BB7525F2-81EB-4476-95A6-5680AFA6FBA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D77A1A50-AC40-4F2C-968D-B8C4AE59BD00}"/>
              </a:ext>
            </a:extLst>
          </p:cNvPr>
          <p:cNvSpPr>
            <a:spLocks xmlns:a="http://schemas.openxmlformats.org/drawingml/2006/main" noGrp="1"/>
          </p:cNvSpPr>
          <p:nvPr/>
        </p:nvSpPr>
        <p:spPr>
          <a:xfrm xmlns:a="http://schemas.openxmlformats.org/drawingml/2006/main">
            <a:off x="762000" y="1619250"/>
            <a:ext cx="4762500" cy="1714500"/>
          </a:xfrm>
          <a:prstGeom xmlns:a="http://schemas.openxmlformats.org/drawingml/2006/main" prst="roundRect">
            <a:avLst>
              <a:gd name="adj" fmla="val 4444"/>
            </a:avLst>
          </a:prstGeom>
          <a:solidFill xmlns:a="http://schemas.openxmlformats.org/drawingml/2006/main">
            <a:srgbClr val="EAF5FC"/>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48CB8B9C-4A57-4C15-A49F-22B1890F9D10}"/>
              </a:ext>
            </a:extLst>
          </p:cNvPr>
          <p:cNvSpPr>
            <a:spLocks xmlns:a="http://schemas.openxmlformats.org/drawingml/2006/main" noGrp="1"/>
          </p:cNvSpPr>
          <p:nvPr/>
        </p:nvSpPr>
        <p:spPr>
          <a:xfrm xmlns:a="http://schemas.openxmlformats.org/drawingml/2006/main">
            <a:off x="10953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Authentication</a:t>
            </a:r>
          </a:p>
        </p:txBody>
      </p:sp>
      <p:sp>
        <p:nvSpPr>
          <p:cNvPr id="7" name="">
            <a:extLst xmlns:a="http://schemas.openxmlformats.org/drawingml/2006/main">
              <a:ext uri="{FF2B5EF4-FFF2-40B4-BE49-F238E27FC236}">
                <a16:creationId xmlns:a16="http://schemas.microsoft.com/office/drawing/2014/main" id="{9EBB42A3-644A-4B5E-9C9E-7A4E26347306}"/>
              </a:ext>
            </a:extLst>
          </p:cNvPr>
          <p:cNvSpPr>
            <a:spLocks xmlns:a="http://schemas.openxmlformats.org/drawingml/2006/main" noGrp="1"/>
          </p:cNvSpPr>
          <p:nvPr/>
        </p:nvSpPr>
        <p:spPr>
          <a:xfrm xmlns:a="http://schemas.openxmlformats.org/drawingml/2006/main">
            <a:off x="10953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Who are you?</a:t>
            </a:r>
          </a:p>
        </p:txBody>
      </p:sp>
      <p:sp>
        <p:nvSpPr>
          <p:cNvPr id="8" name="">
            <a:extLst xmlns:a="http://schemas.openxmlformats.org/drawingml/2006/main">
              <a:ext uri="{FF2B5EF4-FFF2-40B4-BE49-F238E27FC236}">
                <a16:creationId xmlns:a16="http://schemas.microsoft.com/office/drawing/2014/main" id="{9C6D2DC5-2BF2-4B4C-97BE-B31E0C56FBAD}"/>
              </a:ext>
            </a:extLst>
          </p:cNvPr>
          <p:cNvSpPr>
            <a:spLocks xmlns:a="http://schemas.openxmlformats.org/drawingml/2006/main" noGrp="1"/>
          </p:cNvSpPr>
          <p:nvPr/>
        </p:nvSpPr>
        <p:spPr>
          <a:xfrm xmlns:a="http://schemas.openxmlformats.org/drawingml/2006/main">
            <a:off x="6667500" y="1619250"/>
            <a:ext cx="4762500" cy="1714500"/>
          </a:xfrm>
          <a:prstGeom xmlns:a="http://schemas.openxmlformats.org/drawingml/2006/main" prst="roundRect">
            <a:avLst>
              <a:gd name="adj" fmla="val 4444"/>
            </a:avLst>
          </a:prstGeom>
          <a:solidFill xmlns:a="http://schemas.openxmlformats.org/drawingml/2006/main">
            <a:srgbClr val="EDF8ED"/>
          </a:solidFill>
          <a:ln xmlns:a="http://schemas.openxmlformats.org/drawingml/2006/main" w="19050">
            <a:solidFill>
              <a:srgbClr val="107C10"/>
            </a:solidFill>
          </a:ln>
        </p:spPr>
      </p:sp>
      <p:sp>
        <p:nvSpPr>
          <p:cNvPr id="9" name="">
            <a:extLst xmlns:a="http://schemas.openxmlformats.org/drawingml/2006/main">
              <a:ext uri="{FF2B5EF4-FFF2-40B4-BE49-F238E27FC236}">
                <a16:creationId xmlns:a16="http://schemas.microsoft.com/office/drawing/2014/main" id="{EBA2532A-B79F-48C6-B4E4-84DBFB7EFCF5}"/>
              </a:ext>
            </a:extLst>
          </p:cNvPr>
          <p:cNvSpPr>
            <a:spLocks xmlns:a="http://schemas.openxmlformats.org/drawingml/2006/main" noGrp="1"/>
          </p:cNvSpPr>
          <p:nvPr/>
        </p:nvSpPr>
        <p:spPr>
          <a:xfrm xmlns:a="http://schemas.openxmlformats.org/drawingml/2006/main">
            <a:off x="70008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107C10"/>
                </a:solidFill>
                <a:latin typeface="Arial"/>
                <a:ea typeface="Arial"/>
                <a:cs typeface="Arial"/>
              </a:defRPr>
            </a:pPr>
            <a:r>
              <a:rPr sz="2100" b="1">
                <a:solidFill>
                  <a:srgbClr val="107C10"/>
                </a:solidFill>
                <a:latin typeface="Arial"/>
                <a:ea typeface="Arial"/>
                <a:cs typeface="Arial"/>
              </a:rPr>
              <a:t>Authorization</a:t>
            </a:r>
          </a:p>
        </p:txBody>
      </p:sp>
      <p:sp>
        <p:nvSpPr>
          <p:cNvPr id="10" name="">
            <a:extLst xmlns:a="http://schemas.openxmlformats.org/drawingml/2006/main">
              <a:ext uri="{FF2B5EF4-FFF2-40B4-BE49-F238E27FC236}">
                <a16:creationId xmlns:a16="http://schemas.microsoft.com/office/drawing/2014/main" id="{AAA2979D-D179-450D-BBCB-41F09CC4330B}"/>
              </a:ext>
            </a:extLst>
          </p:cNvPr>
          <p:cNvSpPr>
            <a:spLocks xmlns:a="http://schemas.openxmlformats.org/drawingml/2006/main" noGrp="1"/>
          </p:cNvSpPr>
          <p:nvPr/>
        </p:nvSpPr>
        <p:spPr>
          <a:xfrm xmlns:a="http://schemas.openxmlformats.org/drawingml/2006/main">
            <a:off x="70008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What may you do?</a:t>
            </a:r>
          </a:p>
        </p:txBody>
      </p:sp>
      <p:sp>
        <p:nvSpPr>
          <p:cNvPr id="11" name="">
            <a:extLst xmlns:a="http://schemas.openxmlformats.org/drawingml/2006/main">
              <a:ext uri="{FF2B5EF4-FFF2-40B4-BE49-F238E27FC236}">
                <a16:creationId xmlns:a16="http://schemas.microsoft.com/office/drawing/2014/main" id="{178B2141-7331-4BE0-8E1E-C4903217AD7E}"/>
              </a:ext>
            </a:extLst>
          </p:cNvPr>
          <p:cNvSpPr>
            <a:spLocks xmlns:a="http://schemas.openxmlformats.org/drawingml/2006/main" noGrp="1"/>
          </p:cNvSpPr>
          <p:nvPr/>
        </p:nvSpPr>
        <p:spPr>
          <a:xfrm xmlns:a="http://schemas.openxmlformats.org/drawingml/2006/main">
            <a:off x="762000" y="39528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Azure RBAC scope</a:t>
            </a:r>
          </a:p>
        </p:txBody>
      </p:sp>
      <p:sp>
        <p:nvSpPr>
          <p:cNvPr id="12" name="">
            <a:extLst xmlns:a="http://schemas.openxmlformats.org/drawingml/2006/main">
              <a:ext uri="{FF2B5EF4-FFF2-40B4-BE49-F238E27FC236}">
                <a16:creationId xmlns:a16="http://schemas.microsoft.com/office/drawing/2014/main" id="{4A09FA6E-CA20-445E-B013-29F6C41DA03D}"/>
              </a:ext>
            </a:extLst>
          </p:cNvPr>
          <p:cNvSpPr>
            <a:spLocks xmlns:a="http://schemas.openxmlformats.org/drawingml/2006/main" noGrp="1"/>
          </p:cNvSpPr>
          <p:nvPr/>
        </p:nvSpPr>
        <p:spPr>
          <a:xfrm xmlns:a="http://schemas.openxmlformats.org/drawingml/2006/main">
            <a:off x="762000"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3" name="">
            <a:extLst xmlns:a="http://schemas.openxmlformats.org/drawingml/2006/main">
              <a:ext uri="{FF2B5EF4-FFF2-40B4-BE49-F238E27FC236}">
                <a16:creationId xmlns:a16="http://schemas.microsoft.com/office/drawing/2014/main" id="{5FE1D714-2C43-44E4-ACCE-8A86A7A4470C}"/>
              </a:ext>
            </a:extLst>
          </p:cNvPr>
          <p:cNvSpPr>
            <a:spLocks xmlns:a="http://schemas.openxmlformats.org/drawingml/2006/main" noGrp="1"/>
          </p:cNvSpPr>
          <p:nvPr/>
        </p:nvSpPr>
        <p:spPr>
          <a:xfrm xmlns:a="http://schemas.openxmlformats.org/drawingml/2006/main">
            <a:off x="87630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Management group</a:t>
            </a:r>
          </a:p>
        </p:txBody>
      </p:sp>
      <p:sp>
        <p:nvSpPr>
          <p:cNvPr id="14" name="">
            <a:extLst xmlns:a="http://schemas.openxmlformats.org/drawingml/2006/main">
              <a:ext uri="{FF2B5EF4-FFF2-40B4-BE49-F238E27FC236}">
                <a16:creationId xmlns:a16="http://schemas.microsoft.com/office/drawing/2014/main" id="{BF017F9C-9B81-4625-9E21-C01E68C9AE56}"/>
              </a:ext>
            </a:extLst>
          </p:cNvPr>
          <p:cNvSpPr>
            <a:spLocks xmlns:a="http://schemas.openxmlformats.org/drawingml/2006/main" noGrp="1"/>
          </p:cNvSpPr>
          <p:nvPr/>
        </p:nvSpPr>
        <p:spPr>
          <a:xfrm xmlns:a="http://schemas.openxmlformats.org/drawingml/2006/main">
            <a:off x="347662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5" name="">
            <a:extLst xmlns:a="http://schemas.openxmlformats.org/drawingml/2006/main">
              <a:ext uri="{FF2B5EF4-FFF2-40B4-BE49-F238E27FC236}">
                <a16:creationId xmlns:a16="http://schemas.microsoft.com/office/drawing/2014/main" id="{EB77804D-C7E8-4F20-8987-DE74EBB393C5}"/>
              </a:ext>
            </a:extLst>
          </p:cNvPr>
          <p:cNvSpPr>
            <a:spLocks xmlns:a="http://schemas.openxmlformats.org/drawingml/2006/main" noGrp="1"/>
          </p:cNvSpPr>
          <p:nvPr/>
        </p:nvSpPr>
        <p:spPr>
          <a:xfrm xmlns:a="http://schemas.openxmlformats.org/drawingml/2006/main">
            <a:off x="359092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Subscription</a:t>
            </a:r>
          </a:p>
        </p:txBody>
      </p:sp>
      <p:sp>
        <p:nvSpPr>
          <p:cNvPr id="16" name="">
            <a:extLst xmlns:a="http://schemas.openxmlformats.org/drawingml/2006/main">
              <a:ext uri="{FF2B5EF4-FFF2-40B4-BE49-F238E27FC236}">
                <a16:creationId xmlns:a16="http://schemas.microsoft.com/office/drawing/2014/main" id="{9049B79A-C169-4B85-8E67-C0A63F88C23D}"/>
              </a:ext>
            </a:extLst>
          </p:cNvPr>
          <p:cNvSpPr>
            <a:spLocks xmlns:a="http://schemas.openxmlformats.org/drawingml/2006/main" noGrp="1"/>
          </p:cNvSpPr>
          <p:nvPr/>
        </p:nvSpPr>
        <p:spPr>
          <a:xfrm xmlns:a="http://schemas.openxmlformats.org/drawingml/2006/main">
            <a:off x="6191250" y="4524375"/>
            <a:ext cx="2333625"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19050">
            <a:solidFill>
              <a:srgbClr val="0078D4"/>
            </a:solidFill>
          </a:ln>
        </p:spPr>
      </p:sp>
      <p:sp>
        <p:nvSpPr>
          <p:cNvPr id="17" name="">
            <a:extLst xmlns:a="http://schemas.openxmlformats.org/drawingml/2006/main">
              <a:ext uri="{FF2B5EF4-FFF2-40B4-BE49-F238E27FC236}">
                <a16:creationId xmlns:a16="http://schemas.microsoft.com/office/drawing/2014/main" id="{D616BB73-B01F-4813-AF75-1E170DF966A8}"/>
              </a:ext>
            </a:extLst>
          </p:cNvPr>
          <p:cNvSpPr>
            <a:spLocks xmlns:a="http://schemas.openxmlformats.org/drawingml/2006/main" noGrp="1"/>
          </p:cNvSpPr>
          <p:nvPr/>
        </p:nvSpPr>
        <p:spPr>
          <a:xfrm xmlns:a="http://schemas.openxmlformats.org/drawingml/2006/main">
            <a:off x="630555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Resource group</a:t>
            </a:r>
          </a:p>
        </p:txBody>
      </p:sp>
      <p:sp>
        <p:nvSpPr>
          <p:cNvPr id="18" name="">
            <a:extLst xmlns:a="http://schemas.openxmlformats.org/drawingml/2006/main">
              <a:ext uri="{FF2B5EF4-FFF2-40B4-BE49-F238E27FC236}">
                <a16:creationId xmlns:a16="http://schemas.microsoft.com/office/drawing/2014/main" id="{BE2852AB-C919-45A6-B5EC-7B57D2CE9997}"/>
              </a:ext>
            </a:extLst>
          </p:cNvPr>
          <p:cNvSpPr>
            <a:spLocks xmlns:a="http://schemas.openxmlformats.org/drawingml/2006/main" noGrp="1"/>
          </p:cNvSpPr>
          <p:nvPr/>
        </p:nvSpPr>
        <p:spPr>
          <a:xfrm xmlns:a="http://schemas.openxmlformats.org/drawingml/2006/main">
            <a:off x="890587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3EBCD33B-9AC2-4C09-A219-2FD970D48DE3}"/>
              </a:ext>
            </a:extLst>
          </p:cNvPr>
          <p:cNvSpPr>
            <a:spLocks xmlns:a="http://schemas.openxmlformats.org/drawingml/2006/main" noGrp="1"/>
          </p:cNvSpPr>
          <p:nvPr/>
        </p:nvSpPr>
        <p:spPr>
          <a:xfrm xmlns:a="http://schemas.openxmlformats.org/drawingml/2006/main">
            <a:off x="902017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Resource</a:t>
            </a:r>
          </a:p>
        </p:txBody>
      </p:sp>
      <p:sp>
        <p:nvSpPr>
          <p:cNvPr id="20" name="">
            <a:extLst xmlns:a="http://schemas.openxmlformats.org/drawingml/2006/main">
              <a:ext uri="{FF2B5EF4-FFF2-40B4-BE49-F238E27FC236}">
                <a16:creationId xmlns:a16="http://schemas.microsoft.com/office/drawing/2014/main" id="{28CFA81D-860A-4895-B2A9-008CC37149F5}"/>
              </a:ext>
            </a:extLst>
          </p:cNvPr>
          <p:cNvSpPr>
            <a:spLocks xmlns:a="http://schemas.openxmlformats.org/drawingml/2006/main" noGrp="1"/>
          </p:cNvSpPr>
          <p:nvPr/>
        </p:nvSpPr>
        <p:spPr>
          <a:xfrm xmlns:a="http://schemas.openxmlformats.org/drawingml/2006/main">
            <a:off x="2381250" y="5657850"/>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D83B01"/>
                </a:solidFill>
                <a:latin typeface="Arial"/>
                <a:ea typeface="Arial"/>
                <a:cs typeface="Arial"/>
              </a:defRPr>
            </a:pPr>
            <a:r>
              <a:rPr sz="1650" b="1">
                <a:solidFill>
                  <a:srgbClr val="D83B01"/>
                </a:solidFill>
                <a:latin typeface="Arial"/>
                <a:ea typeface="Arial"/>
                <a:cs typeface="Arial"/>
              </a:rPr>
              <a:t>Least privilege: grant only the access needed for the task</a:t>
            </a:r>
          </a:p>
        </p:txBody>
      </p:sp>
    </p:spTree>
    <p:extLst>
      <p:ext uri="{BB962C8B-B14F-4D97-AF65-F5344CB8AC3E}">
        <p14:creationId xmlns:p14="http://schemas.microsoft.com/office/powerpoint/2010/main" val="5646682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7C9BF0C-C5B2-42E4-9F8C-3C84C9564FCB}"/>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App Service</a:t>
            </a:r>
          </a:p>
        </p:txBody>
      </p:sp>
      <p:sp>
        <p:nvSpPr>
          <p:cNvPr id="2" name="">
            <a:extLst xmlns:a="http://schemas.openxmlformats.org/drawingml/2006/main">
              <a:ext uri="{FF2B5EF4-FFF2-40B4-BE49-F238E27FC236}">
                <a16:creationId xmlns:a16="http://schemas.microsoft.com/office/drawing/2014/main" id="{14EDACE3-A08D-42DC-AE2F-751AA3AE1510}"/>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F0C061-709B-4E26-AD70-BAFB2F447D0F}"/>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 managed platform for websites and APIs</a:t>
            </a:r>
          </a:p>
        </p:txBody>
      </p:sp>
      <p:sp>
        <p:nvSpPr>
          <p:cNvPr id="4" name="">
            <a:extLst xmlns:a="http://schemas.openxmlformats.org/drawingml/2006/main">
              <a:ext uri="{FF2B5EF4-FFF2-40B4-BE49-F238E27FC236}">
                <a16:creationId xmlns:a16="http://schemas.microsoft.com/office/drawing/2014/main" id="{0A796C77-7E1F-4AEA-A5A4-77A51DACA847}"/>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E6FD66C1-8ED6-42DE-94C8-361C72487B1E}"/>
              </a:ext>
            </a:extLst>
          </p:cNvPr>
          <p:cNvSpPr>
            <a:spLocks xmlns:a="http://schemas.openxmlformats.org/drawingml/2006/main" noGrp="1"/>
          </p:cNvSpPr>
          <p:nvPr/>
        </p:nvSpPr>
        <p:spPr>
          <a:xfrm xmlns:a="http://schemas.openxmlformats.org/drawingml/2006/main">
            <a:off x="1143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17324D"/>
                </a:solidFill>
                <a:latin typeface="Arial"/>
                <a:ea typeface="Arial"/>
                <a:cs typeface="Arial"/>
              </a:defRPr>
            </a:pPr>
            <a:r>
              <a:rPr sz="2025" b="1">
                <a:solidFill>
                  <a:srgbClr val="17324D"/>
                </a:solidFill>
                <a:latin typeface="Arial"/>
                <a:ea typeface="Arial"/>
                <a:cs typeface="Arial"/>
              </a:rPr>
              <a:t>Virtual Machine</a:t>
            </a:r>
          </a:p>
        </p:txBody>
      </p:sp>
      <p:sp>
        <p:nvSpPr>
          <p:cNvPr id="6" name="">
            <a:extLst xmlns:a="http://schemas.openxmlformats.org/drawingml/2006/main">
              <a:ext uri="{FF2B5EF4-FFF2-40B4-BE49-F238E27FC236}">
                <a16:creationId xmlns:a16="http://schemas.microsoft.com/office/drawing/2014/main" id="{1F2CFF7E-DF70-47FC-8AF0-54738943A3AC}"/>
              </a:ext>
            </a:extLst>
          </p:cNvPr>
          <p:cNvSpPr>
            <a:spLocks xmlns:a="http://schemas.openxmlformats.org/drawingml/2006/main" noGrp="1"/>
          </p:cNvSpPr>
          <p:nvPr/>
        </p:nvSpPr>
        <p:spPr>
          <a:xfrm xmlns:a="http://schemas.openxmlformats.org/drawingml/2006/main">
            <a:off x="1143000" y="21431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7" name="">
            <a:extLst xmlns:a="http://schemas.openxmlformats.org/drawingml/2006/main">
              <a:ext uri="{FF2B5EF4-FFF2-40B4-BE49-F238E27FC236}">
                <a16:creationId xmlns:a16="http://schemas.microsoft.com/office/drawing/2014/main" id="{998F4510-82F3-467D-8F30-E5ACF86EE5D6}"/>
              </a:ext>
            </a:extLst>
          </p:cNvPr>
          <p:cNvSpPr>
            <a:spLocks xmlns:a="http://schemas.openxmlformats.org/drawingml/2006/main" noGrp="1"/>
          </p:cNvSpPr>
          <p:nvPr/>
        </p:nvSpPr>
        <p:spPr>
          <a:xfrm xmlns:a="http://schemas.openxmlformats.org/drawingml/2006/main">
            <a:off x="1381125" y="22669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Patch the operating system</a:t>
            </a:r>
          </a:p>
        </p:txBody>
      </p:sp>
      <p:sp>
        <p:nvSpPr>
          <p:cNvPr id="8" name="">
            <a:extLst xmlns:a="http://schemas.openxmlformats.org/drawingml/2006/main">
              <a:ext uri="{FF2B5EF4-FFF2-40B4-BE49-F238E27FC236}">
                <a16:creationId xmlns:a16="http://schemas.microsoft.com/office/drawing/2014/main" id="{DE827511-17A8-4DA0-9813-36C8867140E5}"/>
              </a:ext>
            </a:extLst>
          </p:cNvPr>
          <p:cNvSpPr>
            <a:spLocks xmlns:a="http://schemas.openxmlformats.org/drawingml/2006/main" noGrp="1"/>
          </p:cNvSpPr>
          <p:nvPr/>
        </p:nvSpPr>
        <p:spPr>
          <a:xfrm xmlns:a="http://schemas.openxmlformats.org/drawingml/2006/main">
            <a:off x="1143000" y="28289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9" name="">
            <a:extLst xmlns:a="http://schemas.openxmlformats.org/drawingml/2006/main">
              <a:ext uri="{FF2B5EF4-FFF2-40B4-BE49-F238E27FC236}">
                <a16:creationId xmlns:a16="http://schemas.microsoft.com/office/drawing/2014/main" id="{E0F9493D-609D-4630-B479-21B515DEC2AF}"/>
              </a:ext>
            </a:extLst>
          </p:cNvPr>
          <p:cNvSpPr>
            <a:spLocks xmlns:a="http://schemas.openxmlformats.org/drawingml/2006/main" noGrp="1"/>
          </p:cNvSpPr>
          <p:nvPr/>
        </p:nvSpPr>
        <p:spPr>
          <a:xfrm xmlns:a="http://schemas.openxmlformats.org/drawingml/2006/main">
            <a:off x="1381125" y="29527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Configure the web server</a:t>
            </a:r>
          </a:p>
        </p:txBody>
      </p:sp>
      <p:sp>
        <p:nvSpPr>
          <p:cNvPr id="10" name="">
            <a:extLst xmlns:a="http://schemas.openxmlformats.org/drawingml/2006/main">
              <a:ext uri="{FF2B5EF4-FFF2-40B4-BE49-F238E27FC236}">
                <a16:creationId xmlns:a16="http://schemas.microsoft.com/office/drawing/2014/main" id="{4EAB232E-F595-460E-8F95-22FF3BC97AD3}"/>
              </a:ext>
            </a:extLst>
          </p:cNvPr>
          <p:cNvSpPr>
            <a:spLocks xmlns:a="http://schemas.openxmlformats.org/drawingml/2006/main" noGrp="1"/>
          </p:cNvSpPr>
          <p:nvPr/>
        </p:nvSpPr>
        <p:spPr>
          <a:xfrm xmlns:a="http://schemas.openxmlformats.org/drawingml/2006/main">
            <a:off x="1143000" y="35147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78D4"/>
            </a:solidFill>
          </a:ln>
        </p:spPr>
      </p:sp>
      <p:sp>
        <p:nvSpPr>
          <p:cNvPr id="11" name="">
            <a:extLst xmlns:a="http://schemas.openxmlformats.org/drawingml/2006/main">
              <a:ext uri="{FF2B5EF4-FFF2-40B4-BE49-F238E27FC236}">
                <a16:creationId xmlns:a16="http://schemas.microsoft.com/office/drawing/2014/main" id="{4748476B-B83F-4CFE-9F60-0CE33D62DF86}"/>
              </a:ext>
            </a:extLst>
          </p:cNvPr>
          <p:cNvSpPr>
            <a:spLocks xmlns:a="http://schemas.openxmlformats.org/drawingml/2006/main" noGrp="1"/>
          </p:cNvSpPr>
          <p:nvPr/>
        </p:nvSpPr>
        <p:spPr>
          <a:xfrm xmlns:a="http://schemas.openxmlformats.org/drawingml/2006/main">
            <a:off x="1381125" y="36385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Deploy application files</a:t>
            </a:r>
          </a:p>
        </p:txBody>
      </p:sp>
      <p:sp>
        <p:nvSpPr>
          <p:cNvPr id="12" name="">
            <a:extLst xmlns:a="http://schemas.openxmlformats.org/drawingml/2006/main">
              <a:ext uri="{FF2B5EF4-FFF2-40B4-BE49-F238E27FC236}">
                <a16:creationId xmlns:a16="http://schemas.microsoft.com/office/drawing/2014/main" id="{E771BA80-642A-4363-A5F7-23F4CB88567F}"/>
              </a:ext>
            </a:extLst>
          </p:cNvPr>
          <p:cNvSpPr>
            <a:spLocks xmlns:a="http://schemas.openxmlformats.org/drawingml/2006/main" noGrp="1"/>
          </p:cNvSpPr>
          <p:nvPr/>
        </p:nvSpPr>
        <p:spPr>
          <a:xfrm xmlns:a="http://schemas.openxmlformats.org/drawingml/2006/main">
            <a:off x="1143000" y="42005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A4EF"/>
            </a:solidFill>
          </a:ln>
        </p:spPr>
      </p:sp>
      <p:sp>
        <p:nvSpPr>
          <p:cNvPr id="13" name="">
            <a:extLst xmlns:a="http://schemas.openxmlformats.org/drawingml/2006/main">
              <a:ext uri="{FF2B5EF4-FFF2-40B4-BE49-F238E27FC236}">
                <a16:creationId xmlns:a16="http://schemas.microsoft.com/office/drawing/2014/main" id="{E15E299D-A0EB-4C85-90A0-D364FD6AB27A}"/>
              </a:ext>
            </a:extLst>
          </p:cNvPr>
          <p:cNvSpPr>
            <a:spLocks xmlns:a="http://schemas.openxmlformats.org/drawingml/2006/main" noGrp="1"/>
          </p:cNvSpPr>
          <p:nvPr/>
        </p:nvSpPr>
        <p:spPr>
          <a:xfrm xmlns:a="http://schemas.openxmlformats.org/drawingml/2006/main">
            <a:off x="1381125" y="43243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Monitor and scale</a:t>
            </a:r>
          </a:p>
        </p:txBody>
      </p:sp>
      <p:sp>
        <p:nvSpPr>
          <p:cNvPr id="14" name="">
            <a:extLst xmlns:a="http://schemas.openxmlformats.org/drawingml/2006/main">
              <a:ext uri="{FF2B5EF4-FFF2-40B4-BE49-F238E27FC236}">
                <a16:creationId xmlns:a16="http://schemas.microsoft.com/office/drawing/2014/main" id="{425D70CE-3159-4562-B0CE-A5462AE4156D}"/>
              </a:ext>
            </a:extLst>
          </p:cNvPr>
          <p:cNvSpPr>
            <a:spLocks xmlns:a="http://schemas.openxmlformats.org/drawingml/2006/main" noGrp="1"/>
          </p:cNvSpPr>
          <p:nvPr/>
        </p:nvSpPr>
        <p:spPr>
          <a:xfrm xmlns:a="http://schemas.openxmlformats.org/drawingml/2006/main">
            <a:off x="7239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0078D4"/>
                </a:solidFill>
                <a:latin typeface="Arial"/>
                <a:ea typeface="Arial"/>
                <a:cs typeface="Arial"/>
              </a:defRPr>
            </a:pPr>
            <a:r>
              <a:rPr sz="2025" b="1">
                <a:solidFill>
                  <a:srgbClr val="0078D4"/>
                </a:solidFill>
                <a:latin typeface="Arial"/>
                <a:ea typeface="Arial"/>
                <a:cs typeface="Arial"/>
              </a:rPr>
              <a:t>App Service</a:t>
            </a:r>
          </a:p>
        </p:txBody>
      </p:sp>
      <p:sp>
        <p:nvSpPr>
          <p:cNvPr id="15" name="">
            <a:extLst xmlns:a="http://schemas.openxmlformats.org/drawingml/2006/main">
              <a:ext uri="{FF2B5EF4-FFF2-40B4-BE49-F238E27FC236}">
                <a16:creationId xmlns:a16="http://schemas.microsoft.com/office/drawing/2014/main" id="{5AF827CB-6224-47D3-BED6-FA860B56AC7A}"/>
              </a:ext>
            </a:extLst>
          </p:cNvPr>
          <p:cNvSpPr>
            <a:spLocks xmlns:a="http://schemas.openxmlformats.org/drawingml/2006/main" noGrp="1"/>
          </p:cNvSpPr>
          <p:nvPr/>
        </p:nvSpPr>
        <p:spPr>
          <a:xfrm xmlns:a="http://schemas.openxmlformats.org/drawingml/2006/main">
            <a:off x="7239000" y="2428875"/>
            <a:ext cx="3905250" cy="781050"/>
          </a:xfrm>
          <a:prstGeom xmlns:a="http://schemas.openxmlformats.org/drawingml/2006/main" prst="roundRect">
            <a:avLst>
              <a:gd name="adj" fmla="val 9756"/>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2CD2A148-1648-4437-B397-7B6E3A9DDD2D}"/>
              </a:ext>
            </a:extLst>
          </p:cNvPr>
          <p:cNvSpPr>
            <a:spLocks xmlns:a="http://schemas.openxmlformats.org/drawingml/2006/main" noGrp="1"/>
          </p:cNvSpPr>
          <p:nvPr/>
        </p:nvSpPr>
        <p:spPr>
          <a:xfrm xmlns:a="http://schemas.openxmlformats.org/drawingml/2006/main">
            <a:off x="7524750" y="26479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93"/>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Microsoft manages the platform</a:t>
            </a:r>
          </a:p>
        </p:txBody>
      </p:sp>
      <p:sp>
        <p:nvSpPr>
          <p:cNvPr id="17" name="">
            <a:extLst xmlns:a="http://schemas.openxmlformats.org/drawingml/2006/main">
              <a:ext uri="{FF2B5EF4-FFF2-40B4-BE49-F238E27FC236}">
                <a16:creationId xmlns:a16="http://schemas.microsoft.com/office/drawing/2014/main" id="{DF9C3E70-12C3-4BF7-8ACA-92259967BFE6}"/>
              </a:ext>
            </a:extLst>
          </p:cNvPr>
          <p:cNvSpPr>
            <a:spLocks xmlns:a="http://schemas.openxmlformats.org/drawingml/2006/main" noGrp="1"/>
          </p:cNvSpPr>
          <p:nvPr/>
        </p:nvSpPr>
        <p:spPr>
          <a:xfrm xmlns:a="http://schemas.openxmlformats.org/drawingml/2006/main">
            <a:off x="7239000" y="3524250"/>
            <a:ext cx="3905250" cy="781050"/>
          </a:xfrm>
          <a:prstGeom xmlns:a="http://schemas.openxmlformats.org/drawingml/2006/main" prst="roundRect">
            <a:avLst>
              <a:gd name="adj" fmla="val 9756"/>
            </a:avLst>
          </a:prstGeom>
          <a:solidFill xmlns:a="http://schemas.openxmlformats.org/drawingml/2006/main">
            <a:srgbClr val="EAF5FC"/>
          </a:solidFill>
          <a:ln xmlns:a="http://schemas.openxmlformats.org/drawingml/2006/main" w="19050">
            <a:solidFill>
              <a:srgbClr val="0078D4"/>
            </a:solidFill>
          </a:ln>
        </p:spPr>
      </p:sp>
      <p:sp>
        <p:nvSpPr>
          <p:cNvPr id="18" name="">
            <a:extLst xmlns:a="http://schemas.openxmlformats.org/drawingml/2006/main">
              <a:ext uri="{FF2B5EF4-FFF2-40B4-BE49-F238E27FC236}">
                <a16:creationId xmlns:a16="http://schemas.microsoft.com/office/drawing/2014/main" id="{F5555165-DDB3-43C2-A30A-F9F8DE7A8195}"/>
              </a:ext>
            </a:extLst>
          </p:cNvPr>
          <p:cNvSpPr>
            <a:spLocks xmlns:a="http://schemas.openxmlformats.org/drawingml/2006/main" noGrp="1"/>
          </p:cNvSpPr>
          <p:nvPr/>
        </p:nvSpPr>
        <p:spPr>
          <a:xfrm xmlns:a="http://schemas.openxmlformats.org/drawingml/2006/main">
            <a:off x="752475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You deploy the application</a:t>
            </a:r>
          </a:p>
        </p:txBody>
      </p:sp>
      <p:sp>
        <p:nvSpPr>
          <p:cNvPr id="19" name="">
            <a:extLst xmlns:a="http://schemas.openxmlformats.org/drawingml/2006/main">
              <a:ext uri="{FF2B5EF4-FFF2-40B4-BE49-F238E27FC236}">
                <a16:creationId xmlns:a16="http://schemas.microsoft.com/office/drawing/2014/main" id="{FEC4A0B0-92A2-45D3-8702-B3DC224FBEA7}"/>
              </a:ext>
            </a:extLst>
          </p:cNvPr>
          <p:cNvSpPr>
            <a:spLocks xmlns:a="http://schemas.openxmlformats.org/drawingml/2006/main" noGrp="1"/>
          </p:cNvSpPr>
          <p:nvPr/>
        </p:nvSpPr>
        <p:spPr>
          <a:xfrm xmlns:a="http://schemas.openxmlformats.org/drawingml/2006/main">
            <a:off x="4762500" y="5429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0078D4"/>
                </a:solidFill>
                <a:latin typeface="Arial"/>
                <a:ea typeface="Arial"/>
                <a:cs typeface="Arial"/>
              </a:defRPr>
            </a:pPr>
            <a:r>
              <a:rPr sz="1500" b="1">
                <a:solidFill>
                  <a:srgbClr val="0078D4"/>
                </a:solidFill>
                <a:latin typeface="Arial"/>
                <a:ea typeface="Arial"/>
                <a:cs typeface="Arial"/>
              </a:rPr>
              <a:t>Lab deployment</a:t>
            </a:r>
          </a:p>
        </p:txBody>
      </p:sp>
      <p:sp>
        <p:nvSpPr>
          <p:cNvPr id="20" name="">
            <a:extLst xmlns:a="http://schemas.openxmlformats.org/drawingml/2006/main">
              <a:ext uri="{FF2B5EF4-FFF2-40B4-BE49-F238E27FC236}">
                <a16:creationId xmlns:a16="http://schemas.microsoft.com/office/drawing/2014/main" id="{EC30664D-FA67-4C66-B3B6-50D2CBDA8B53}"/>
              </a:ext>
            </a:extLst>
          </p:cNvPr>
          <p:cNvSpPr>
            <a:spLocks xmlns:a="http://schemas.openxmlformats.org/drawingml/2006/main" noGrp="1"/>
          </p:cNvSpPr>
          <p:nvPr/>
        </p:nvSpPr>
        <p:spPr>
          <a:xfrm xmlns:a="http://schemas.openxmlformats.org/drawingml/2006/main">
            <a:off x="4048125" y="57912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index.html in a ZIP package</a:t>
            </a:r>
          </a:p>
        </p:txBody>
      </p:sp>
    </p:spTree>
    <p:extLst>
      <p:ext uri="{BB962C8B-B14F-4D97-AF65-F5344CB8AC3E}">
        <p14:creationId xmlns:p14="http://schemas.microsoft.com/office/powerpoint/2010/main" val="3577466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23C5CF0-CC23-4F3A-A3D2-33F7CAD37EFC}"/>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Monitoring</a:t>
            </a:r>
          </a:p>
        </p:txBody>
      </p:sp>
      <p:sp>
        <p:nvSpPr>
          <p:cNvPr id="2" name="">
            <a:extLst xmlns:a="http://schemas.openxmlformats.org/drawingml/2006/main">
              <a:ext uri="{FF2B5EF4-FFF2-40B4-BE49-F238E27FC236}">
                <a16:creationId xmlns:a16="http://schemas.microsoft.com/office/drawing/2014/main" id="{CAFEE4A7-71B5-4A56-A412-096ABBA75F93}"/>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85C71D-19D0-4C20-AA31-81E105DF4428}"/>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Azure records health, performance, and changes</a:t>
            </a:r>
          </a:p>
        </p:txBody>
      </p:sp>
      <p:sp>
        <p:nvSpPr>
          <p:cNvPr id="4" name="">
            <a:extLst xmlns:a="http://schemas.openxmlformats.org/drawingml/2006/main">
              <a:ext uri="{FF2B5EF4-FFF2-40B4-BE49-F238E27FC236}">
                <a16:creationId xmlns:a16="http://schemas.microsoft.com/office/drawing/2014/main" id="{BDC2FA16-C18E-42E8-A76C-9FFF4388F85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213DB7CF-7EFC-4B9F-93C8-5048C2B35C55}"/>
              </a:ext>
            </a:extLst>
          </p:cNvPr>
          <p:cNvSpPr>
            <a:spLocks xmlns:a="http://schemas.openxmlformats.org/drawingml/2006/main" noGrp="1"/>
          </p:cNvSpPr>
          <p:nvPr/>
        </p:nvSpPr>
        <p:spPr>
          <a:xfrm xmlns:a="http://schemas.openxmlformats.org/drawingml/2006/main">
            <a:off x="1428750" y="1809750"/>
            <a:ext cx="800100" cy="8001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B2419A4-49E7-44B0-8738-5D117746D886}"/>
              </a:ext>
            </a:extLst>
          </p:cNvPr>
          <p:cNvSpPr>
            <a:spLocks xmlns:a="http://schemas.openxmlformats.org/drawingml/2006/main" noGrp="1"/>
          </p:cNvSpPr>
          <p:nvPr/>
        </p:nvSpPr>
        <p:spPr>
          <a:xfrm xmlns:a="http://schemas.openxmlformats.org/drawingml/2006/main">
            <a:off x="6667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Metrics</a:t>
            </a:r>
          </a:p>
        </p:txBody>
      </p:sp>
      <p:sp>
        <p:nvSpPr>
          <p:cNvPr id="7" name="">
            <a:extLst xmlns:a="http://schemas.openxmlformats.org/drawingml/2006/main">
              <a:ext uri="{FF2B5EF4-FFF2-40B4-BE49-F238E27FC236}">
                <a16:creationId xmlns:a16="http://schemas.microsoft.com/office/drawing/2014/main" id="{B2DC133C-7C94-4AD2-9222-21FFB4BFB74B}"/>
              </a:ext>
            </a:extLst>
          </p:cNvPr>
          <p:cNvSpPr>
            <a:spLocks xmlns:a="http://schemas.openxmlformats.org/drawingml/2006/main" noGrp="1"/>
          </p:cNvSpPr>
          <p:nvPr/>
        </p:nvSpPr>
        <p:spPr>
          <a:xfrm xmlns:a="http://schemas.openxmlformats.org/drawingml/2006/main">
            <a:off x="6667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Numbers over time</a:t>
            </a:r>
          </a:p>
        </p:txBody>
      </p:sp>
      <p:sp>
        <p:nvSpPr>
          <p:cNvPr id="8" name="">
            <a:extLst xmlns:a="http://schemas.openxmlformats.org/drawingml/2006/main">
              <a:ext uri="{FF2B5EF4-FFF2-40B4-BE49-F238E27FC236}">
                <a16:creationId xmlns:a16="http://schemas.microsoft.com/office/drawing/2014/main" id="{613C5CB7-7336-4F9E-8A09-1828E0023CB5}"/>
              </a:ext>
            </a:extLst>
          </p:cNvPr>
          <p:cNvSpPr>
            <a:spLocks xmlns:a="http://schemas.openxmlformats.org/drawingml/2006/main" noGrp="1"/>
          </p:cNvSpPr>
          <p:nvPr/>
        </p:nvSpPr>
        <p:spPr>
          <a:xfrm xmlns:a="http://schemas.openxmlformats.org/drawingml/2006/main">
            <a:off x="4305300" y="1809750"/>
            <a:ext cx="800100" cy="8001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E31DA06A-1F34-40FA-8869-E2F4BFCDE355}"/>
              </a:ext>
            </a:extLst>
          </p:cNvPr>
          <p:cNvSpPr>
            <a:spLocks xmlns:a="http://schemas.openxmlformats.org/drawingml/2006/main" noGrp="1"/>
          </p:cNvSpPr>
          <p:nvPr/>
        </p:nvSpPr>
        <p:spPr>
          <a:xfrm xmlns:a="http://schemas.openxmlformats.org/drawingml/2006/main">
            <a:off x="35433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Logs</a:t>
            </a:r>
          </a:p>
        </p:txBody>
      </p:sp>
      <p:sp>
        <p:nvSpPr>
          <p:cNvPr id="10" name="">
            <a:extLst xmlns:a="http://schemas.openxmlformats.org/drawingml/2006/main">
              <a:ext uri="{FF2B5EF4-FFF2-40B4-BE49-F238E27FC236}">
                <a16:creationId xmlns:a16="http://schemas.microsoft.com/office/drawing/2014/main" id="{50B08E6A-13A6-4B46-B07C-06D782FBDA8A}"/>
              </a:ext>
            </a:extLst>
          </p:cNvPr>
          <p:cNvSpPr>
            <a:spLocks xmlns:a="http://schemas.openxmlformats.org/drawingml/2006/main" noGrp="1"/>
          </p:cNvSpPr>
          <p:nvPr/>
        </p:nvSpPr>
        <p:spPr>
          <a:xfrm xmlns:a="http://schemas.openxmlformats.org/drawingml/2006/main">
            <a:off x="35433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Detailed records</a:t>
            </a:r>
          </a:p>
        </p:txBody>
      </p:sp>
      <p:sp>
        <p:nvSpPr>
          <p:cNvPr id="11" name="">
            <a:extLst xmlns:a="http://schemas.openxmlformats.org/drawingml/2006/main">
              <a:ext uri="{FF2B5EF4-FFF2-40B4-BE49-F238E27FC236}">
                <a16:creationId xmlns:a16="http://schemas.microsoft.com/office/drawing/2014/main" id="{C84D8B10-74D8-479E-8AF4-1BFD71000CDF}"/>
              </a:ext>
            </a:extLst>
          </p:cNvPr>
          <p:cNvSpPr>
            <a:spLocks xmlns:a="http://schemas.openxmlformats.org/drawingml/2006/main" noGrp="1"/>
          </p:cNvSpPr>
          <p:nvPr/>
        </p:nvSpPr>
        <p:spPr>
          <a:xfrm xmlns:a="http://schemas.openxmlformats.org/drawingml/2006/main">
            <a:off x="7181850" y="1809750"/>
            <a:ext cx="800100" cy="8001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5659349-4168-4F6A-B6CD-3F3BBEC27657}"/>
              </a:ext>
            </a:extLst>
          </p:cNvPr>
          <p:cNvSpPr>
            <a:spLocks xmlns:a="http://schemas.openxmlformats.org/drawingml/2006/main" noGrp="1"/>
          </p:cNvSpPr>
          <p:nvPr/>
        </p:nvSpPr>
        <p:spPr>
          <a:xfrm xmlns:a="http://schemas.openxmlformats.org/drawingml/2006/main">
            <a:off x="64198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Alerts</a:t>
            </a:r>
          </a:p>
        </p:txBody>
      </p:sp>
      <p:sp>
        <p:nvSpPr>
          <p:cNvPr id="13" name="">
            <a:extLst xmlns:a="http://schemas.openxmlformats.org/drawingml/2006/main">
              <a:ext uri="{FF2B5EF4-FFF2-40B4-BE49-F238E27FC236}">
                <a16:creationId xmlns:a16="http://schemas.microsoft.com/office/drawing/2014/main" id="{03BC8128-D1B4-4663-BD1D-59EF8416884A}"/>
              </a:ext>
            </a:extLst>
          </p:cNvPr>
          <p:cNvSpPr>
            <a:spLocks xmlns:a="http://schemas.openxmlformats.org/drawingml/2006/main" noGrp="1"/>
          </p:cNvSpPr>
          <p:nvPr/>
        </p:nvSpPr>
        <p:spPr>
          <a:xfrm xmlns:a="http://schemas.openxmlformats.org/drawingml/2006/main">
            <a:off x="64198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Notification after a condition</a:t>
            </a:r>
          </a:p>
        </p:txBody>
      </p:sp>
      <p:sp>
        <p:nvSpPr>
          <p:cNvPr id="14" name="">
            <a:extLst xmlns:a="http://schemas.openxmlformats.org/drawingml/2006/main">
              <a:ext uri="{FF2B5EF4-FFF2-40B4-BE49-F238E27FC236}">
                <a16:creationId xmlns:a16="http://schemas.microsoft.com/office/drawing/2014/main" id="{435840A1-3579-453A-9905-B78F6B267756}"/>
              </a:ext>
            </a:extLst>
          </p:cNvPr>
          <p:cNvSpPr>
            <a:spLocks xmlns:a="http://schemas.openxmlformats.org/drawingml/2006/main" noGrp="1"/>
          </p:cNvSpPr>
          <p:nvPr/>
        </p:nvSpPr>
        <p:spPr>
          <a:xfrm xmlns:a="http://schemas.openxmlformats.org/drawingml/2006/main">
            <a:off x="10058400" y="1809750"/>
            <a:ext cx="800100" cy="8001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F082334B-82D4-4977-B053-4B4F800C1340}"/>
              </a:ext>
            </a:extLst>
          </p:cNvPr>
          <p:cNvSpPr>
            <a:spLocks xmlns:a="http://schemas.openxmlformats.org/drawingml/2006/main" noGrp="1"/>
          </p:cNvSpPr>
          <p:nvPr/>
        </p:nvSpPr>
        <p:spPr>
          <a:xfrm xmlns:a="http://schemas.openxmlformats.org/drawingml/2006/main">
            <a:off x="92964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Activity Log</a:t>
            </a:r>
          </a:p>
        </p:txBody>
      </p:sp>
      <p:sp>
        <p:nvSpPr>
          <p:cNvPr id="16" name="">
            <a:extLst xmlns:a="http://schemas.openxmlformats.org/drawingml/2006/main">
              <a:ext uri="{FF2B5EF4-FFF2-40B4-BE49-F238E27FC236}">
                <a16:creationId xmlns:a16="http://schemas.microsoft.com/office/drawing/2014/main" id="{404D633D-ADE9-4C9F-9923-689242CA0404}"/>
              </a:ext>
            </a:extLst>
          </p:cNvPr>
          <p:cNvSpPr>
            <a:spLocks xmlns:a="http://schemas.openxmlformats.org/drawingml/2006/main" noGrp="1"/>
          </p:cNvSpPr>
          <p:nvPr/>
        </p:nvSpPr>
        <p:spPr>
          <a:xfrm xmlns:a="http://schemas.openxmlformats.org/drawingml/2006/main">
            <a:off x="92964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Who changed a resource</a:t>
            </a:r>
          </a:p>
        </p:txBody>
      </p:sp>
      <p:sp>
        <p:nvSpPr>
          <p:cNvPr id="17" name="">
            <a:extLst xmlns:a="http://schemas.openxmlformats.org/drawingml/2006/main">
              <a:ext uri="{FF2B5EF4-FFF2-40B4-BE49-F238E27FC236}">
                <a16:creationId xmlns:a16="http://schemas.microsoft.com/office/drawing/2014/main" id="{26384A33-1FF1-44DC-9CB9-D4E688334374}"/>
              </a:ext>
            </a:extLst>
          </p:cNvPr>
          <p:cNvSpPr>
            <a:spLocks xmlns:a="http://schemas.openxmlformats.org/drawingml/2006/main" noGrp="1"/>
          </p:cNvSpPr>
          <p:nvPr/>
        </p:nvSpPr>
        <p:spPr>
          <a:xfrm xmlns:a="http://schemas.openxmlformats.org/drawingml/2006/main">
            <a:off x="2238375" y="4619625"/>
            <a:ext cx="7715250" cy="876300"/>
          </a:xfrm>
          <a:prstGeom xmlns:a="http://schemas.openxmlformats.org/drawingml/2006/main" prst="roundRect">
            <a:avLst>
              <a:gd name="adj" fmla="val 8696"/>
            </a:avLst>
          </a:prstGeom>
          <a:solidFill xmlns:a="http://schemas.openxmlformats.org/drawingml/2006/main">
            <a:srgbClr val="F5F8FB"/>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B5C66437-861B-49DC-8FF6-D0D4FCDC0B64}"/>
              </a:ext>
            </a:extLst>
          </p:cNvPr>
          <p:cNvSpPr>
            <a:spLocks xmlns:a="http://schemas.openxmlformats.org/drawingml/2006/main" noGrp="1"/>
          </p:cNvSpPr>
          <p:nvPr/>
        </p:nvSpPr>
        <p:spPr>
          <a:xfrm xmlns:a="http://schemas.openxmlformats.org/drawingml/2006/main">
            <a:off x="2571750" y="48577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Lab task</a:t>
            </a:r>
          </a:p>
        </p:txBody>
      </p:sp>
      <p:sp>
        <p:nvSpPr>
          <p:cNvPr id="19" name="">
            <a:extLst xmlns:a="http://schemas.openxmlformats.org/drawingml/2006/main">
              <a:ext uri="{FF2B5EF4-FFF2-40B4-BE49-F238E27FC236}">
                <a16:creationId xmlns:a16="http://schemas.microsoft.com/office/drawing/2014/main" id="{4804565C-9340-4919-85BF-63D695AE79C9}"/>
              </a:ext>
            </a:extLst>
          </p:cNvPr>
          <p:cNvSpPr>
            <a:spLocks xmlns:a="http://schemas.openxmlformats.org/drawingml/2006/main" noGrp="1"/>
          </p:cNvSpPr>
          <p:nvPr/>
        </p:nvSpPr>
        <p:spPr>
          <a:xfrm xmlns:a="http://schemas.openxmlformats.org/drawingml/2006/main">
            <a:off x="3905250" y="4791075"/>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27"/>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Find a successful resource creation event in the Resource Group Activity Log</a:t>
            </a:r>
          </a:p>
        </p:txBody>
      </p:sp>
    </p:spTree>
    <p:extLst>
      <p:ext uri="{BB962C8B-B14F-4D97-AF65-F5344CB8AC3E}">
        <p14:creationId xmlns:p14="http://schemas.microsoft.com/office/powerpoint/2010/main" val="10841945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C050E7-B4D0-4BF0-9BFD-73CCBDC06384}"/>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Cost management</a:t>
            </a:r>
          </a:p>
        </p:txBody>
      </p:sp>
      <p:sp>
        <p:nvSpPr>
          <p:cNvPr id="2" name="">
            <a:extLst xmlns:a="http://schemas.openxmlformats.org/drawingml/2006/main">
              <a:ext uri="{FF2B5EF4-FFF2-40B4-BE49-F238E27FC236}">
                <a16:creationId xmlns:a16="http://schemas.microsoft.com/office/drawing/2014/main" id="{7099AD68-B2DE-4C94-A305-021258159138}"/>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5C647B-A2F3-41E3-9386-AA78D894A3E8}"/>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Every resource has a lifecycle and a cost consequence</a:t>
            </a:r>
          </a:p>
        </p:txBody>
      </p:sp>
      <p:sp>
        <p:nvSpPr>
          <p:cNvPr id="4" name="">
            <a:extLst xmlns:a="http://schemas.openxmlformats.org/drawingml/2006/main">
              <a:ext uri="{FF2B5EF4-FFF2-40B4-BE49-F238E27FC236}">
                <a16:creationId xmlns:a16="http://schemas.microsoft.com/office/drawing/2014/main" id="{20D1B2FB-4B3C-4CF3-93B5-63CA70A9CE5B}"/>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629C2565-9019-442E-84EA-EE6A03CCBB3F}"/>
              </a:ext>
            </a:extLst>
          </p:cNvPr>
          <p:cNvSpPr>
            <a:spLocks xmlns:a="http://schemas.openxmlformats.org/drawingml/2006/main" noGrp="1"/>
          </p:cNvSpPr>
          <p:nvPr/>
        </p:nvSpPr>
        <p:spPr>
          <a:xfrm xmlns:a="http://schemas.openxmlformats.org/drawingml/2006/main">
            <a:off x="714375" y="1952625"/>
            <a:ext cx="742950" cy="7429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83591D3-4A36-4C22-8EB3-C5777A21D8F1}"/>
              </a:ext>
            </a:extLst>
          </p:cNvPr>
          <p:cNvSpPr>
            <a:spLocks xmlns:a="http://schemas.openxmlformats.org/drawingml/2006/main" noGrp="1"/>
          </p:cNvSpPr>
          <p:nvPr/>
        </p:nvSpPr>
        <p:spPr>
          <a:xfrm xmlns:a="http://schemas.openxmlformats.org/drawingml/2006/main">
            <a:off x="381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Estimate</a:t>
            </a:r>
          </a:p>
        </p:txBody>
      </p:sp>
      <p:sp>
        <p:nvSpPr>
          <p:cNvPr id="7" name="">
            <a:extLst xmlns:a="http://schemas.openxmlformats.org/drawingml/2006/main">
              <a:ext uri="{FF2B5EF4-FFF2-40B4-BE49-F238E27FC236}">
                <a16:creationId xmlns:a16="http://schemas.microsoft.com/office/drawing/2014/main" id="{E3A76864-290A-47EC-AABC-0A1467070A4A}"/>
              </a:ext>
            </a:extLst>
          </p:cNvPr>
          <p:cNvSpPr>
            <a:spLocks xmlns:a="http://schemas.openxmlformats.org/drawingml/2006/main" noGrp="1"/>
          </p:cNvSpPr>
          <p:nvPr/>
        </p:nvSpPr>
        <p:spPr>
          <a:xfrm xmlns:a="http://schemas.openxmlformats.org/drawingml/2006/main">
            <a:off x="190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Pricing calculator</a:t>
            </a:r>
          </a:p>
        </p:txBody>
      </p:sp>
      <p:sp>
        <p:nvSpPr>
          <p:cNvPr id="8" name="">
            <a:extLst xmlns:a="http://schemas.openxmlformats.org/drawingml/2006/main">
              <a:ext uri="{FF2B5EF4-FFF2-40B4-BE49-F238E27FC236}">
                <a16:creationId xmlns:a16="http://schemas.microsoft.com/office/drawing/2014/main" id="{9A86FC09-302A-4BF7-BD5A-36A94DCFDB5D}"/>
              </a:ext>
            </a:extLst>
          </p:cNvPr>
          <p:cNvSpPr>
            <a:spLocks xmlns:a="http://schemas.openxmlformats.org/drawingml/2006/main" noGrp="1"/>
          </p:cNvSpPr>
          <p:nvPr/>
        </p:nvSpPr>
        <p:spPr>
          <a:xfrm xmlns:a="http://schemas.openxmlformats.org/drawingml/2006/main">
            <a:off x="1457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EDF721-3938-487A-B4A8-F6610339030B}"/>
              </a:ext>
            </a:extLst>
          </p:cNvPr>
          <p:cNvSpPr>
            <a:spLocks xmlns:a="http://schemas.openxmlformats.org/drawingml/2006/main" noGrp="1"/>
          </p:cNvSpPr>
          <p:nvPr/>
        </p:nvSpPr>
        <p:spPr>
          <a:xfrm xmlns:a="http://schemas.openxmlformats.org/drawingml/2006/main">
            <a:off x="3571875" y="1952625"/>
            <a:ext cx="742950" cy="7429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120DBFE7-D5CA-4D35-9E2C-68F2EAB754C8}"/>
              </a:ext>
            </a:extLst>
          </p:cNvPr>
          <p:cNvSpPr>
            <a:spLocks xmlns:a="http://schemas.openxmlformats.org/drawingml/2006/main" noGrp="1"/>
          </p:cNvSpPr>
          <p:nvPr/>
        </p:nvSpPr>
        <p:spPr>
          <a:xfrm xmlns:a="http://schemas.openxmlformats.org/drawingml/2006/main">
            <a:off x="3238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Observe</a:t>
            </a:r>
          </a:p>
        </p:txBody>
      </p:sp>
      <p:sp>
        <p:nvSpPr>
          <p:cNvPr id="11" name="">
            <a:extLst xmlns:a="http://schemas.openxmlformats.org/drawingml/2006/main">
              <a:ext uri="{FF2B5EF4-FFF2-40B4-BE49-F238E27FC236}">
                <a16:creationId xmlns:a16="http://schemas.microsoft.com/office/drawing/2014/main" id="{096422CB-5A96-4F00-B4E2-864F39FAC2CB}"/>
              </a:ext>
            </a:extLst>
          </p:cNvPr>
          <p:cNvSpPr>
            <a:spLocks xmlns:a="http://schemas.openxmlformats.org/drawingml/2006/main" noGrp="1"/>
          </p:cNvSpPr>
          <p:nvPr/>
        </p:nvSpPr>
        <p:spPr>
          <a:xfrm xmlns:a="http://schemas.openxmlformats.org/drawingml/2006/main">
            <a:off x="3048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Cost analysis</a:t>
            </a:r>
          </a:p>
        </p:txBody>
      </p:sp>
      <p:sp>
        <p:nvSpPr>
          <p:cNvPr id="12" name="">
            <a:extLst xmlns:a="http://schemas.openxmlformats.org/drawingml/2006/main">
              <a:ext uri="{FF2B5EF4-FFF2-40B4-BE49-F238E27FC236}">
                <a16:creationId xmlns:a16="http://schemas.microsoft.com/office/drawing/2014/main" id="{31923C61-9B8E-41E3-9408-EF4B026AE97C}"/>
              </a:ext>
            </a:extLst>
          </p:cNvPr>
          <p:cNvSpPr>
            <a:spLocks xmlns:a="http://schemas.openxmlformats.org/drawingml/2006/main" noGrp="1"/>
          </p:cNvSpPr>
          <p:nvPr/>
        </p:nvSpPr>
        <p:spPr>
          <a:xfrm xmlns:a="http://schemas.openxmlformats.org/drawingml/2006/main">
            <a:off x="43148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F96E8D-4931-44AD-9256-CD25B773E1D7}"/>
              </a:ext>
            </a:extLst>
          </p:cNvPr>
          <p:cNvSpPr>
            <a:spLocks xmlns:a="http://schemas.openxmlformats.org/drawingml/2006/main" noGrp="1"/>
          </p:cNvSpPr>
          <p:nvPr/>
        </p:nvSpPr>
        <p:spPr>
          <a:xfrm xmlns:a="http://schemas.openxmlformats.org/drawingml/2006/main">
            <a:off x="6429375" y="1952625"/>
            <a:ext cx="742950" cy="7429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C64CC438-82AC-47C4-AF0C-975E71BB567D}"/>
              </a:ext>
            </a:extLst>
          </p:cNvPr>
          <p:cNvSpPr>
            <a:spLocks xmlns:a="http://schemas.openxmlformats.org/drawingml/2006/main" noGrp="1"/>
          </p:cNvSpPr>
          <p:nvPr/>
        </p:nvSpPr>
        <p:spPr>
          <a:xfrm xmlns:a="http://schemas.openxmlformats.org/drawingml/2006/main">
            <a:off x="6096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Control</a:t>
            </a:r>
          </a:p>
        </p:txBody>
      </p:sp>
      <p:sp>
        <p:nvSpPr>
          <p:cNvPr id="15" name="">
            <a:extLst xmlns:a="http://schemas.openxmlformats.org/drawingml/2006/main">
              <a:ext uri="{FF2B5EF4-FFF2-40B4-BE49-F238E27FC236}">
                <a16:creationId xmlns:a16="http://schemas.microsoft.com/office/drawing/2014/main" id="{19E80E81-291B-457B-8601-A5709DA36154}"/>
              </a:ext>
            </a:extLst>
          </p:cNvPr>
          <p:cNvSpPr>
            <a:spLocks xmlns:a="http://schemas.openxmlformats.org/drawingml/2006/main" noGrp="1"/>
          </p:cNvSpPr>
          <p:nvPr/>
        </p:nvSpPr>
        <p:spPr>
          <a:xfrm xmlns:a="http://schemas.openxmlformats.org/drawingml/2006/main">
            <a:off x="5905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Budgets and alerts</a:t>
            </a:r>
          </a:p>
        </p:txBody>
      </p:sp>
      <p:sp>
        <p:nvSpPr>
          <p:cNvPr id="16" name="">
            <a:extLst xmlns:a="http://schemas.openxmlformats.org/drawingml/2006/main">
              <a:ext uri="{FF2B5EF4-FFF2-40B4-BE49-F238E27FC236}">
                <a16:creationId xmlns:a16="http://schemas.microsoft.com/office/drawing/2014/main" id="{0E7E617A-871E-45D4-A654-548831D5DCDE}"/>
              </a:ext>
            </a:extLst>
          </p:cNvPr>
          <p:cNvSpPr>
            <a:spLocks xmlns:a="http://schemas.openxmlformats.org/drawingml/2006/main" noGrp="1"/>
          </p:cNvSpPr>
          <p:nvPr/>
        </p:nvSpPr>
        <p:spPr>
          <a:xfrm xmlns:a="http://schemas.openxmlformats.org/drawingml/2006/main">
            <a:off x="7172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9A5197-252C-4C8B-8812-CA24E513432E}"/>
              </a:ext>
            </a:extLst>
          </p:cNvPr>
          <p:cNvSpPr>
            <a:spLocks xmlns:a="http://schemas.openxmlformats.org/drawingml/2006/main" noGrp="1"/>
          </p:cNvSpPr>
          <p:nvPr/>
        </p:nvSpPr>
        <p:spPr>
          <a:xfrm xmlns:a="http://schemas.openxmlformats.org/drawingml/2006/main">
            <a:off x="9286875" y="1952625"/>
            <a:ext cx="742950" cy="7429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55F5CC82-F9D6-4CE5-AD07-E4586CA3998C}"/>
              </a:ext>
            </a:extLst>
          </p:cNvPr>
          <p:cNvSpPr>
            <a:spLocks xmlns:a="http://schemas.openxmlformats.org/drawingml/2006/main" noGrp="1"/>
          </p:cNvSpPr>
          <p:nvPr/>
        </p:nvSpPr>
        <p:spPr>
          <a:xfrm xmlns:a="http://schemas.openxmlformats.org/drawingml/2006/main">
            <a:off x="8953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Remove</a:t>
            </a:r>
          </a:p>
        </p:txBody>
      </p:sp>
      <p:sp>
        <p:nvSpPr>
          <p:cNvPr id="19" name="">
            <a:extLst xmlns:a="http://schemas.openxmlformats.org/drawingml/2006/main">
              <a:ext uri="{FF2B5EF4-FFF2-40B4-BE49-F238E27FC236}">
                <a16:creationId xmlns:a16="http://schemas.microsoft.com/office/drawing/2014/main" id="{D426CE3F-075E-4647-AAAC-728A7F799B04}"/>
              </a:ext>
            </a:extLst>
          </p:cNvPr>
          <p:cNvSpPr>
            <a:spLocks xmlns:a="http://schemas.openxmlformats.org/drawingml/2006/main" noGrp="1"/>
          </p:cNvSpPr>
          <p:nvPr/>
        </p:nvSpPr>
        <p:spPr>
          <a:xfrm xmlns:a="http://schemas.openxmlformats.org/drawingml/2006/main">
            <a:off x="8763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Delete unused resources</a:t>
            </a:r>
          </a:p>
        </p:txBody>
      </p:sp>
      <p:sp>
        <p:nvSpPr>
          <p:cNvPr id="20" name="">
            <a:extLst xmlns:a="http://schemas.openxmlformats.org/drawingml/2006/main">
              <a:ext uri="{FF2B5EF4-FFF2-40B4-BE49-F238E27FC236}">
                <a16:creationId xmlns:a16="http://schemas.microsoft.com/office/drawing/2014/main" id="{66CAD7F5-34A2-418F-8E2D-CA7241D6C0BF}"/>
              </a:ext>
            </a:extLst>
          </p:cNvPr>
          <p:cNvSpPr>
            <a:spLocks xmlns:a="http://schemas.openxmlformats.org/drawingml/2006/main" noGrp="1"/>
          </p:cNvSpPr>
          <p:nvPr/>
        </p:nvSpPr>
        <p:spPr>
          <a:xfrm xmlns:a="http://schemas.openxmlformats.org/drawingml/2006/main">
            <a:off x="1762125" y="4667250"/>
            <a:ext cx="8667750" cy="857250"/>
          </a:xfrm>
          <a:prstGeom xmlns:a="http://schemas.openxmlformats.org/drawingml/2006/main" prst="roundRect">
            <a:avLst>
              <a:gd name="adj" fmla="val 8889"/>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B7464DF0-FF41-4859-8C05-16C6A24FF547}"/>
              </a:ext>
            </a:extLst>
          </p:cNvPr>
          <p:cNvSpPr>
            <a:spLocks xmlns:a="http://schemas.openxmlformats.org/drawingml/2006/main" noGrp="1"/>
          </p:cNvSpPr>
          <p:nvPr/>
        </p:nvSpPr>
        <p:spPr>
          <a:xfrm xmlns:a="http://schemas.openxmlformats.org/drawingml/2006/main">
            <a:off x="2143125" y="49053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D83B01"/>
                </a:solidFill>
                <a:latin typeface="Arial"/>
                <a:ea typeface="Arial"/>
                <a:cs typeface="Arial"/>
              </a:defRPr>
            </a:pPr>
            <a:r>
              <a:rPr sz="1725" b="1">
                <a:solidFill>
                  <a:srgbClr val="D83B01"/>
                </a:solidFill>
                <a:latin typeface="Arial"/>
                <a:ea typeface="Arial"/>
                <a:cs typeface="Arial"/>
              </a:rPr>
              <a:t>Cost notice</a:t>
            </a:r>
          </a:p>
        </p:txBody>
      </p:sp>
      <p:sp>
        <p:nvSpPr>
          <p:cNvPr id="22" name="">
            <a:extLst xmlns:a="http://schemas.openxmlformats.org/drawingml/2006/main">
              <a:ext uri="{FF2B5EF4-FFF2-40B4-BE49-F238E27FC236}">
                <a16:creationId xmlns:a16="http://schemas.microsoft.com/office/drawing/2014/main" id="{C6B49A37-FDE4-41D5-A799-DDA34B280BFC}"/>
              </a:ext>
            </a:extLst>
          </p:cNvPr>
          <p:cNvSpPr>
            <a:spLocks xmlns:a="http://schemas.openxmlformats.org/drawingml/2006/main" noGrp="1"/>
          </p:cNvSpPr>
          <p:nvPr/>
        </p:nvSpPr>
        <p:spPr>
          <a:xfrm xmlns:a="http://schemas.openxmlformats.org/drawingml/2006/main">
            <a:off x="4000500" y="48482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15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VMs and App Service plans can charge while idle. Cleanup ends the lab.</a:t>
            </a:r>
          </a:p>
        </p:txBody>
      </p:sp>
    </p:spTree>
    <p:extLst>
      <p:ext uri="{BB962C8B-B14F-4D97-AF65-F5344CB8AC3E}">
        <p14:creationId xmlns:p14="http://schemas.microsoft.com/office/powerpoint/2010/main" val="385089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FBFDDDE-16DD-4980-89D5-26C5CA2A3E11}"/>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Two-hour hands-on route</a:t>
            </a:r>
          </a:p>
        </p:txBody>
      </p:sp>
      <p:sp>
        <p:nvSpPr>
          <p:cNvPr id="2" name="">
            <a:extLst xmlns:a="http://schemas.openxmlformats.org/drawingml/2006/main">
              <a:ext uri="{FF2B5EF4-FFF2-40B4-BE49-F238E27FC236}">
                <a16:creationId xmlns:a16="http://schemas.microsoft.com/office/drawing/2014/main" id="{BE95BD98-A4DC-4A9F-A9FA-B5CC0A89C3AE}"/>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07D07B-C717-46D2-AF5B-68C692B50B20}"/>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Six labs, validation, and cleanup</a:t>
            </a:r>
          </a:p>
        </p:txBody>
      </p:sp>
      <p:sp>
        <p:nvSpPr>
          <p:cNvPr id="4" name="">
            <a:extLst xmlns:a="http://schemas.openxmlformats.org/drawingml/2006/main">
              <a:ext uri="{FF2B5EF4-FFF2-40B4-BE49-F238E27FC236}">
                <a16:creationId xmlns:a16="http://schemas.microsoft.com/office/drawing/2014/main" id="{54B7BBDB-E1C9-43C9-9565-81E809E375E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DC3DE56F-54CF-4CE5-9B9E-262D91B8786B}"/>
              </a:ext>
            </a:extLst>
          </p:cNvPr>
          <p:cNvSpPr>
            <a:spLocks xmlns:a="http://schemas.openxmlformats.org/drawingml/2006/main" noGrp="1"/>
          </p:cNvSpPr>
          <p:nvPr/>
        </p:nvSpPr>
        <p:spPr>
          <a:xfrm xmlns:a="http://schemas.openxmlformats.org/drawingml/2006/main">
            <a:off x="666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4700D9E-5EAC-4FC2-8026-B033714DAB99}"/>
              </a:ext>
            </a:extLst>
          </p:cNvPr>
          <p:cNvSpPr>
            <a:spLocks xmlns:a="http://schemas.openxmlformats.org/drawingml/2006/main" noGrp="1"/>
          </p:cNvSpPr>
          <p:nvPr/>
        </p:nvSpPr>
        <p:spPr>
          <a:xfrm xmlns:a="http://schemas.openxmlformats.org/drawingml/2006/main">
            <a:off x="1485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Portal</a:t>
            </a:r>
          </a:p>
        </p:txBody>
      </p:sp>
      <p:sp>
        <p:nvSpPr>
          <p:cNvPr id="7" name="">
            <a:extLst xmlns:a="http://schemas.openxmlformats.org/drawingml/2006/main">
              <a:ext uri="{FF2B5EF4-FFF2-40B4-BE49-F238E27FC236}">
                <a16:creationId xmlns:a16="http://schemas.microsoft.com/office/drawing/2014/main" id="{8A946FBE-E89B-4878-B0D8-B9EA73783F64}"/>
              </a:ext>
            </a:extLst>
          </p:cNvPr>
          <p:cNvSpPr>
            <a:spLocks xmlns:a="http://schemas.openxmlformats.org/drawingml/2006/main" noGrp="1"/>
          </p:cNvSpPr>
          <p:nvPr/>
        </p:nvSpPr>
        <p:spPr>
          <a:xfrm xmlns:a="http://schemas.openxmlformats.org/drawingml/2006/main">
            <a:off x="1485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8" name="">
            <a:extLst xmlns:a="http://schemas.openxmlformats.org/drawingml/2006/main">
              <a:ext uri="{FF2B5EF4-FFF2-40B4-BE49-F238E27FC236}">
                <a16:creationId xmlns:a16="http://schemas.microsoft.com/office/drawing/2014/main" id="{07B65852-3F5C-4AEE-AF49-506EBA1E6CF6}"/>
              </a:ext>
            </a:extLst>
          </p:cNvPr>
          <p:cNvSpPr>
            <a:spLocks xmlns:a="http://schemas.openxmlformats.org/drawingml/2006/main" noGrp="1"/>
          </p:cNvSpPr>
          <p:nvPr/>
        </p:nvSpPr>
        <p:spPr>
          <a:xfrm xmlns:a="http://schemas.openxmlformats.org/drawingml/2006/main">
            <a:off x="3524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FE26EC61-1B97-4EA3-ACFA-79E556C54ADE}"/>
              </a:ext>
            </a:extLst>
          </p:cNvPr>
          <p:cNvSpPr>
            <a:spLocks xmlns:a="http://schemas.openxmlformats.org/drawingml/2006/main" noGrp="1"/>
          </p:cNvSpPr>
          <p:nvPr/>
        </p:nvSpPr>
        <p:spPr>
          <a:xfrm xmlns:a="http://schemas.openxmlformats.org/drawingml/2006/main">
            <a:off x="4343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3BC442C1-2FBE-4D19-9EC4-8D3F7AC7321B}"/>
              </a:ext>
            </a:extLst>
          </p:cNvPr>
          <p:cNvSpPr>
            <a:spLocks xmlns:a="http://schemas.openxmlformats.org/drawingml/2006/main" noGrp="1"/>
          </p:cNvSpPr>
          <p:nvPr/>
        </p:nvSpPr>
        <p:spPr>
          <a:xfrm xmlns:a="http://schemas.openxmlformats.org/drawingml/2006/main">
            <a:off x="4343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1" name="">
            <a:extLst xmlns:a="http://schemas.openxmlformats.org/drawingml/2006/main">
              <a:ext uri="{FF2B5EF4-FFF2-40B4-BE49-F238E27FC236}">
                <a16:creationId xmlns:a16="http://schemas.microsoft.com/office/drawing/2014/main" id="{498CAF90-AC75-48D7-9552-3A2C5AAEA4A0}"/>
              </a:ext>
            </a:extLst>
          </p:cNvPr>
          <p:cNvSpPr>
            <a:spLocks xmlns:a="http://schemas.openxmlformats.org/drawingml/2006/main" noGrp="1"/>
          </p:cNvSpPr>
          <p:nvPr/>
        </p:nvSpPr>
        <p:spPr>
          <a:xfrm xmlns:a="http://schemas.openxmlformats.org/drawingml/2006/main">
            <a:off x="6381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757A515-8B1F-445D-9A52-FDCCFE0BE4A4}"/>
              </a:ext>
            </a:extLst>
          </p:cNvPr>
          <p:cNvSpPr>
            <a:spLocks xmlns:a="http://schemas.openxmlformats.org/drawingml/2006/main" noGrp="1"/>
          </p:cNvSpPr>
          <p:nvPr/>
        </p:nvSpPr>
        <p:spPr>
          <a:xfrm xmlns:a="http://schemas.openxmlformats.org/drawingml/2006/main">
            <a:off x="7200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Virtual machine</a:t>
            </a:r>
          </a:p>
        </p:txBody>
      </p:sp>
      <p:sp>
        <p:nvSpPr>
          <p:cNvPr id="13" name="">
            <a:extLst xmlns:a="http://schemas.openxmlformats.org/drawingml/2006/main">
              <a:ext uri="{FF2B5EF4-FFF2-40B4-BE49-F238E27FC236}">
                <a16:creationId xmlns:a16="http://schemas.microsoft.com/office/drawing/2014/main" id="{FF38CFD9-D234-4189-ADFD-4CC85DC92BBA}"/>
              </a:ext>
            </a:extLst>
          </p:cNvPr>
          <p:cNvSpPr>
            <a:spLocks xmlns:a="http://schemas.openxmlformats.org/drawingml/2006/main" noGrp="1"/>
          </p:cNvSpPr>
          <p:nvPr/>
        </p:nvSpPr>
        <p:spPr>
          <a:xfrm xmlns:a="http://schemas.openxmlformats.org/drawingml/2006/main">
            <a:off x="7200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30 min</a:t>
            </a:r>
          </a:p>
        </p:txBody>
      </p:sp>
      <p:sp>
        <p:nvSpPr>
          <p:cNvPr id="14" name="">
            <a:extLst xmlns:a="http://schemas.openxmlformats.org/drawingml/2006/main">
              <a:ext uri="{FF2B5EF4-FFF2-40B4-BE49-F238E27FC236}">
                <a16:creationId xmlns:a16="http://schemas.microsoft.com/office/drawing/2014/main" id="{AC7C6734-6103-4868-BACA-BDA2261A0CAE}"/>
              </a:ext>
            </a:extLst>
          </p:cNvPr>
          <p:cNvSpPr>
            <a:spLocks xmlns:a="http://schemas.openxmlformats.org/drawingml/2006/main" noGrp="1"/>
          </p:cNvSpPr>
          <p:nvPr/>
        </p:nvSpPr>
        <p:spPr>
          <a:xfrm xmlns:a="http://schemas.openxmlformats.org/drawingml/2006/main">
            <a:off x="9239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35E50D57-FE09-4E72-8A92-2EB125EC0137}"/>
              </a:ext>
            </a:extLst>
          </p:cNvPr>
          <p:cNvSpPr>
            <a:spLocks xmlns:a="http://schemas.openxmlformats.org/drawingml/2006/main" noGrp="1"/>
          </p:cNvSpPr>
          <p:nvPr/>
        </p:nvSpPr>
        <p:spPr>
          <a:xfrm xmlns:a="http://schemas.openxmlformats.org/drawingml/2006/main">
            <a:off x="10058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Networking</a:t>
            </a:r>
          </a:p>
        </p:txBody>
      </p:sp>
      <p:sp>
        <p:nvSpPr>
          <p:cNvPr id="16" name="">
            <a:extLst xmlns:a="http://schemas.openxmlformats.org/drawingml/2006/main">
              <a:ext uri="{FF2B5EF4-FFF2-40B4-BE49-F238E27FC236}">
                <a16:creationId xmlns:a16="http://schemas.microsoft.com/office/drawing/2014/main" id="{ADCA0F97-3AAE-45F9-ACA7-57F799A715C7}"/>
              </a:ext>
            </a:extLst>
          </p:cNvPr>
          <p:cNvSpPr>
            <a:spLocks xmlns:a="http://schemas.openxmlformats.org/drawingml/2006/main" noGrp="1"/>
          </p:cNvSpPr>
          <p:nvPr/>
        </p:nvSpPr>
        <p:spPr>
          <a:xfrm xmlns:a="http://schemas.openxmlformats.org/drawingml/2006/main">
            <a:off x="10058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7" name="">
            <a:extLst xmlns:a="http://schemas.openxmlformats.org/drawingml/2006/main">
              <a:ext uri="{FF2B5EF4-FFF2-40B4-BE49-F238E27FC236}">
                <a16:creationId xmlns:a16="http://schemas.microsoft.com/office/drawing/2014/main" id="{9583D99C-DC27-41E4-B5CD-299B8FB849F1}"/>
              </a:ext>
            </a:extLst>
          </p:cNvPr>
          <p:cNvSpPr>
            <a:spLocks xmlns:a="http://schemas.openxmlformats.org/drawingml/2006/main" noGrp="1"/>
          </p:cNvSpPr>
          <p:nvPr/>
        </p:nvSpPr>
        <p:spPr>
          <a:xfrm xmlns:a="http://schemas.openxmlformats.org/drawingml/2006/main">
            <a:off x="666750" y="3667125"/>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F41F6124-2DAC-4826-A7EB-FB809B40396A}"/>
              </a:ext>
            </a:extLst>
          </p:cNvPr>
          <p:cNvSpPr>
            <a:spLocks xmlns:a="http://schemas.openxmlformats.org/drawingml/2006/main" noGrp="1"/>
          </p:cNvSpPr>
          <p:nvPr/>
        </p:nvSpPr>
        <p:spPr>
          <a:xfrm xmlns:a="http://schemas.openxmlformats.org/drawingml/2006/main">
            <a:off x="1485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Blob storage</a:t>
            </a:r>
          </a:p>
        </p:txBody>
      </p:sp>
      <p:sp>
        <p:nvSpPr>
          <p:cNvPr id="19" name="">
            <a:extLst xmlns:a="http://schemas.openxmlformats.org/drawingml/2006/main">
              <a:ext uri="{FF2B5EF4-FFF2-40B4-BE49-F238E27FC236}">
                <a16:creationId xmlns:a16="http://schemas.microsoft.com/office/drawing/2014/main" id="{9AD6BA87-23D5-4D62-B0EA-11A8A93E2605}"/>
              </a:ext>
            </a:extLst>
          </p:cNvPr>
          <p:cNvSpPr>
            <a:spLocks xmlns:a="http://schemas.openxmlformats.org/drawingml/2006/main" noGrp="1"/>
          </p:cNvSpPr>
          <p:nvPr/>
        </p:nvSpPr>
        <p:spPr>
          <a:xfrm xmlns:a="http://schemas.openxmlformats.org/drawingml/2006/main">
            <a:off x="1485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20 min</a:t>
            </a:r>
          </a:p>
        </p:txBody>
      </p:sp>
      <p:sp>
        <p:nvSpPr>
          <p:cNvPr id="20" name="">
            <a:extLst xmlns:a="http://schemas.openxmlformats.org/drawingml/2006/main">
              <a:ext uri="{FF2B5EF4-FFF2-40B4-BE49-F238E27FC236}">
                <a16:creationId xmlns:a16="http://schemas.microsoft.com/office/drawing/2014/main" id="{9FE18CDC-6AEF-4E0E-92B3-CC57D5D32E2D}"/>
              </a:ext>
            </a:extLst>
          </p:cNvPr>
          <p:cNvSpPr>
            <a:spLocks xmlns:a="http://schemas.openxmlformats.org/drawingml/2006/main" noGrp="1"/>
          </p:cNvSpPr>
          <p:nvPr/>
        </p:nvSpPr>
        <p:spPr>
          <a:xfrm xmlns:a="http://schemas.openxmlformats.org/drawingml/2006/main">
            <a:off x="3524250" y="3667125"/>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A608E45D-FBAF-467B-990B-9E5C90DBA2BB}"/>
              </a:ext>
            </a:extLst>
          </p:cNvPr>
          <p:cNvSpPr>
            <a:spLocks xmlns:a="http://schemas.openxmlformats.org/drawingml/2006/main" noGrp="1"/>
          </p:cNvSpPr>
          <p:nvPr/>
        </p:nvSpPr>
        <p:spPr>
          <a:xfrm xmlns:a="http://schemas.openxmlformats.org/drawingml/2006/main">
            <a:off x="4343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 Service</a:t>
            </a:r>
          </a:p>
        </p:txBody>
      </p:sp>
      <p:sp>
        <p:nvSpPr>
          <p:cNvPr id="22" name="">
            <a:extLst xmlns:a="http://schemas.openxmlformats.org/drawingml/2006/main">
              <a:ext uri="{FF2B5EF4-FFF2-40B4-BE49-F238E27FC236}">
                <a16:creationId xmlns:a16="http://schemas.microsoft.com/office/drawing/2014/main" id="{23CC54BB-C13E-4983-9763-4CD668A38AF3}"/>
              </a:ext>
            </a:extLst>
          </p:cNvPr>
          <p:cNvSpPr>
            <a:spLocks xmlns:a="http://schemas.openxmlformats.org/drawingml/2006/main" noGrp="1"/>
          </p:cNvSpPr>
          <p:nvPr/>
        </p:nvSpPr>
        <p:spPr>
          <a:xfrm xmlns:a="http://schemas.openxmlformats.org/drawingml/2006/main">
            <a:off x="4343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25 min</a:t>
            </a:r>
          </a:p>
        </p:txBody>
      </p:sp>
      <p:sp>
        <p:nvSpPr>
          <p:cNvPr id="23" name="">
            <a:extLst xmlns:a="http://schemas.openxmlformats.org/drawingml/2006/main">
              <a:ext uri="{FF2B5EF4-FFF2-40B4-BE49-F238E27FC236}">
                <a16:creationId xmlns:a16="http://schemas.microsoft.com/office/drawing/2014/main" id="{42F1ACB0-E0EB-473C-93DE-0A6E7B039440}"/>
              </a:ext>
            </a:extLst>
          </p:cNvPr>
          <p:cNvSpPr>
            <a:spLocks xmlns:a="http://schemas.openxmlformats.org/drawingml/2006/main" noGrp="1"/>
          </p:cNvSpPr>
          <p:nvPr/>
        </p:nvSpPr>
        <p:spPr>
          <a:xfrm xmlns:a="http://schemas.openxmlformats.org/drawingml/2006/main">
            <a:off x="6381750" y="3667125"/>
            <a:ext cx="609600" cy="60960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8F5E565C-BF29-48ED-883A-59C85F502761}"/>
              </a:ext>
            </a:extLst>
          </p:cNvPr>
          <p:cNvSpPr>
            <a:spLocks xmlns:a="http://schemas.openxmlformats.org/drawingml/2006/main" noGrp="1"/>
          </p:cNvSpPr>
          <p:nvPr/>
        </p:nvSpPr>
        <p:spPr>
          <a:xfrm xmlns:a="http://schemas.openxmlformats.org/drawingml/2006/main">
            <a:off x="7200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422D2027-0655-4079-85FF-53BAC766B2FC}"/>
              </a:ext>
            </a:extLst>
          </p:cNvPr>
          <p:cNvSpPr>
            <a:spLocks xmlns:a="http://schemas.openxmlformats.org/drawingml/2006/main" noGrp="1"/>
          </p:cNvSpPr>
          <p:nvPr/>
        </p:nvSpPr>
        <p:spPr>
          <a:xfrm xmlns:a="http://schemas.openxmlformats.org/drawingml/2006/main">
            <a:off x="7200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6" name="">
            <a:extLst xmlns:a="http://schemas.openxmlformats.org/drawingml/2006/main">
              <a:ext uri="{FF2B5EF4-FFF2-40B4-BE49-F238E27FC236}">
                <a16:creationId xmlns:a16="http://schemas.microsoft.com/office/drawing/2014/main" id="{642241B3-C12D-4A97-9D62-ACFA0EC202E4}"/>
              </a:ext>
            </a:extLst>
          </p:cNvPr>
          <p:cNvSpPr>
            <a:spLocks xmlns:a="http://schemas.openxmlformats.org/drawingml/2006/main" noGrp="1"/>
          </p:cNvSpPr>
          <p:nvPr/>
        </p:nvSpPr>
        <p:spPr>
          <a:xfrm xmlns:a="http://schemas.openxmlformats.org/drawingml/2006/main">
            <a:off x="9239250" y="3667125"/>
            <a:ext cx="609600" cy="609600"/>
          </a:xfrm>
          <a:prstGeom xmlns:a="http://schemas.openxmlformats.org/drawingml/2006/main" prst="ellipse">
            <a:avLst/>
          </a:prstGeom>
          <a:solidFill xmlns:a="http://schemas.openxmlformats.org/drawingml/2006/main">
            <a:srgbClr val="D83B0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93B47092-98F8-49AA-A2C2-45160787AEEA}"/>
              </a:ext>
            </a:extLst>
          </p:cNvPr>
          <p:cNvSpPr>
            <a:spLocks xmlns:a="http://schemas.openxmlformats.org/drawingml/2006/main" noGrp="1"/>
          </p:cNvSpPr>
          <p:nvPr/>
        </p:nvSpPr>
        <p:spPr>
          <a:xfrm xmlns:a="http://schemas.openxmlformats.org/drawingml/2006/main">
            <a:off x="10058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Cleanup</a:t>
            </a:r>
          </a:p>
        </p:txBody>
      </p:sp>
      <p:sp>
        <p:nvSpPr>
          <p:cNvPr id="28" name="">
            <a:extLst xmlns:a="http://schemas.openxmlformats.org/drawingml/2006/main">
              <a:ext uri="{FF2B5EF4-FFF2-40B4-BE49-F238E27FC236}">
                <a16:creationId xmlns:a16="http://schemas.microsoft.com/office/drawing/2014/main" id="{3DD371F4-C54D-412E-98A2-F33699C8EC77}"/>
              </a:ext>
            </a:extLst>
          </p:cNvPr>
          <p:cNvSpPr>
            <a:spLocks xmlns:a="http://schemas.openxmlformats.org/drawingml/2006/main" noGrp="1"/>
          </p:cNvSpPr>
          <p:nvPr/>
        </p:nvSpPr>
        <p:spPr>
          <a:xfrm xmlns:a="http://schemas.openxmlformats.org/drawingml/2006/main">
            <a:off x="10058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9" name="">
            <a:extLst xmlns:a="http://schemas.openxmlformats.org/drawingml/2006/main">
              <a:ext uri="{FF2B5EF4-FFF2-40B4-BE49-F238E27FC236}">
                <a16:creationId xmlns:a16="http://schemas.microsoft.com/office/drawing/2014/main" id="{59E71FD8-092B-4575-BC66-1CA05504CFD7}"/>
              </a:ext>
            </a:extLst>
          </p:cNvPr>
          <p:cNvSpPr>
            <a:spLocks xmlns:a="http://schemas.openxmlformats.org/drawingml/2006/main" noGrp="1"/>
          </p:cNvSpPr>
          <p:nvPr/>
        </p:nvSpPr>
        <p:spPr>
          <a:xfrm xmlns:a="http://schemas.openxmlformats.org/drawingml/2006/main">
            <a:off x="3000375" y="5429250"/>
            <a:ext cx="6191250" cy="552450"/>
          </a:xfrm>
          <a:prstGeom xmlns:a="http://schemas.openxmlformats.org/drawingml/2006/main" prst="roundRect">
            <a:avLst>
              <a:gd name="adj" fmla="val 13793"/>
            </a:avLst>
          </a:prstGeom>
          <a:solidFill xmlns:a="http://schemas.openxmlformats.org/drawingml/2006/main">
            <a:srgbClr val="EAF5FC"/>
          </a:solidFill>
          <a:ln xmlns:a="http://schemas.openxmlformats.org/drawingml/2006/main" w="19050">
            <a:solidFill>
              <a:srgbClr val="0078D4"/>
            </a:solidFill>
          </a:ln>
        </p:spPr>
      </p:sp>
      <p:sp>
        <p:nvSpPr>
          <p:cNvPr id="30" name="">
            <a:extLst xmlns:a="http://schemas.openxmlformats.org/drawingml/2006/main">
              <a:ext uri="{FF2B5EF4-FFF2-40B4-BE49-F238E27FC236}">
                <a16:creationId xmlns:a16="http://schemas.microsoft.com/office/drawing/2014/main" id="{FDD3FF7D-04A9-4234-AE1A-F70C099B2887}"/>
              </a:ext>
            </a:extLst>
          </p:cNvPr>
          <p:cNvSpPr>
            <a:spLocks xmlns:a="http://schemas.openxmlformats.org/drawingml/2006/main" noGrp="1"/>
          </p:cNvSpPr>
          <p:nvPr/>
        </p:nvSpPr>
        <p:spPr>
          <a:xfrm xmlns:a="http://schemas.openxmlformats.org/drawingml/2006/main">
            <a:off x="3219450" y="5572125"/>
            <a:ext cx="576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0078D4"/>
                </a:solidFill>
                <a:latin typeface="Arial"/>
                <a:ea typeface="Arial"/>
                <a:cs typeface="Arial"/>
              </a:defRPr>
            </a:pPr>
            <a:r>
              <a:rPr sz="1350" b="1">
                <a:solidFill>
                  <a:srgbClr val="0078D4"/>
                </a:solidFill>
                <a:latin typeface="Arial"/>
                <a:ea typeface="Arial"/>
                <a:cs typeface="Arial"/>
              </a:rPr>
              <a:t>If the VM deployment runs long, inspect the prepared VM and continue</a:t>
            </a:r>
          </a:p>
        </p:txBody>
      </p:sp>
    </p:spTree>
    <p:extLst>
      <p:ext uri="{BB962C8B-B14F-4D97-AF65-F5344CB8AC3E}">
        <p14:creationId xmlns:p14="http://schemas.microsoft.com/office/powerpoint/2010/main" val="1856362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7BD313A-A301-4554-8FEC-AB670FA3A792}"/>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environment you will build</a:t>
            </a:r>
          </a:p>
        </p:txBody>
      </p:sp>
      <p:sp>
        <p:nvSpPr>
          <p:cNvPr id="2" name="">
            <a:extLst xmlns:a="http://schemas.openxmlformats.org/drawingml/2006/main">
              <a:ext uri="{FF2B5EF4-FFF2-40B4-BE49-F238E27FC236}">
                <a16:creationId xmlns:a16="http://schemas.microsoft.com/office/drawing/2014/main" id="{8B47BFE4-C892-4AE2-8BBA-EA362F1E5283}"/>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A17FB2-BEC7-404F-9B99-9BCCA64749C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All lab resources live inside one Resource Group</a:t>
            </a:r>
          </a:p>
        </p:txBody>
      </p:sp>
      <p:sp>
        <p:nvSpPr>
          <p:cNvPr id="4" name="">
            <a:extLst xmlns:a="http://schemas.openxmlformats.org/drawingml/2006/main">
              <a:ext uri="{FF2B5EF4-FFF2-40B4-BE49-F238E27FC236}">
                <a16:creationId xmlns:a16="http://schemas.microsoft.com/office/drawing/2014/main" id="{41E4F808-609E-445E-B5F3-B10DDDED52C8}"/>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C88D30F4-A60B-434E-81AD-E451C627774D}"/>
              </a:ext>
            </a:extLst>
          </p:cNvPr>
          <p:cNvSpPr>
            <a:spLocks xmlns:a="http://schemas.openxmlformats.org/drawingml/2006/main" noGrp="1"/>
          </p:cNvSpPr>
          <p:nvPr/>
        </p:nvSpPr>
        <p:spPr>
          <a:xfrm xmlns:a="http://schemas.openxmlformats.org/drawingml/2006/main">
            <a:off x="523875" y="1352550"/>
            <a:ext cx="11144250" cy="4333875"/>
          </a:xfrm>
          <a:prstGeom xmlns:a="http://schemas.openxmlformats.org/drawingml/2006/main" prst="roundRect">
            <a:avLst>
              <a:gd name="adj" fmla="val 1758"/>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EDE8010A-4F09-40AE-902D-4CA74427C6C5}"/>
              </a:ext>
            </a:extLst>
          </p:cNvPr>
          <p:cNvSpPr>
            <a:spLocks xmlns:a="http://schemas.openxmlformats.org/drawingml/2006/main" noGrp="1"/>
          </p:cNvSpPr>
          <p:nvPr/>
        </p:nvSpPr>
        <p:spPr>
          <a:xfrm xmlns:a="http://schemas.openxmlformats.org/drawingml/2006/main">
            <a:off x="781050" y="15240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l">
              <a:defRPr sz="1725" b="1">
                <a:solidFill>
                  <a:srgbClr val="0078D4"/>
                </a:solidFill>
                <a:latin typeface="Arial"/>
                <a:ea typeface="Arial"/>
                <a:cs typeface="Arial"/>
              </a:defRPr>
            </a:pPr>
            <a:r>
              <a:rPr sz="1725"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E0385068-E0F2-45AC-AC87-0469C71D7FE4}"/>
              </a:ext>
            </a:extLst>
          </p:cNvPr>
          <p:cNvSpPr>
            <a:spLocks xmlns:a="http://schemas.openxmlformats.org/drawingml/2006/main" noGrp="1"/>
          </p:cNvSpPr>
          <p:nvPr/>
        </p:nvSpPr>
        <p:spPr>
          <a:xfrm xmlns:a="http://schemas.openxmlformats.org/drawingml/2006/main">
            <a:off x="857250" y="2190750"/>
            <a:ext cx="50482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A71A9B0D-2323-47DC-A38E-A2DFEFD9DB22}"/>
              </a:ext>
            </a:extLst>
          </p:cNvPr>
          <p:cNvSpPr>
            <a:spLocks xmlns:a="http://schemas.openxmlformats.org/drawingml/2006/main" noGrp="1"/>
          </p:cNvSpPr>
          <p:nvPr/>
        </p:nvSpPr>
        <p:spPr>
          <a:xfrm xmlns:a="http://schemas.openxmlformats.org/drawingml/2006/main">
            <a:off x="1143000" y="24003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l">
              <a:defRPr sz="1575" b="1">
                <a:solidFill>
                  <a:srgbClr val="00A4EF"/>
                </a:solidFill>
                <a:latin typeface="Arial"/>
                <a:ea typeface="Arial"/>
                <a:cs typeface="Arial"/>
              </a:defRPr>
            </a:pPr>
            <a:r>
              <a:rPr sz="1575" b="1">
                <a:solidFill>
                  <a:srgbClr val="00A4EF"/>
                </a:solidFill>
                <a:latin typeface="Arial"/>
                <a:ea typeface="Arial"/>
                <a:cs typeface="Arial"/>
              </a:rPr>
              <a:t>Compute and network</a:t>
            </a:r>
          </a:p>
        </p:txBody>
      </p:sp>
      <p:sp>
        <p:nvSpPr>
          <p:cNvPr id="9" name="">
            <a:extLst xmlns:a="http://schemas.openxmlformats.org/drawingml/2006/main">
              <a:ext uri="{FF2B5EF4-FFF2-40B4-BE49-F238E27FC236}">
                <a16:creationId xmlns:a16="http://schemas.microsoft.com/office/drawing/2014/main" id="{8C2111E5-5EFD-4406-9BBE-2C68F4CA7CC8}"/>
              </a:ext>
            </a:extLst>
          </p:cNvPr>
          <p:cNvSpPr>
            <a:spLocks xmlns:a="http://schemas.openxmlformats.org/drawingml/2006/main" noGrp="1"/>
          </p:cNvSpPr>
          <p:nvPr/>
        </p:nvSpPr>
        <p:spPr>
          <a:xfrm xmlns:a="http://schemas.openxmlformats.org/drawingml/2006/main">
            <a:off x="1238250" y="3000375"/>
            <a:ext cx="4000500"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B9D7EA"/>
            </a:solidFill>
          </a:ln>
        </p:spPr>
      </p:sp>
      <p:sp>
        <p:nvSpPr>
          <p:cNvPr id="10" name="">
            <a:extLst xmlns:a="http://schemas.openxmlformats.org/drawingml/2006/main">
              <a:ext uri="{FF2B5EF4-FFF2-40B4-BE49-F238E27FC236}">
                <a16:creationId xmlns:a16="http://schemas.microsoft.com/office/drawing/2014/main" id="{F41273C8-D7CA-488E-AB6D-FAC56379187A}"/>
              </a:ext>
            </a:extLst>
          </p:cNvPr>
          <p:cNvSpPr>
            <a:spLocks xmlns:a="http://schemas.openxmlformats.org/drawingml/2006/main" noGrp="1"/>
          </p:cNvSpPr>
          <p:nvPr/>
        </p:nvSpPr>
        <p:spPr>
          <a:xfrm xmlns:a="http://schemas.openxmlformats.org/drawingml/2006/main">
            <a:off x="1524000" y="31432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46"/>
          </a:bodyPr>
          <a:lstStyle xmlns:a="http://schemas.openxmlformats.org/drawingml/2006/main"/>
          <a:p xmlns:a="http://schemas.openxmlformats.org/drawingml/2006/main">
            <a:pPr algn="l">
              <a:defRPr sz="1425" b="1">
                <a:solidFill>
                  <a:srgbClr val="0078D4"/>
                </a:solidFill>
                <a:latin typeface="Arial"/>
                <a:ea typeface="Arial"/>
                <a:cs typeface="Arial"/>
              </a:defRPr>
            </a:pPr>
            <a:r>
              <a:rPr sz="1425" b="1">
                <a:solidFill>
                  <a:srgbClr val="0078D4"/>
                </a:solidFill>
                <a:latin typeface="Arial"/>
                <a:ea typeface="Arial"/>
                <a:cs typeface="Arial"/>
              </a:rPr>
              <a:t>vnet-mmaug-demo</a:t>
            </a:r>
          </a:p>
        </p:txBody>
      </p:sp>
      <p:sp>
        <p:nvSpPr>
          <p:cNvPr id="11" name="">
            <a:extLst xmlns:a="http://schemas.openxmlformats.org/drawingml/2006/main">
              <a:ext uri="{FF2B5EF4-FFF2-40B4-BE49-F238E27FC236}">
                <a16:creationId xmlns:a16="http://schemas.microsoft.com/office/drawing/2014/main" id="{16BA3208-356E-4AC0-9B85-B190D1F58755}"/>
              </a:ext>
            </a:extLst>
          </p:cNvPr>
          <p:cNvSpPr>
            <a:spLocks xmlns:a="http://schemas.openxmlformats.org/drawingml/2006/main" noGrp="1"/>
          </p:cNvSpPr>
          <p:nvPr/>
        </p:nvSpPr>
        <p:spPr>
          <a:xfrm xmlns:a="http://schemas.openxmlformats.org/drawingml/2006/main">
            <a:off x="1666875" y="3714750"/>
            <a:ext cx="552450" cy="5524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76991"/>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NIC</a:t>
            </a:r>
          </a:p>
        </p:txBody>
      </p:sp>
      <p:sp>
        <p:nvSpPr>
          <p:cNvPr id="12" name="">
            <a:extLst xmlns:a="http://schemas.openxmlformats.org/drawingml/2006/main">
              <a:ext uri="{FF2B5EF4-FFF2-40B4-BE49-F238E27FC236}">
                <a16:creationId xmlns:a16="http://schemas.microsoft.com/office/drawing/2014/main" id="{27EAFCDA-A832-4DFF-A18F-AB4776CFC9FD}"/>
              </a:ext>
            </a:extLst>
          </p:cNvPr>
          <p:cNvSpPr>
            <a:spLocks xmlns:a="http://schemas.openxmlformats.org/drawingml/2006/main" noGrp="1"/>
          </p:cNvSpPr>
          <p:nvPr/>
        </p:nvSpPr>
        <p:spPr>
          <a:xfrm xmlns:a="http://schemas.openxmlformats.org/drawingml/2006/main">
            <a:off x="2219325" y="3962400"/>
            <a:ext cx="857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DE6AB9-CA30-431C-B3B1-2A07730B29B0}"/>
              </a:ext>
            </a:extLst>
          </p:cNvPr>
          <p:cNvSpPr>
            <a:spLocks xmlns:a="http://schemas.openxmlformats.org/drawingml/2006/main" noGrp="1"/>
          </p:cNvSpPr>
          <p:nvPr/>
        </p:nvSpPr>
        <p:spPr>
          <a:xfrm xmlns:a="http://schemas.openxmlformats.org/drawingml/2006/main">
            <a:off x="3076575" y="3619500"/>
            <a:ext cx="762000" cy="7620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VM</a:t>
            </a:r>
          </a:p>
        </p:txBody>
      </p:sp>
      <p:sp>
        <p:nvSpPr>
          <p:cNvPr id="14" name="">
            <a:extLst xmlns:a="http://schemas.openxmlformats.org/drawingml/2006/main">
              <a:ext uri="{FF2B5EF4-FFF2-40B4-BE49-F238E27FC236}">
                <a16:creationId xmlns:a16="http://schemas.microsoft.com/office/drawing/2014/main" id="{C0BF0FB4-297D-4C8B-AD1C-6661A606E69F}"/>
              </a:ext>
            </a:extLst>
          </p:cNvPr>
          <p:cNvSpPr>
            <a:spLocks xmlns:a="http://schemas.openxmlformats.org/drawingml/2006/main" noGrp="1"/>
          </p:cNvSpPr>
          <p:nvPr/>
        </p:nvSpPr>
        <p:spPr>
          <a:xfrm xmlns:a="http://schemas.openxmlformats.org/drawingml/2006/main">
            <a:off x="4171950" y="379095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D83B01"/>
                </a:solidFill>
                <a:latin typeface="Arial"/>
                <a:ea typeface="Arial"/>
                <a:cs typeface="Arial"/>
              </a:defRPr>
            </a:pPr>
            <a:r>
              <a:rPr sz="1350" b="1">
                <a:solidFill>
                  <a:srgbClr val="D83B01"/>
                </a:solidFill>
                <a:latin typeface="Arial"/>
                <a:ea typeface="Arial"/>
                <a:cs typeface="Arial"/>
              </a:rPr>
              <a:t>NSG</a:t>
            </a:r>
          </a:p>
        </p:txBody>
      </p:sp>
      <p:sp>
        <p:nvSpPr>
          <p:cNvPr id="15" name="">
            <a:extLst xmlns:a="http://schemas.openxmlformats.org/drawingml/2006/main">
              <a:ext uri="{FF2B5EF4-FFF2-40B4-BE49-F238E27FC236}">
                <a16:creationId xmlns:a16="http://schemas.microsoft.com/office/drawing/2014/main" id="{47CE715E-3E49-4945-8FCD-BE06FA264CC8}"/>
              </a:ext>
            </a:extLst>
          </p:cNvPr>
          <p:cNvSpPr>
            <a:spLocks xmlns:a="http://schemas.openxmlformats.org/drawingml/2006/main" noGrp="1"/>
          </p:cNvSpPr>
          <p:nvPr/>
        </p:nvSpPr>
        <p:spPr>
          <a:xfrm xmlns:a="http://schemas.openxmlformats.org/drawingml/2006/main">
            <a:off x="6477000" y="2190750"/>
            <a:ext cx="2190750" cy="1257300"/>
          </a:xfrm>
          <a:prstGeom xmlns:a="http://schemas.openxmlformats.org/drawingml/2006/main" prst="roundRect">
            <a:avLst>
              <a:gd name="adj" fmla="val 6061"/>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53A0EBFD-317D-41E2-AC2A-B637A83D1560}"/>
              </a:ext>
            </a:extLst>
          </p:cNvPr>
          <p:cNvSpPr>
            <a:spLocks xmlns:a="http://schemas.openxmlformats.org/drawingml/2006/main" noGrp="1"/>
          </p:cNvSpPr>
          <p:nvPr/>
        </p:nvSpPr>
        <p:spPr>
          <a:xfrm xmlns:a="http://schemas.openxmlformats.org/drawingml/2006/main">
            <a:off x="6762750"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07C10"/>
                </a:solidFill>
                <a:latin typeface="Arial"/>
                <a:ea typeface="Arial"/>
                <a:cs typeface="Arial"/>
              </a:defRPr>
            </a:pPr>
            <a:r>
              <a:rPr sz="1500" b="1">
                <a:solidFill>
                  <a:srgbClr val="107C10"/>
                </a:solidFill>
                <a:latin typeface="Arial"/>
                <a:ea typeface="Arial"/>
                <a:cs typeface="Arial"/>
              </a:rPr>
              <a:t>Storage</a:t>
            </a:r>
          </a:p>
        </p:txBody>
      </p:sp>
      <p:sp>
        <p:nvSpPr>
          <p:cNvPr id="17" name="">
            <a:extLst xmlns:a="http://schemas.openxmlformats.org/drawingml/2006/main">
              <a:ext uri="{FF2B5EF4-FFF2-40B4-BE49-F238E27FC236}">
                <a16:creationId xmlns:a16="http://schemas.microsoft.com/office/drawing/2014/main" id="{EBD1C329-E353-4B37-97E7-D27F2F5E3B8F}"/>
              </a:ext>
            </a:extLst>
          </p:cNvPr>
          <p:cNvSpPr>
            <a:spLocks xmlns:a="http://schemas.openxmlformats.org/drawingml/2006/main" noGrp="1"/>
          </p:cNvSpPr>
          <p:nvPr/>
        </p:nvSpPr>
        <p:spPr>
          <a:xfrm xmlns:a="http://schemas.openxmlformats.org/drawingml/2006/main">
            <a:off x="6762750"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Private Blob</a:t>
            </a:r>
          </a:p>
        </p:txBody>
      </p:sp>
      <p:sp>
        <p:nvSpPr>
          <p:cNvPr id="18" name="">
            <a:extLst xmlns:a="http://schemas.openxmlformats.org/drawingml/2006/main">
              <a:ext uri="{FF2B5EF4-FFF2-40B4-BE49-F238E27FC236}">
                <a16:creationId xmlns:a16="http://schemas.microsoft.com/office/drawing/2014/main" id="{9F7EBB37-FD15-4998-9DA7-F52C6896E301}"/>
              </a:ext>
            </a:extLst>
          </p:cNvPr>
          <p:cNvSpPr>
            <a:spLocks xmlns:a="http://schemas.openxmlformats.org/drawingml/2006/main" noGrp="1"/>
          </p:cNvSpPr>
          <p:nvPr/>
        </p:nvSpPr>
        <p:spPr>
          <a:xfrm xmlns:a="http://schemas.openxmlformats.org/drawingml/2006/main">
            <a:off x="9096375" y="2190750"/>
            <a:ext cx="2190750" cy="1257300"/>
          </a:xfrm>
          <a:prstGeom xmlns:a="http://schemas.openxmlformats.org/drawingml/2006/main" prst="roundRect">
            <a:avLst>
              <a:gd name="adj" fmla="val 6061"/>
            </a:avLst>
          </a:prstGeom>
          <a:solidFill xmlns:a="http://schemas.openxmlformats.org/drawingml/2006/main">
            <a:srgbClr val="FFF4E8"/>
          </a:solidFill>
          <a:ln xmlns:a="http://schemas.openxmlformats.org/drawingml/2006/main" w="19050">
            <a:solidFill>
              <a:srgbClr val="FFB900"/>
            </a:solidFill>
          </a:ln>
        </p:spPr>
      </p:sp>
      <p:sp>
        <p:nvSpPr>
          <p:cNvPr id="19" name="">
            <a:extLst xmlns:a="http://schemas.openxmlformats.org/drawingml/2006/main">
              <a:ext uri="{FF2B5EF4-FFF2-40B4-BE49-F238E27FC236}">
                <a16:creationId xmlns:a16="http://schemas.microsoft.com/office/drawing/2014/main" id="{3EE23F00-2987-4CE4-929D-672EE85BB0A7}"/>
              </a:ext>
            </a:extLst>
          </p:cNvPr>
          <p:cNvSpPr>
            <a:spLocks xmlns:a="http://schemas.openxmlformats.org/drawingml/2006/main" noGrp="1"/>
          </p:cNvSpPr>
          <p:nvPr/>
        </p:nvSpPr>
        <p:spPr>
          <a:xfrm xmlns:a="http://schemas.openxmlformats.org/drawingml/2006/main">
            <a:off x="9382125"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App Service</a:t>
            </a:r>
          </a:p>
        </p:txBody>
      </p:sp>
      <p:sp>
        <p:nvSpPr>
          <p:cNvPr id="20" name="">
            <a:extLst xmlns:a="http://schemas.openxmlformats.org/drawingml/2006/main">
              <a:ext uri="{FF2B5EF4-FFF2-40B4-BE49-F238E27FC236}">
                <a16:creationId xmlns:a16="http://schemas.microsoft.com/office/drawing/2014/main" id="{DCEBA676-6E04-4A4C-A291-E0AE1E297E51}"/>
              </a:ext>
            </a:extLst>
          </p:cNvPr>
          <p:cNvSpPr>
            <a:spLocks xmlns:a="http://schemas.openxmlformats.org/drawingml/2006/main" noGrp="1"/>
          </p:cNvSpPr>
          <p:nvPr/>
        </p:nvSpPr>
        <p:spPr>
          <a:xfrm xmlns:a="http://schemas.openxmlformats.org/drawingml/2006/main">
            <a:off x="9382125"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Static web page</a:t>
            </a:r>
          </a:p>
        </p:txBody>
      </p:sp>
      <p:sp>
        <p:nvSpPr>
          <p:cNvPr id="21" name="">
            <a:extLst xmlns:a="http://schemas.openxmlformats.org/drawingml/2006/main">
              <a:ext uri="{FF2B5EF4-FFF2-40B4-BE49-F238E27FC236}">
                <a16:creationId xmlns:a16="http://schemas.microsoft.com/office/drawing/2014/main" id="{68C47161-6E40-4F62-9A01-9434EDEA572E}"/>
              </a:ext>
            </a:extLst>
          </p:cNvPr>
          <p:cNvSpPr>
            <a:spLocks xmlns:a="http://schemas.openxmlformats.org/drawingml/2006/main" noGrp="1"/>
          </p:cNvSpPr>
          <p:nvPr/>
        </p:nvSpPr>
        <p:spPr>
          <a:xfrm xmlns:a="http://schemas.openxmlformats.org/drawingml/2006/main">
            <a:off x="6477000" y="3905250"/>
            <a:ext cx="48101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B9D7EA"/>
            </a:solidFill>
          </a:ln>
        </p:spPr>
      </p:sp>
      <p:sp>
        <p:nvSpPr>
          <p:cNvPr id="22" name="">
            <a:extLst xmlns:a="http://schemas.openxmlformats.org/drawingml/2006/main">
              <a:ext uri="{FF2B5EF4-FFF2-40B4-BE49-F238E27FC236}">
                <a16:creationId xmlns:a16="http://schemas.microsoft.com/office/drawing/2014/main" id="{6F7D2199-3581-475A-BDC1-84325B57BC30}"/>
              </a:ext>
            </a:extLst>
          </p:cNvPr>
          <p:cNvSpPr>
            <a:spLocks xmlns:a="http://schemas.openxmlformats.org/drawingml/2006/main" noGrp="1"/>
          </p:cNvSpPr>
          <p:nvPr/>
        </p:nvSpPr>
        <p:spPr>
          <a:xfrm xmlns:a="http://schemas.openxmlformats.org/drawingml/2006/main">
            <a:off x="6810375" y="4095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Activity Log</a:t>
            </a:r>
          </a:p>
        </p:txBody>
      </p:sp>
      <p:sp>
        <p:nvSpPr>
          <p:cNvPr id="23" name="">
            <a:extLst xmlns:a="http://schemas.openxmlformats.org/drawingml/2006/main">
              <a:ext uri="{FF2B5EF4-FFF2-40B4-BE49-F238E27FC236}">
                <a16:creationId xmlns:a16="http://schemas.microsoft.com/office/drawing/2014/main" id="{40B8DC82-1E52-4AD7-8794-A88E8308C37B}"/>
              </a:ext>
            </a:extLst>
          </p:cNvPr>
          <p:cNvSpPr>
            <a:spLocks xmlns:a="http://schemas.openxmlformats.org/drawingml/2006/main" noGrp="1"/>
          </p:cNvSpPr>
          <p:nvPr/>
        </p:nvSpPr>
        <p:spPr>
          <a:xfrm xmlns:a="http://schemas.openxmlformats.org/drawingml/2006/main">
            <a:off x="8572500" y="40957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314"/>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Creation events and failures</a:t>
            </a:r>
          </a:p>
        </p:txBody>
      </p:sp>
    </p:spTree>
    <p:extLst>
      <p:ext uri="{BB962C8B-B14F-4D97-AF65-F5344CB8AC3E}">
        <p14:creationId xmlns:p14="http://schemas.microsoft.com/office/powerpoint/2010/main" val="17608008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C49153C-F303-4CBC-BCF1-8CEB40715F3B}"/>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Validation and safe troubleshooting</a:t>
            </a:r>
          </a:p>
        </p:txBody>
      </p:sp>
      <p:sp>
        <p:nvSpPr>
          <p:cNvPr id="2" name="">
            <a:extLst xmlns:a="http://schemas.openxmlformats.org/drawingml/2006/main">
              <a:ext uri="{FF2B5EF4-FFF2-40B4-BE49-F238E27FC236}">
                <a16:creationId xmlns:a16="http://schemas.microsoft.com/office/drawing/2014/main" id="{2FC3152E-A054-41F9-88DE-8C0755FB2BA2}"/>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206EEA-BB7A-4AD5-9DD9-B8843295B9CC}"/>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Read the first specific error before changing settings</a:t>
            </a:r>
          </a:p>
        </p:txBody>
      </p:sp>
      <p:sp>
        <p:nvSpPr>
          <p:cNvPr id="4" name="">
            <a:extLst xmlns:a="http://schemas.openxmlformats.org/drawingml/2006/main">
              <a:ext uri="{FF2B5EF4-FFF2-40B4-BE49-F238E27FC236}">
                <a16:creationId xmlns:a16="http://schemas.microsoft.com/office/drawing/2014/main" id="{6041ADFF-7AC8-4788-BCBA-A5D3F0173752}"/>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40A8438B-5A50-4637-99FB-0EF4D5AF1F0B}"/>
              </a:ext>
            </a:extLst>
          </p:cNvPr>
          <p:cNvSpPr>
            <a:spLocks xmlns:a="http://schemas.openxmlformats.org/drawingml/2006/main" noGrp="1"/>
          </p:cNvSpPr>
          <p:nvPr/>
        </p:nvSpPr>
        <p:spPr>
          <a:xfrm xmlns:a="http://schemas.openxmlformats.org/drawingml/2006/main">
            <a:off x="781050" y="14287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040213A4-768B-499B-A1B9-7532C04ADA21}"/>
              </a:ext>
            </a:extLst>
          </p:cNvPr>
          <p:cNvSpPr>
            <a:spLocks xmlns:a="http://schemas.openxmlformats.org/drawingml/2006/main" noGrp="1"/>
          </p:cNvSpPr>
          <p:nvPr/>
        </p:nvSpPr>
        <p:spPr>
          <a:xfrm xmlns:a="http://schemas.openxmlformats.org/drawingml/2006/main">
            <a:off x="1476375" y="14573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Subscription</a:t>
            </a:r>
          </a:p>
        </p:txBody>
      </p:sp>
      <p:sp>
        <p:nvSpPr>
          <p:cNvPr id="7" name="">
            <a:extLst xmlns:a="http://schemas.openxmlformats.org/drawingml/2006/main">
              <a:ext uri="{FF2B5EF4-FFF2-40B4-BE49-F238E27FC236}">
                <a16:creationId xmlns:a16="http://schemas.microsoft.com/office/drawing/2014/main" id="{F719F2AA-C04A-40AC-A88D-711CDB885C2E}"/>
              </a:ext>
            </a:extLst>
          </p:cNvPr>
          <p:cNvSpPr>
            <a:spLocks xmlns:a="http://schemas.openxmlformats.org/drawingml/2006/main" noGrp="1"/>
          </p:cNvSpPr>
          <p:nvPr/>
        </p:nvSpPr>
        <p:spPr>
          <a:xfrm xmlns:a="http://schemas.openxmlformats.org/drawingml/2006/main">
            <a:off x="4095750" y="14573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Correct bootcamp context</a:t>
            </a:r>
          </a:p>
        </p:txBody>
      </p:sp>
      <p:sp>
        <p:nvSpPr>
          <p:cNvPr id="8" name="">
            <a:extLst xmlns:a="http://schemas.openxmlformats.org/drawingml/2006/main">
              <a:ext uri="{FF2B5EF4-FFF2-40B4-BE49-F238E27FC236}">
                <a16:creationId xmlns:a16="http://schemas.microsoft.com/office/drawing/2014/main" id="{48FA1246-11C2-412C-821D-0EF91C3E1DE8}"/>
              </a:ext>
            </a:extLst>
          </p:cNvPr>
          <p:cNvSpPr>
            <a:spLocks xmlns:a="http://schemas.openxmlformats.org/drawingml/2006/main" noGrp="1"/>
          </p:cNvSpPr>
          <p:nvPr/>
        </p:nvSpPr>
        <p:spPr>
          <a:xfrm xmlns:a="http://schemas.openxmlformats.org/drawingml/2006/main">
            <a:off x="781050" y="22098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42100EE9-3727-486D-A1B5-7F491554AD67}"/>
              </a:ext>
            </a:extLst>
          </p:cNvPr>
          <p:cNvSpPr>
            <a:spLocks xmlns:a="http://schemas.openxmlformats.org/drawingml/2006/main" noGrp="1"/>
          </p:cNvSpPr>
          <p:nvPr/>
        </p:nvSpPr>
        <p:spPr>
          <a:xfrm xmlns:a="http://schemas.openxmlformats.org/drawingml/2006/main">
            <a:off x="1476375" y="22383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39EBE82F-847B-42A4-90E3-5BC51F26C028}"/>
              </a:ext>
            </a:extLst>
          </p:cNvPr>
          <p:cNvSpPr>
            <a:spLocks xmlns:a="http://schemas.openxmlformats.org/drawingml/2006/main" noGrp="1"/>
          </p:cNvSpPr>
          <p:nvPr/>
        </p:nvSpPr>
        <p:spPr>
          <a:xfrm xmlns:a="http://schemas.openxmlformats.org/drawingml/2006/main">
            <a:off x="4095750" y="22383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Exact lab name</a:t>
            </a:r>
          </a:p>
        </p:txBody>
      </p:sp>
      <p:sp>
        <p:nvSpPr>
          <p:cNvPr id="11" name="">
            <a:extLst xmlns:a="http://schemas.openxmlformats.org/drawingml/2006/main">
              <a:ext uri="{FF2B5EF4-FFF2-40B4-BE49-F238E27FC236}">
                <a16:creationId xmlns:a16="http://schemas.microsoft.com/office/drawing/2014/main" id="{5BA06009-F7CA-4253-8E4A-AB16EB321178}"/>
              </a:ext>
            </a:extLst>
          </p:cNvPr>
          <p:cNvSpPr>
            <a:spLocks xmlns:a="http://schemas.openxmlformats.org/drawingml/2006/main" noGrp="1"/>
          </p:cNvSpPr>
          <p:nvPr/>
        </p:nvSpPr>
        <p:spPr>
          <a:xfrm xmlns:a="http://schemas.openxmlformats.org/drawingml/2006/main">
            <a:off x="781050" y="29908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83C4AEB6-D01D-4F3D-BCB3-292CC70CA541}"/>
              </a:ext>
            </a:extLst>
          </p:cNvPr>
          <p:cNvSpPr>
            <a:spLocks xmlns:a="http://schemas.openxmlformats.org/drawingml/2006/main" noGrp="1"/>
          </p:cNvSpPr>
          <p:nvPr/>
        </p:nvSpPr>
        <p:spPr>
          <a:xfrm xmlns:a="http://schemas.openxmlformats.org/drawingml/2006/main">
            <a:off x="1476375" y="30194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Deployment</a:t>
            </a:r>
          </a:p>
        </p:txBody>
      </p:sp>
      <p:sp>
        <p:nvSpPr>
          <p:cNvPr id="13" name="">
            <a:extLst xmlns:a="http://schemas.openxmlformats.org/drawingml/2006/main">
              <a:ext uri="{FF2B5EF4-FFF2-40B4-BE49-F238E27FC236}">
                <a16:creationId xmlns:a16="http://schemas.microsoft.com/office/drawing/2014/main" id="{72C6930A-2A28-4169-993E-745D53A8CD37}"/>
              </a:ext>
            </a:extLst>
          </p:cNvPr>
          <p:cNvSpPr>
            <a:spLocks xmlns:a="http://schemas.openxmlformats.org/drawingml/2006/main" noGrp="1"/>
          </p:cNvSpPr>
          <p:nvPr/>
        </p:nvSpPr>
        <p:spPr>
          <a:xfrm xmlns:a="http://schemas.openxmlformats.org/drawingml/2006/main">
            <a:off x="4095750" y="30194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Provisioning succeeded</a:t>
            </a:r>
          </a:p>
        </p:txBody>
      </p:sp>
      <p:sp>
        <p:nvSpPr>
          <p:cNvPr id="14" name="">
            <a:extLst xmlns:a="http://schemas.openxmlformats.org/drawingml/2006/main">
              <a:ext uri="{FF2B5EF4-FFF2-40B4-BE49-F238E27FC236}">
                <a16:creationId xmlns:a16="http://schemas.microsoft.com/office/drawing/2014/main" id="{A5EA7328-C862-46AF-AD7E-5F1DA61193B7}"/>
              </a:ext>
            </a:extLst>
          </p:cNvPr>
          <p:cNvSpPr>
            <a:spLocks xmlns:a="http://schemas.openxmlformats.org/drawingml/2006/main" noGrp="1"/>
          </p:cNvSpPr>
          <p:nvPr/>
        </p:nvSpPr>
        <p:spPr>
          <a:xfrm xmlns:a="http://schemas.openxmlformats.org/drawingml/2006/main">
            <a:off x="781050" y="37719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D6D1B57-7129-4E56-97B0-7FAB80126E95}"/>
              </a:ext>
            </a:extLst>
          </p:cNvPr>
          <p:cNvSpPr>
            <a:spLocks xmlns:a="http://schemas.openxmlformats.org/drawingml/2006/main" noGrp="1"/>
          </p:cNvSpPr>
          <p:nvPr/>
        </p:nvSpPr>
        <p:spPr>
          <a:xfrm xmlns:a="http://schemas.openxmlformats.org/drawingml/2006/main">
            <a:off x="1476375" y="38004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Security</a:t>
            </a:r>
          </a:p>
        </p:txBody>
      </p:sp>
      <p:sp>
        <p:nvSpPr>
          <p:cNvPr id="16" name="">
            <a:extLst xmlns:a="http://schemas.openxmlformats.org/drawingml/2006/main">
              <a:ext uri="{FF2B5EF4-FFF2-40B4-BE49-F238E27FC236}">
                <a16:creationId xmlns:a16="http://schemas.microsoft.com/office/drawing/2014/main" id="{F308D64D-B5D9-4510-B60D-A343FB1B3540}"/>
              </a:ext>
            </a:extLst>
          </p:cNvPr>
          <p:cNvSpPr>
            <a:spLocks xmlns:a="http://schemas.openxmlformats.org/drawingml/2006/main" noGrp="1"/>
          </p:cNvSpPr>
          <p:nvPr/>
        </p:nvSpPr>
        <p:spPr>
          <a:xfrm xmlns:a="http://schemas.openxmlformats.org/drawingml/2006/main">
            <a:off x="4095750" y="38004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No anonymous Blob or open RDP</a:t>
            </a:r>
          </a:p>
        </p:txBody>
      </p:sp>
      <p:sp>
        <p:nvSpPr>
          <p:cNvPr id="17" name="">
            <a:extLst xmlns:a="http://schemas.openxmlformats.org/drawingml/2006/main">
              <a:ext uri="{FF2B5EF4-FFF2-40B4-BE49-F238E27FC236}">
                <a16:creationId xmlns:a16="http://schemas.microsoft.com/office/drawing/2014/main" id="{5784A8E2-C8A6-4DBB-AC70-CD69AAF2D58C}"/>
              </a:ext>
            </a:extLst>
          </p:cNvPr>
          <p:cNvSpPr>
            <a:spLocks xmlns:a="http://schemas.openxmlformats.org/drawingml/2006/main" noGrp="1"/>
          </p:cNvSpPr>
          <p:nvPr/>
        </p:nvSpPr>
        <p:spPr>
          <a:xfrm xmlns:a="http://schemas.openxmlformats.org/drawingml/2006/main">
            <a:off x="781050" y="45529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B82399A-8C4C-49DB-B6AA-4D9CB6ED641C}"/>
              </a:ext>
            </a:extLst>
          </p:cNvPr>
          <p:cNvSpPr>
            <a:spLocks xmlns:a="http://schemas.openxmlformats.org/drawingml/2006/main" noGrp="1"/>
          </p:cNvSpPr>
          <p:nvPr/>
        </p:nvSpPr>
        <p:spPr>
          <a:xfrm xmlns:a="http://schemas.openxmlformats.org/drawingml/2006/main">
            <a:off x="1476375" y="45815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4918878F-30EF-4278-B99F-B620CD53115E}"/>
              </a:ext>
            </a:extLst>
          </p:cNvPr>
          <p:cNvSpPr>
            <a:spLocks xmlns:a="http://schemas.openxmlformats.org/drawingml/2006/main" noGrp="1"/>
          </p:cNvSpPr>
          <p:nvPr/>
        </p:nvSpPr>
        <p:spPr>
          <a:xfrm xmlns:a="http://schemas.openxmlformats.org/drawingml/2006/main">
            <a:off x="4095750" y="45815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HTTPS page loads</a:t>
            </a:r>
          </a:p>
        </p:txBody>
      </p:sp>
      <p:sp>
        <p:nvSpPr>
          <p:cNvPr id="20" name="">
            <a:extLst xmlns:a="http://schemas.openxmlformats.org/drawingml/2006/main">
              <a:ext uri="{FF2B5EF4-FFF2-40B4-BE49-F238E27FC236}">
                <a16:creationId xmlns:a16="http://schemas.microsoft.com/office/drawing/2014/main" id="{5476297C-A530-445E-B6B0-C58A80E8462F}"/>
              </a:ext>
            </a:extLst>
          </p:cNvPr>
          <p:cNvSpPr>
            <a:spLocks xmlns:a="http://schemas.openxmlformats.org/drawingml/2006/main" noGrp="1"/>
          </p:cNvSpPr>
          <p:nvPr/>
        </p:nvSpPr>
        <p:spPr>
          <a:xfrm xmlns:a="http://schemas.openxmlformats.org/drawingml/2006/main">
            <a:off x="8239125" y="1619250"/>
            <a:ext cx="3143250" cy="3238500"/>
          </a:xfrm>
          <a:prstGeom xmlns:a="http://schemas.openxmlformats.org/drawingml/2006/main" prst="roundRect">
            <a:avLst>
              <a:gd name="adj" fmla="val 2424"/>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1C2348CA-D27B-4505-86FD-BDFC69E16386}"/>
              </a:ext>
            </a:extLst>
          </p:cNvPr>
          <p:cNvSpPr>
            <a:spLocks xmlns:a="http://schemas.openxmlformats.org/drawingml/2006/main" noGrp="1"/>
          </p:cNvSpPr>
          <p:nvPr/>
        </p:nvSpPr>
        <p:spPr>
          <a:xfrm xmlns:a="http://schemas.openxmlformats.org/drawingml/2006/main">
            <a:off x="8572500" y="18859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Common blockers</a:t>
            </a:r>
          </a:p>
        </p:txBody>
      </p:sp>
      <p:sp>
        <p:nvSpPr>
          <p:cNvPr id="22" name="">
            <a:extLst xmlns:a="http://schemas.openxmlformats.org/drawingml/2006/main">
              <a:ext uri="{FF2B5EF4-FFF2-40B4-BE49-F238E27FC236}">
                <a16:creationId xmlns:a16="http://schemas.microsoft.com/office/drawing/2014/main" id="{C125816F-1291-42C5-988F-4497FAE22E30}"/>
              </a:ext>
            </a:extLst>
          </p:cNvPr>
          <p:cNvSpPr>
            <a:spLocks xmlns:a="http://schemas.openxmlformats.org/drawingml/2006/main" noGrp="1"/>
          </p:cNvSpPr>
          <p:nvPr/>
        </p:nvSpPr>
        <p:spPr>
          <a:xfrm xmlns:a="http://schemas.openxmlformats.org/drawingml/2006/main">
            <a:off x="8648700" y="2524125"/>
            <a:ext cx="2333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67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Permission denied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Region or size unavailable</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Name already used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Policy blocked the setting</a:t>
            </a:r>
          </a:p>
        </p:txBody>
      </p:sp>
      <p:sp>
        <p:nvSpPr>
          <p:cNvPr id="23" name="">
            <a:extLst xmlns:a="http://schemas.openxmlformats.org/drawingml/2006/main">
              <a:ext uri="{FF2B5EF4-FFF2-40B4-BE49-F238E27FC236}">
                <a16:creationId xmlns:a16="http://schemas.microsoft.com/office/drawing/2014/main" id="{469CB9ED-E73B-4594-A3A9-CE3A40CF4ED2}"/>
              </a:ext>
            </a:extLst>
          </p:cNvPr>
          <p:cNvSpPr>
            <a:spLocks xmlns:a="http://schemas.openxmlformats.org/drawingml/2006/main" noGrp="1"/>
          </p:cNvSpPr>
          <p:nvPr/>
        </p:nvSpPr>
        <p:spPr>
          <a:xfrm xmlns:a="http://schemas.openxmlformats.org/drawingml/2006/main">
            <a:off x="7762875" y="53816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18"/>
          </a:bodyPr>
          <a:lstStyle xmlns:a="http://schemas.openxmlformats.org/drawingml/2006/main"/>
          <a:p xmlns:a="http://schemas.openxmlformats.org/drawingml/2006/main">
            <a:pPr algn="r">
              <a:defRPr sz="1350" b="1">
                <a:solidFill>
                  <a:srgbClr val="D83B01"/>
                </a:solidFill>
                <a:latin typeface="Arial"/>
                <a:ea typeface="Arial"/>
                <a:cs typeface="Arial"/>
              </a:defRPr>
            </a:pPr>
            <a:r>
              <a:rPr sz="1350" b="1">
                <a:solidFill>
                  <a:srgbClr val="D83B01"/>
                </a:solidFill>
                <a:latin typeface="Arial"/>
                <a:ea typeface="Arial"/>
                <a:cs typeface="Arial"/>
              </a:rPr>
              <a:t>Ask the instructor before changing scope, role, region, or security rules.</a:t>
            </a:r>
          </a:p>
        </p:txBody>
      </p:sp>
    </p:spTree>
    <p:extLst>
      <p:ext uri="{BB962C8B-B14F-4D97-AF65-F5344CB8AC3E}">
        <p14:creationId xmlns:p14="http://schemas.microsoft.com/office/powerpoint/2010/main" val="13473799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FC5AD73-2294-44FD-9713-6F1B45BFAD00}"/>
              </a:ext>
            </a:extLst>
          </p:cNvPr>
          <p:cNvSpPr>
            <a:spLocks xmlns:a="http://schemas.openxmlformats.org/drawingml/2006/main" noGrp="1"/>
          </p:cNvSpPr>
          <p:nvPr/>
        </p:nvSpPr>
        <p:spPr>
          <a:xfrm xmlns:a="http://schemas.openxmlformats.org/drawingml/2006/main">
            <a:off x="64770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Cleanup completes the lab</a:t>
            </a:r>
          </a:p>
        </p:txBody>
      </p:sp>
      <p:sp>
        <p:nvSpPr>
          <p:cNvPr id="2" name="">
            <a:extLst xmlns:a="http://schemas.openxmlformats.org/drawingml/2006/main">
              <a:ext uri="{FF2B5EF4-FFF2-40B4-BE49-F238E27FC236}">
                <a16:creationId xmlns:a16="http://schemas.microsoft.com/office/drawing/2014/main" id="{6E371A97-09C8-419C-829A-234326A7E862}"/>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8F728E-9934-4B51-9ABF-417FB8CB63FA}"/>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Delete the exact Resource Group and verify the result</a:t>
            </a:r>
          </a:p>
        </p:txBody>
      </p:sp>
      <p:sp>
        <p:nvSpPr>
          <p:cNvPr id="4" name="">
            <a:extLst xmlns:a="http://schemas.openxmlformats.org/drawingml/2006/main">
              <a:ext uri="{FF2B5EF4-FFF2-40B4-BE49-F238E27FC236}">
                <a16:creationId xmlns:a16="http://schemas.microsoft.com/office/drawing/2014/main" id="{7C42641D-3EC3-4BEF-A5CC-4150D7570398}"/>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undefined</a:t>
            </a:r>
          </a:p>
        </p:txBody>
      </p:sp>
      <p:sp>
        <p:nvSpPr>
          <p:cNvPr id="5" name="">
            <a:extLst xmlns:a="http://schemas.openxmlformats.org/drawingml/2006/main">
              <a:ext uri="{FF2B5EF4-FFF2-40B4-BE49-F238E27FC236}">
                <a16:creationId xmlns:a16="http://schemas.microsoft.com/office/drawing/2014/main" id="{64154829-C841-4EAC-9405-A5F4A9C64D45}"/>
              </a:ext>
            </a:extLst>
          </p:cNvPr>
          <p:cNvSpPr>
            <a:spLocks xmlns:a="http://schemas.openxmlformats.org/drawingml/2006/main" noGrp="1"/>
          </p:cNvSpPr>
          <p:nvPr/>
        </p:nvSpPr>
        <p:spPr>
          <a:xfrm xmlns:a="http://schemas.openxmlformats.org/drawingml/2006/main">
            <a:off x="1143000" y="1666875"/>
            <a:ext cx="9906000" cy="1000125"/>
          </a:xfrm>
          <a:prstGeom xmlns:a="http://schemas.openxmlformats.org/drawingml/2006/main" prst="roundRect">
            <a:avLst>
              <a:gd name="adj" fmla="val 7619"/>
            </a:avLst>
          </a:prstGeom>
          <a:solidFill xmlns:a="http://schemas.openxmlformats.org/drawingml/2006/main">
            <a:srgbClr val="FFF4E8"/>
          </a:solidFill>
          <a:ln xmlns:a="http://schemas.openxmlformats.org/drawingml/2006/main" w="19050">
            <a:solidFill>
              <a:srgbClr val="D83B01"/>
            </a:solidFill>
          </a:ln>
        </p:spPr>
      </p:sp>
      <p:sp>
        <p:nvSpPr>
          <p:cNvPr id="6" name="">
            <a:extLst xmlns:a="http://schemas.openxmlformats.org/drawingml/2006/main">
              <a:ext uri="{FF2B5EF4-FFF2-40B4-BE49-F238E27FC236}">
                <a16:creationId xmlns:a16="http://schemas.microsoft.com/office/drawing/2014/main" id="{9CC3736A-C48C-4616-8165-F7DE6A6F07F6}"/>
              </a:ext>
            </a:extLst>
          </p:cNvPr>
          <p:cNvSpPr>
            <a:spLocks xmlns:a="http://schemas.openxmlformats.org/drawingml/2006/main" noGrp="1"/>
          </p:cNvSpPr>
          <p:nvPr/>
        </p:nvSpPr>
        <p:spPr>
          <a:xfrm xmlns:a="http://schemas.openxmlformats.org/drawingml/2006/main">
            <a:off x="1524000" y="1952625"/>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D83B01"/>
                </a:solidFill>
                <a:latin typeface="Arial"/>
                <a:ea typeface="Arial"/>
                <a:cs typeface="Arial"/>
              </a:defRPr>
            </a:pPr>
            <a:r>
              <a:rPr sz="2025" b="1">
                <a:solidFill>
                  <a:srgbClr val="D83B01"/>
                </a:solidFill>
                <a:latin typeface="Arial"/>
                <a:ea typeface="Arial"/>
                <a:cs typeface="Arial"/>
              </a:rPr>
              <a:t>Deleting a Resource Group permanently deletes every resource inside it</a:t>
            </a:r>
          </a:p>
        </p:txBody>
      </p:sp>
      <p:sp>
        <p:nvSpPr>
          <p:cNvPr id="7" name="">
            <a:extLst xmlns:a="http://schemas.openxmlformats.org/drawingml/2006/main">
              <a:ext uri="{FF2B5EF4-FFF2-40B4-BE49-F238E27FC236}">
                <a16:creationId xmlns:a16="http://schemas.microsoft.com/office/drawing/2014/main" id="{C7C315A6-FC0D-47B7-B24F-45EAEB402284}"/>
              </a:ext>
            </a:extLst>
          </p:cNvPr>
          <p:cNvSpPr>
            <a:spLocks xmlns:a="http://schemas.openxmlformats.org/drawingml/2006/main" noGrp="1"/>
          </p:cNvSpPr>
          <p:nvPr/>
        </p:nvSpPr>
        <p:spPr>
          <a:xfrm xmlns:a="http://schemas.openxmlformats.org/drawingml/2006/main">
            <a:off x="762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ECD4B5C8-C649-4F84-BA4E-EB894C62E314}"/>
              </a:ext>
            </a:extLst>
          </p:cNvPr>
          <p:cNvSpPr>
            <a:spLocks xmlns:a="http://schemas.openxmlformats.org/drawingml/2006/main" noGrp="1"/>
          </p:cNvSpPr>
          <p:nvPr/>
        </p:nvSpPr>
        <p:spPr>
          <a:xfrm xmlns:a="http://schemas.openxmlformats.org/drawingml/2006/main">
            <a:off x="333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Review contents</a:t>
            </a:r>
          </a:p>
        </p:txBody>
      </p:sp>
      <p:sp>
        <p:nvSpPr>
          <p:cNvPr id="9" name="">
            <a:extLst xmlns:a="http://schemas.openxmlformats.org/drawingml/2006/main">
              <a:ext uri="{FF2B5EF4-FFF2-40B4-BE49-F238E27FC236}">
                <a16:creationId xmlns:a16="http://schemas.microsoft.com/office/drawing/2014/main" id="{1BB671A3-CD10-4B15-BE7D-82548189F438}"/>
              </a:ext>
            </a:extLst>
          </p:cNvPr>
          <p:cNvSpPr>
            <a:spLocks xmlns:a="http://schemas.openxmlformats.org/drawingml/2006/main" noGrp="1"/>
          </p:cNvSpPr>
          <p:nvPr/>
        </p:nvSpPr>
        <p:spPr>
          <a:xfrm xmlns:a="http://schemas.openxmlformats.org/drawingml/2006/main">
            <a:off x="1447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BDE8B4-D76E-4E53-BAFD-D37825C441B4}"/>
              </a:ext>
            </a:extLst>
          </p:cNvPr>
          <p:cNvSpPr>
            <a:spLocks xmlns:a="http://schemas.openxmlformats.org/drawingml/2006/main" noGrp="1"/>
          </p:cNvSpPr>
          <p:nvPr/>
        </p:nvSpPr>
        <p:spPr>
          <a:xfrm xmlns:a="http://schemas.openxmlformats.org/drawingml/2006/main">
            <a:off x="36195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F8DDFA4-49DE-40FB-9EAE-3EF5148BF903}"/>
              </a:ext>
            </a:extLst>
          </p:cNvPr>
          <p:cNvSpPr>
            <a:spLocks xmlns:a="http://schemas.openxmlformats.org/drawingml/2006/main" noGrp="1"/>
          </p:cNvSpPr>
          <p:nvPr/>
        </p:nvSpPr>
        <p:spPr>
          <a:xfrm xmlns:a="http://schemas.openxmlformats.org/drawingml/2006/main">
            <a:off x="3190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Confirm exact name</a:t>
            </a:r>
          </a:p>
        </p:txBody>
      </p:sp>
      <p:sp>
        <p:nvSpPr>
          <p:cNvPr id="12" name="">
            <a:extLst xmlns:a="http://schemas.openxmlformats.org/drawingml/2006/main">
              <a:ext uri="{FF2B5EF4-FFF2-40B4-BE49-F238E27FC236}">
                <a16:creationId xmlns:a16="http://schemas.microsoft.com/office/drawing/2014/main" id="{895A7E0F-9DA7-4444-A249-CD711867A917}"/>
              </a:ext>
            </a:extLst>
          </p:cNvPr>
          <p:cNvSpPr>
            <a:spLocks xmlns:a="http://schemas.openxmlformats.org/drawingml/2006/main" noGrp="1"/>
          </p:cNvSpPr>
          <p:nvPr/>
        </p:nvSpPr>
        <p:spPr>
          <a:xfrm xmlns:a="http://schemas.openxmlformats.org/drawingml/2006/main">
            <a:off x="43053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C85BFA-E216-46F6-BDD0-68E7D127DDED}"/>
              </a:ext>
            </a:extLst>
          </p:cNvPr>
          <p:cNvSpPr>
            <a:spLocks xmlns:a="http://schemas.openxmlformats.org/drawingml/2006/main" noGrp="1"/>
          </p:cNvSpPr>
          <p:nvPr/>
        </p:nvSpPr>
        <p:spPr>
          <a:xfrm xmlns:a="http://schemas.openxmlformats.org/drawingml/2006/main">
            <a:off x="6477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F10199B2-A92C-4F37-A2AC-6323DA239339}"/>
              </a:ext>
            </a:extLst>
          </p:cNvPr>
          <p:cNvSpPr>
            <a:spLocks xmlns:a="http://schemas.openxmlformats.org/drawingml/2006/main" noGrp="1"/>
          </p:cNvSpPr>
          <p:nvPr/>
        </p:nvSpPr>
        <p:spPr>
          <a:xfrm xmlns:a="http://schemas.openxmlformats.org/drawingml/2006/main">
            <a:off x="6048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77"/>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Delete Resource Group</a:t>
            </a:r>
          </a:p>
        </p:txBody>
      </p:sp>
      <p:sp>
        <p:nvSpPr>
          <p:cNvPr id="15" name="">
            <a:extLst xmlns:a="http://schemas.openxmlformats.org/drawingml/2006/main">
              <a:ext uri="{FF2B5EF4-FFF2-40B4-BE49-F238E27FC236}">
                <a16:creationId xmlns:a16="http://schemas.microsoft.com/office/drawing/2014/main" id="{984D8A9B-87D9-4125-A57D-0691FF25FC55}"/>
              </a:ext>
            </a:extLst>
          </p:cNvPr>
          <p:cNvSpPr>
            <a:spLocks xmlns:a="http://schemas.openxmlformats.org/drawingml/2006/main" noGrp="1"/>
          </p:cNvSpPr>
          <p:nvPr/>
        </p:nvSpPr>
        <p:spPr>
          <a:xfrm xmlns:a="http://schemas.openxmlformats.org/drawingml/2006/main">
            <a:off x="7162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32CE36-1B11-43E4-B9E5-96B227D89101}"/>
              </a:ext>
            </a:extLst>
          </p:cNvPr>
          <p:cNvSpPr>
            <a:spLocks xmlns:a="http://schemas.openxmlformats.org/drawingml/2006/main" noGrp="1"/>
          </p:cNvSpPr>
          <p:nvPr/>
        </p:nvSpPr>
        <p:spPr>
          <a:xfrm xmlns:a="http://schemas.openxmlformats.org/drawingml/2006/main">
            <a:off x="9334500" y="3476625"/>
            <a:ext cx="685800" cy="6858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81B5E411-2145-4556-AF49-9796D68C5451}"/>
              </a:ext>
            </a:extLst>
          </p:cNvPr>
          <p:cNvSpPr>
            <a:spLocks xmlns:a="http://schemas.openxmlformats.org/drawingml/2006/main" noGrp="1"/>
          </p:cNvSpPr>
          <p:nvPr/>
        </p:nvSpPr>
        <p:spPr>
          <a:xfrm xmlns:a="http://schemas.openxmlformats.org/drawingml/2006/main">
            <a:off x="8905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Verify it is gone</a:t>
            </a:r>
          </a:p>
        </p:txBody>
      </p:sp>
      <p:sp>
        <p:nvSpPr>
          <p:cNvPr id="18" name="">
            <a:extLst xmlns:a="http://schemas.openxmlformats.org/drawingml/2006/main">
              <a:ext uri="{FF2B5EF4-FFF2-40B4-BE49-F238E27FC236}">
                <a16:creationId xmlns:a16="http://schemas.microsoft.com/office/drawing/2014/main" id="{B6BEC63C-3CD6-4A2E-B54B-85DE5C1CC081}"/>
              </a:ext>
            </a:extLst>
          </p:cNvPr>
          <p:cNvSpPr>
            <a:spLocks xmlns:a="http://schemas.openxmlformats.org/drawingml/2006/main" noGrp="1"/>
          </p:cNvSpPr>
          <p:nvPr/>
        </p:nvSpPr>
        <p:spPr>
          <a:xfrm xmlns:a="http://schemas.openxmlformats.org/drawingml/2006/main">
            <a:off x="3286125" y="5429250"/>
            <a:ext cx="5619750" cy="533400"/>
          </a:xfrm>
          <a:prstGeom xmlns:a="http://schemas.openxmlformats.org/drawingml/2006/main" prst="roundRect">
            <a:avLst>
              <a:gd name="adj" fmla="val 14286"/>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B54E1B1A-65C9-459E-AF36-42DFB8AFA62A}"/>
              </a:ext>
            </a:extLst>
          </p:cNvPr>
          <p:cNvSpPr>
            <a:spLocks xmlns:a="http://schemas.openxmlformats.org/drawingml/2006/main" noGrp="1"/>
          </p:cNvSpPr>
          <p:nvPr/>
        </p:nvSpPr>
        <p:spPr>
          <a:xfrm xmlns:a="http://schemas.openxmlformats.org/drawingml/2006/main">
            <a:off x="3524250" y="55721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 group exists --name rg-mmaug-azurefundamentals</a:t>
            </a:r>
          </a:p>
        </p:txBody>
      </p:sp>
      <p:sp>
        <p:nvSpPr>
          <p:cNvPr id="20" name="">
            <a:extLst xmlns:a="http://schemas.openxmlformats.org/drawingml/2006/main">
              <a:ext uri="{FF2B5EF4-FFF2-40B4-BE49-F238E27FC236}">
                <a16:creationId xmlns:a16="http://schemas.microsoft.com/office/drawing/2014/main" id="{A6FF559D-47C0-4AFE-B74F-67D50032CD10}"/>
              </a:ext>
            </a:extLst>
          </p:cNvPr>
          <p:cNvSpPr>
            <a:spLocks xmlns:a="http://schemas.openxmlformats.org/drawingml/2006/main" noGrp="1"/>
          </p:cNvSpPr>
          <p:nvPr/>
        </p:nvSpPr>
        <p:spPr>
          <a:xfrm xmlns:a="http://schemas.openxmlformats.org/drawingml/2006/main">
            <a:off x="4762500" y="6048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7C10"/>
                </a:solidFill>
                <a:latin typeface="Arial"/>
                <a:ea typeface="Arial"/>
                <a:cs typeface="Arial"/>
              </a:defRPr>
            </a:pPr>
            <a:r>
              <a:rPr sz="1350" b="1">
                <a:solidFill>
                  <a:srgbClr val="107C10"/>
                </a:solidFill>
                <a:latin typeface="Arial"/>
                <a:ea typeface="Arial"/>
                <a:cs typeface="Arial"/>
              </a:rPr>
              <a:t>Expected: false</a:t>
            </a:r>
          </a:p>
        </p:txBody>
      </p:sp>
    </p:spTree>
    <p:extLst>
      <p:ext uri="{BB962C8B-B14F-4D97-AF65-F5344CB8AC3E}">
        <p14:creationId xmlns:p14="http://schemas.microsoft.com/office/powerpoint/2010/main" val="18106807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2026-09-29T13:16:49.9020000Z</dcterms:created>
  <dcterms:modified xsi:type="dcterms:W3CDTF">2026-09-29T13:16:49.9030000Z</dcterms:modified>
</coreProperties>
</file>