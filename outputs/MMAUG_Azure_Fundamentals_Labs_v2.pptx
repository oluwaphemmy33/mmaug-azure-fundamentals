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27b790876d4005" /><Relationship Type="http://schemas.openxmlformats.org/officeDocument/2006/relationships/extended-properties" Target="/docProps/app.xml" Id="R7b4b65e84304485e" /><Relationship Type="http://schemas.openxmlformats.org/officeDocument/2006/relationships/officeDocument" Target="/ppt/presentation.xml" Id="Raeff7c1ef4f34fe0" /></Relationships>
</file>

<file path=ppt/presentation.xml><?xml version="1.0" encoding="utf-8"?>
<p:presentation xmlns:p="http://schemas.openxmlformats.org/presentationml/2006/main">
  <p:sldMasterIdLst>
    <p:sldMasterId xmlns:r="http://schemas.openxmlformats.org/officeDocument/2006/relationships" id="2147483648" r:id="R17bd8ced1a764a88"/>
  </p:sldMasterIdLst>
  <p:notesMasterIdLst>
    <p:notesMasterId xmlns:r="http://schemas.openxmlformats.org/officeDocument/2006/relationships" r:id="R505e2c0f01294ad3"/>
  </p:notesMasterIdLst>
  <p:sldIdLst>
    <p:sldId xmlns:r="http://schemas.openxmlformats.org/officeDocument/2006/relationships" id="256" r:id="R847197d7af1f4684"/>
    <p:sldId xmlns:r="http://schemas.openxmlformats.org/officeDocument/2006/relationships" id="257" r:id="Rb4bd67648b754883"/>
    <p:sldId xmlns:r="http://schemas.openxmlformats.org/officeDocument/2006/relationships" id="258" r:id="R70427c04e5a14361"/>
    <p:sldId xmlns:r="http://schemas.openxmlformats.org/officeDocument/2006/relationships" id="259" r:id="R9a759c924cfa4df4"/>
    <p:sldId xmlns:r="http://schemas.openxmlformats.org/officeDocument/2006/relationships" id="260" r:id="R75f95d822a8a4762"/>
    <p:sldId xmlns:r="http://schemas.openxmlformats.org/officeDocument/2006/relationships" id="261" r:id="R3af4607e63d74502"/>
    <p:sldId xmlns:r="http://schemas.openxmlformats.org/officeDocument/2006/relationships" id="262" r:id="R33173d7aa97c47d2"/>
    <p:sldId xmlns:r="http://schemas.openxmlformats.org/officeDocument/2006/relationships" id="263" r:id="R752bb127c62f44fd"/>
    <p:sldId xmlns:r="http://schemas.openxmlformats.org/officeDocument/2006/relationships" id="264" r:id="R1272238c57064551"/>
    <p:sldId xmlns:r="http://schemas.openxmlformats.org/officeDocument/2006/relationships" id="265" r:id="Rb98d265b54f64378"/>
    <p:sldId xmlns:r="http://schemas.openxmlformats.org/officeDocument/2006/relationships" id="266" r:id="R44c05da2cefe49d9"/>
    <p:sldId xmlns:r="http://schemas.openxmlformats.org/officeDocument/2006/relationships" id="267" r:id="R343e77df9e394264"/>
    <p:sldId xmlns:r="http://schemas.openxmlformats.org/officeDocument/2006/relationships" id="268" r:id="R737e8034c9874ea5"/>
    <p:sldId xmlns:r="http://schemas.openxmlformats.org/officeDocument/2006/relationships" id="269" r:id="R8e0e53cb86c24c8a"/>
    <p:sldId xmlns:r="http://schemas.openxmlformats.org/officeDocument/2006/relationships" id="270" r:id="R05af7ea9bf994248"/>
    <p:sldId xmlns:r="http://schemas.openxmlformats.org/officeDocument/2006/relationships" id="271" r:id="Ra7aeb2362502454a"/>
    <p:sldId xmlns:r="http://schemas.openxmlformats.org/officeDocument/2006/relationships" id="272" r:id="R5123967d14694947"/>
    <p:sldId xmlns:r="http://schemas.openxmlformats.org/officeDocument/2006/relationships" id="273" r:id="Rb168558c352f48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34871fbeef4f27" /><Relationship Type="http://schemas.openxmlformats.org/officeDocument/2006/relationships/slideMaster" Target="/ppt/slideMasters/slideMaster1.xml" Id="R17bd8ced1a764a88" /><Relationship Type="http://schemas.openxmlformats.org/officeDocument/2006/relationships/notesMaster" Target="/ppt/notesMasters/notesMaster1.xml" Id="R505e2c0f01294ad3" /><Relationship Type="http://schemas.openxmlformats.org/officeDocument/2006/relationships/presProps" Target="/ppt/presProps.xml" Id="R3d8b7dc120484d26" /><Relationship Type="http://schemas.openxmlformats.org/officeDocument/2006/relationships/tableStyles" Target="/ppt/tableStyles.xml" Id="R69ffff08147d4b48" /><Relationship Type="http://schemas.openxmlformats.org/officeDocument/2006/relationships/slide" Target="/ppt/slides/slide1.xml" Id="R847197d7af1f4684" /><Relationship Type="http://schemas.openxmlformats.org/officeDocument/2006/relationships/slide" Target="/ppt/slides/slide2.xml" Id="Rb4bd67648b754883" /><Relationship Type="http://schemas.openxmlformats.org/officeDocument/2006/relationships/slide" Target="/ppt/slides/slide3.xml" Id="R70427c04e5a14361" /><Relationship Type="http://schemas.openxmlformats.org/officeDocument/2006/relationships/slide" Target="/ppt/slides/slide4.xml" Id="R9a759c924cfa4df4" /><Relationship Type="http://schemas.openxmlformats.org/officeDocument/2006/relationships/slide" Target="/ppt/slides/slide5.xml" Id="R75f95d822a8a4762" /><Relationship Type="http://schemas.openxmlformats.org/officeDocument/2006/relationships/slide" Target="/ppt/slides/slide6.xml" Id="R3af4607e63d74502" /><Relationship Type="http://schemas.openxmlformats.org/officeDocument/2006/relationships/slide" Target="/ppt/slides/slide7.xml" Id="R33173d7aa97c47d2" /><Relationship Type="http://schemas.openxmlformats.org/officeDocument/2006/relationships/slide" Target="/ppt/slides/slide8.xml" Id="R752bb127c62f44fd" /><Relationship Type="http://schemas.openxmlformats.org/officeDocument/2006/relationships/slide" Target="/ppt/slides/slide9.xml" Id="R1272238c57064551" /><Relationship Type="http://schemas.openxmlformats.org/officeDocument/2006/relationships/slide" Target="/ppt/slides/slide10.xml" Id="Rb98d265b54f64378" /><Relationship Type="http://schemas.openxmlformats.org/officeDocument/2006/relationships/slide" Target="/ppt/slides/slide11.xml" Id="R44c05da2cefe49d9" /><Relationship Type="http://schemas.openxmlformats.org/officeDocument/2006/relationships/slide" Target="/ppt/slides/slide12.xml" Id="R343e77df9e394264" /><Relationship Type="http://schemas.openxmlformats.org/officeDocument/2006/relationships/slide" Target="/ppt/slides/slide13.xml" Id="R737e8034c9874ea5" /><Relationship Type="http://schemas.openxmlformats.org/officeDocument/2006/relationships/slide" Target="/ppt/slides/slide14.xml" Id="R8e0e53cb86c24c8a" /><Relationship Type="http://schemas.openxmlformats.org/officeDocument/2006/relationships/slide" Target="/ppt/slides/slide15.xml" Id="R05af7ea9bf994248" /><Relationship Type="http://schemas.openxmlformats.org/officeDocument/2006/relationships/slide" Target="/ppt/slides/slide16.xml" Id="Ra7aeb2362502454a" /><Relationship Type="http://schemas.openxmlformats.org/officeDocument/2006/relationships/slide" Target="/ppt/slides/slide17.xml" Id="R5123967d14694947" /><Relationship Type="http://schemas.openxmlformats.org/officeDocument/2006/relationships/slide" Target="/ppt/slides/slide18.xml" Id="Rb168558c352f48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8c752413504a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5b552862ff414d" /><Relationship Type="http://schemas.openxmlformats.org/officeDocument/2006/relationships/notesMaster" Target="/ppt/notesMasters/notesMaster1.xml" Id="Rebe9860f3bba41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3f2d4ff0454a2e" /><Relationship Type="http://schemas.openxmlformats.org/officeDocument/2006/relationships/notesMaster" Target="/ppt/notesMasters/notesMaster1.xml" Id="Re145c71743be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e6f067820e477f" /><Relationship Type="http://schemas.openxmlformats.org/officeDocument/2006/relationships/notesMaster" Target="/ppt/notesMasters/notesMaster1.xml" Id="R905c487a4bed4c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9987a7fcbe4b75" /><Relationship Type="http://schemas.openxmlformats.org/officeDocument/2006/relationships/notesMaster" Target="/ppt/notesMasters/notesMaster1.xml" Id="R7f9e160db5024a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6854379e3948a1" /><Relationship Type="http://schemas.openxmlformats.org/officeDocument/2006/relationships/notesMaster" Target="/ppt/notesMasters/notesMaster1.xml" Id="R6b53c00ca12a43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54809214874ac0" /><Relationship Type="http://schemas.openxmlformats.org/officeDocument/2006/relationships/notesMaster" Target="/ppt/notesMasters/notesMaster1.xml" Id="R1ad12f6d58384a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fdfe197c6846b2" /><Relationship Type="http://schemas.openxmlformats.org/officeDocument/2006/relationships/notesMaster" Target="/ppt/notesMasters/notesMaster1.xml" Id="R8423c730dc4949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5f43d17ba4418f" /><Relationship Type="http://schemas.openxmlformats.org/officeDocument/2006/relationships/notesMaster" Target="/ppt/notesMasters/notesMaster1.xml" Id="R97b5bf1d073543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d093ec2373490d" /><Relationship Type="http://schemas.openxmlformats.org/officeDocument/2006/relationships/notesMaster" Target="/ppt/notesMasters/notesMaster1.xml" Id="R191e0d9023c742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83e359d9484d16" /><Relationship Type="http://schemas.openxmlformats.org/officeDocument/2006/relationships/notesMaster" Target="/ppt/notesMasters/notesMaster1.xml" Id="R73ed33b1d8bc4d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00d9e1daa8435b" /><Relationship Type="http://schemas.openxmlformats.org/officeDocument/2006/relationships/notesMaster" Target="/ppt/notesMasters/notesMaster1.xml" Id="R05be72a0de2940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b9cbcec25b4cf6" /><Relationship Type="http://schemas.openxmlformats.org/officeDocument/2006/relationships/notesMaster" Target="/ppt/notesMasters/notesMaster1.xml" Id="Rbef7ae08c6e040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857bd7fe324159" /><Relationship Type="http://schemas.openxmlformats.org/officeDocument/2006/relationships/notesMaster" Target="/ppt/notesMasters/notesMaster1.xml" Id="R64a17aebc1d14d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4b6e49d6d24700" /><Relationship Type="http://schemas.openxmlformats.org/officeDocument/2006/relationships/notesMaster" Target="/ppt/notesMasters/notesMaster1.xml" Id="Rb0e612ddfccc4f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e2ff9c06814b30" /><Relationship Type="http://schemas.openxmlformats.org/officeDocument/2006/relationships/notesMaster" Target="/ppt/notesMasters/notesMaster1.xml" Id="R28857cc5809242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2797ae95644095" /><Relationship Type="http://schemas.openxmlformats.org/officeDocument/2006/relationships/notesMaster" Target="/ppt/notesMasters/notesMaster1.xml" Id="Rd16d27d0359540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17756948ca4d78" /><Relationship Type="http://schemas.openxmlformats.org/officeDocument/2006/relationships/notesMaster" Target="/ppt/notesMasters/notesMaster1.xml" Id="R4ac7464a3b4a40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92b7a9ada74c19" /><Relationship Type="http://schemas.openxmlformats.org/officeDocument/2006/relationships/notesMaster" Target="/ppt/notesMasters/notesMaster1.xml" Id="Rbea071a163dc4b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explain that the session moves from simple cloud concepts into six guided labs. Ask for a show of hands from anyone using Azure for the first time. Generated cover artwork created for this deck. No external factual source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route map. The session follows the order shown, then finishes with hands-on validation and cleanup. Ask learners which step feels least familiar.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cloud computing before using service names. Explain CapEx as buying equipment and OpEx as paying for ongoing use. Clarify that the customer still owns responsibilities such as identity, data, and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housing analogy if helpful. IaaS resembles renting an empty apartment, PaaS resembles a serviced apartment, and SaaS resembles a hotel room. Avoid stretching the analogy. Ask which model gives the customer the most operating system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level in plain language. Policies and role assignments at a higher scope can affect lower scopes. A resource group does not force all resources into one physical server or one region. Source: Microsoft Learn, Azure Resource Manager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lab Resource Group name. Explain that deletion removes every contained resource. Pause on the word lifecycle. Ask what could go wrong if an unrelated production resource were placed in a temporary lab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containers and AKS conceptual. Explain that containerization alone does not require Kubernetes. For this workshop, the VM demonstrates IaaS and App Service demonstrates PaaS.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supporting resource before opening the VM creation page. The lab does not require signing in to the VM, so learners should choose no inbound ports unless the instructor explicitly approves a restricted rule. Source: Microsoft Learn, Windows VM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VNet first, then subnet, NIC, IP addresses, and NSG. Avoid detailed subnet mathematics. The public IP does not create access by itself. The NSG must also permit traffic. Direct internet exposure increases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Blob as object storage for files. Keep the container private. Mention that storage account names are globally unique and allow only lowercase letters and numbers. Source: Microsoft Learn, Azure Storage redundancy and Blob portal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Microsoft Entra ID as the identity system. Explain Reader, Contributor, and Owner in simple terms. Students must not change RBAC in the bootcamp environment. Ask why Owner would be excessive for someone who only needs to view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IaaS and PaaS responsibilities. The Web App receives an HTTPS hostname. The App Service plan supplies compute. ZIP deployment requires index.html at the package root. Source: Microsoft Learn, Deploy files to Azure App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Activity Log records control-plane changes, not the content of application requests. Ask learners to name one event they expect to see after completing the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quote prices because they vary by region, agreement, and date. Explain that students may not have permission to create budgets. Stopping a VM is not the same as deleting its disk, public IP, or other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before the labs. Keep the clock visible. Ask learners to stop and raise a hand if their subscription or region differs. Use the prepared VM if deployment remains incomplete after the planned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topology from left to right. Ask learners to point to the resources that belong to networking, storage, and web hosting. Reinforce that one cleanup action targets the complete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calm troubleshooting. Check subscription, exact resource, and deployment details. Do not make unnecessary RBAC changes. Do not weaken network or storage security to make an error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warning aloud. Learners must inspect the Resource Group before deletion and stop if anything looks unfamiliar. The final CLI result should be false. Source: Microsoft Learn, Delete Azure Resource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212ba1f1d647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a69c6c534847bb" /><Relationship Type="http://schemas.openxmlformats.org/officeDocument/2006/relationships/slideLayout" Target="/ppt/slideLayouts/slideLayout1.xml" Id="R627941142bdc4e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941142bdc4e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a90b4b229644e7" /><Relationship Type="http://schemas.openxmlformats.org/officeDocument/2006/relationships/image" Target="/ppt/media/image.png" Id="Rba79ea90c6534ab0" /><Relationship Type="http://schemas.openxmlformats.org/officeDocument/2006/relationships/notesSlide" Target="/ppt/notesSlides/notesSlide1.xml" Id="R60fda73501df44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9928a897a24035" /><Relationship Type="http://schemas.openxmlformats.org/officeDocument/2006/relationships/notesSlide" Target="/ppt/notesSlides/notesSlide2.xml" Id="Rf96d3c3402eb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f9e343c3e244a3" /><Relationship Type="http://schemas.openxmlformats.org/officeDocument/2006/relationships/notesSlide" Target="/ppt/notesSlides/notesSlide3.xml" Id="R8530f3231bfb4b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300c5219d74131" /><Relationship Type="http://schemas.openxmlformats.org/officeDocument/2006/relationships/notesSlide" Target="/ppt/notesSlides/notesSlide4.xml" Id="Rd25d35feef5f48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af103e424f42eb" /><Relationship Type="http://schemas.openxmlformats.org/officeDocument/2006/relationships/notesSlide" Target="/ppt/notesSlides/notesSlide5.xml" Id="Rf8e3bf23fb934e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a82d7ee6594720" /><Relationship Type="http://schemas.openxmlformats.org/officeDocument/2006/relationships/notesSlide" Target="/ppt/notesSlides/notesSlide6.xml" Id="R2525172d656845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7f31d864464acc" /><Relationship Type="http://schemas.openxmlformats.org/officeDocument/2006/relationships/notesSlide" Target="/ppt/notesSlides/notesSlide7.xml" Id="R44230823702748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4e0466da5d4eea" /><Relationship Type="http://schemas.openxmlformats.org/officeDocument/2006/relationships/notesSlide" Target="/ppt/notesSlides/notesSlide8.xml" Id="R7b21d82820e445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78ccea12424d54" /><Relationship Type="http://schemas.openxmlformats.org/officeDocument/2006/relationships/notesSlide" Target="/ppt/notesSlides/notesSlide9.xml" Id="R52931df0e4d24b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b9e100ab28413e" /><Relationship Type="http://schemas.openxmlformats.org/officeDocument/2006/relationships/notesSlide" Target="/ppt/notesSlides/notesSlide10.xml" Id="R1ead1cdb7a444e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0bd4e8fcd946dc" /><Relationship Type="http://schemas.openxmlformats.org/officeDocument/2006/relationships/notesSlide" Target="/ppt/notesSlides/notesSlide11.xml" Id="Rb47febb145fd4c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2864b168804db8" /><Relationship Type="http://schemas.openxmlformats.org/officeDocument/2006/relationships/notesSlide" Target="/ppt/notesSlides/notesSlide12.xml" Id="R1da2075211f14f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45d30126f8443b" /><Relationship Type="http://schemas.openxmlformats.org/officeDocument/2006/relationships/notesSlide" Target="/ppt/notesSlides/notesSlide13.xml" Id="R92e581b23e114c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479d0bd1e224fae" /><Relationship Type="http://schemas.openxmlformats.org/officeDocument/2006/relationships/notesSlide" Target="/ppt/notesSlides/notesSlide14.xml" Id="R7ee0ba4f27e04c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b8ea6d71e94bc4" /><Relationship Type="http://schemas.openxmlformats.org/officeDocument/2006/relationships/notesSlide" Target="/ppt/notesSlides/notesSlide15.xml" Id="Rfd3b1887f88745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0ca3e48253a4a01" /><Relationship Type="http://schemas.openxmlformats.org/officeDocument/2006/relationships/notesSlide" Target="/ppt/notesSlides/notesSlide16.xml" Id="R2b3b908711ec4a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374a008a994c0f" /><Relationship Type="http://schemas.openxmlformats.org/officeDocument/2006/relationships/notesSlide" Target="/ppt/notesSlides/notesSlide17.xml" Id="R1b7ab7e6243940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a4007154fa440d" /><Relationship Type="http://schemas.openxmlformats.org/officeDocument/2006/relationships/notesSlide" Target="/ppt/notesSlides/notesSlide18.xml" Id="R47165cdcddbc47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a79ea90c6534a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C85C3E-B8B4-416D-AC30-3EA6D8BA792F}"/>
              </a:ext>
            </a:extLst>
          </p:cNvPr>
          <p:cNvSpPr>
            <a:spLocks xmlns:a="http://schemas.openxmlformats.org/drawingml/2006/main" noGrp="1"/>
          </p:cNvSpPr>
          <p:nvPr/>
        </p:nvSpPr>
        <p:spPr>
          <a:xfrm xmlns:a="http://schemas.openxmlformats.org/drawingml/2006/main">
            <a:off x="666750" y="1333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Microsoft Azure</a:t>
            </a:r>
          </a:p>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Fundamentals</a:t>
            </a:r>
          </a:p>
        </p:txBody>
      </p:sp>
      <p:sp>
        <p:nvSpPr>
          <p:cNvPr id="3" name="">
            <a:extLst xmlns:a="http://schemas.openxmlformats.org/drawingml/2006/main">
              <a:ext uri="{FF2B5EF4-FFF2-40B4-BE49-F238E27FC236}">
                <a16:creationId xmlns:a16="http://schemas.microsoft.com/office/drawing/2014/main" id="{27D87394-16B1-447B-9790-DAACB00FF754}"/>
              </a:ext>
            </a:extLst>
          </p:cNvPr>
          <p:cNvSpPr>
            <a:spLocks xmlns:a="http://schemas.openxmlformats.org/drawingml/2006/main" noGrp="1"/>
          </p:cNvSpPr>
          <p:nvPr/>
        </p:nvSpPr>
        <p:spPr>
          <a:xfrm xmlns:a="http://schemas.openxmlformats.org/drawingml/2006/main">
            <a:off x="704850" y="31432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Two-hour hands-on introduction</a:t>
            </a:r>
          </a:p>
        </p:txBody>
      </p:sp>
      <p:sp>
        <p:nvSpPr>
          <p:cNvPr id="4" name="">
            <a:extLst xmlns:a="http://schemas.openxmlformats.org/drawingml/2006/main">
              <a:ext uri="{FF2B5EF4-FFF2-40B4-BE49-F238E27FC236}">
                <a16:creationId xmlns:a16="http://schemas.microsoft.com/office/drawing/2014/main" id="{254D6DF4-22DA-4C5F-A757-4B9CDA318E65}"/>
              </a:ext>
            </a:extLst>
          </p:cNvPr>
          <p:cNvSpPr>
            <a:spLocks xmlns:a="http://schemas.openxmlformats.org/drawingml/2006/main" noGrp="1"/>
          </p:cNvSpPr>
          <p:nvPr/>
        </p:nvSpPr>
        <p:spPr>
          <a:xfrm xmlns:a="http://schemas.openxmlformats.org/drawingml/2006/main">
            <a:off x="704850" y="37147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MMAUG 30-Day AI and DevOps Fundamentals Bootcamp</a:t>
            </a:r>
          </a:p>
        </p:txBody>
      </p:sp>
      <p:sp>
        <p:nvSpPr>
          <p:cNvPr id="5" name="">
            <a:extLst xmlns:a="http://schemas.openxmlformats.org/drawingml/2006/main">
              <a:ext uri="{FF2B5EF4-FFF2-40B4-BE49-F238E27FC236}">
                <a16:creationId xmlns:a16="http://schemas.microsoft.com/office/drawing/2014/main" id="{C0201427-BDAA-4B29-8E64-56D27895A7DE}"/>
              </a:ext>
            </a:extLst>
          </p:cNvPr>
          <p:cNvSpPr>
            <a:spLocks xmlns:a="http://schemas.openxmlformats.org/drawingml/2006/main" noGrp="1"/>
          </p:cNvSpPr>
          <p:nvPr/>
        </p:nvSpPr>
        <p:spPr>
          <a:xfrm xmlns:a="http://schemas.openxmlformats.org/drawingml/2006/main">
            <a:off x="704850" y="56578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Learn the concepts. Build the environment. Clean it up.</a:t>
            </a:r>
          </a:p>
        </p:txBody>
      </p:sp>
    </p:spTree>
    <p:extLst>
      <p:ext uri="{BB962C8B-B14F-4D97-AF65-F5344CB8AC3E}">
        <p14:creationId xmlns:p14="http://schemas.microsoft.com/office/powerpoint/2010/main" val="444631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79E7E3E-2123-48DA-9132-C2178A620C65}"/>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learning journey</a:t>
            </a:r>
          </a:p>
        </p:txBody>
      </p:sp>
      <p:sp>
        <p:nvSpPr>
          <p:cNvPr id="2" name="">
            <a:extLst xmlns:a="http://schemas.openxmlformats.org/drawingml/2006/main">
              <a:ext uri="{FF2B5EF4-FFF2-40B4-BE49-F238E27FC236}">
                <a16:creationId xmlns:a16="http://schemas.microsoft.com/office/drawing/2014/main" id="{0E2DE894-7253-44BB-92FF-E0694E77F025}"/>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19ABE5-3532-4D5A-82CC-3DDE602FF68E}"/>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Each idea prepares you for the next practical step</a:t>
            </a:r>
          </a:p>
        </p:txBody>
      </p:sp>
      <p:sp>
        <p:nvSpPr>
          <p:cNvPr id="4" name="">
            <a:extLst xmlns:a="http://schemas.openxmlformats.org/drawingml/2006/main">
              <a:ext uri="{FF2B5EF4-FFF2-40B4-BE49-F238E27FC236}">
                <a16:creationId xmlns:a16="http://schemas.microsoft.com/office/drawing/2014/main" id="{212EE2AE-5D2E-47F3-B3E4-51E740F0A03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02</a:t>
            </a:r>
          </a:p>
        </p:txBody>
      </p:sp>
      <p:sp>
        <p:nvSpPr>
          <p:cNvPr id="5" name="">
            <a:extLst xmlns:a="http://schemas.openxmlformats.org/drawingml/2006/main">
              <a:ext uri="{FF2B5EF4-FFF2-40B4-BE49-F238E27FC236}">
                <a16:creationId xmlns:a16="http://schemas.microsoft.com/office/drawing/2014/main" id="{6B82345C-6B40-4F97-AED8-1CE635D9C986}"/>
              </a:ext>
            </a:extLst>
          </p:cNvPr>
          <p:cNvSpPr>
            <a:spLocks xmlns:a="http://schemas.openxmlformats.org/drawingml/2006/main" noGrp="1"/>
          </p:cNvSpPr>
          <p:nvPr/>
        </p:nvSpPr>
        <p:spPr>
          <a:xfrm xmlns:a="http://schemas.openxmlformats.org/drawingml/2006/main">
            <a:off x="704850"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DAB0D97-6669-45E3-99F9-967D349D62DA}"/>
              </a:ext>
            </a:extLst>
          </p:cNvPr>
          <p:cNvSpPr>
            <a:spLocks xmlns:a="http://schemas.openxmlformats.org/drawingml/2006/main" noGrp="1"/>
          </p:cNvSpPr>
          <p:nvPr/>
        </p:nvSpPr>
        <p:spPr>
          <a:xfrm xmlns:a="http://schemas.openxmlformats.org/drawingml/2006/main">
            <a:off x="4762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8D618620-3444-447F-96B6-C42D225ED34F}"/>
              </a:ext>
            </a:extLst>
          </p:cNvPr>
          <p:cNvSpPr>
            <a:spLocks xmlns:a="http://schemas.openxmlformats.org/drawingml/2006/main" noGrp="1"/>
          </p:cNvSpPr>
          <p:nvPr/>
        </p:nvSpPr>
        <p:spPr>
          <a:xfrm xmlns:a="http://schemas.openxmlformats.org/drawingml/2006/main">
            <a:off x="13144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F81625-1066-43DC-8983-DEC14EA423AE}"/>
              </a:ext>
            </a:extLst>
          </p:cNvPr>
          <p:cNvSpPr>
            <a:spLocks xmlns:a="http://schemas.openxmlformats.org/drawingml/2006/main" noGrp="1"/>
          </p:cNvSpPr>
          <p:nvPr/>
        </p:nvSpPr>
        <p:spPr>
          <a:xfrm xmlns:a="http://schemas.openxmlformats.org/drawingml/2006/main">
            <a:off x="2085975"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F34992C5-39C3-4455-81DF-CE08B5EAFC2B}"/>
              </a:ext>
            </a:extLst>
          </p:cNvPr>
          <p:cNvSpPr>
            <a:spLocks xmlns:a="http://schemas.openxmlformats.org/drawingml/2006/main" noGrp="1"/>
          </p:cNvSpPr>
          <p:nvPr/>
        </p:nvSpPr>
        <p:spPr>
          <a:xfrm xmlns:a="http://schemas.openxmlformats.org/drawingml/2006/main">
            <a:off x="18573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Azure</a:t>
            </a:r>
          </a:p>
        </p:txBody>
      </p:sp>
      <p:sp>
        <p:nvSpPr>
          <p:cNvPr id="10" name="">
            <a:extLst xmlns:a="http://schemas.openxmlformats.org/drawingml/2006/main">
              <a:ext uri="{FF2B5EF4-FFF2-40B4-BE49-F238E27FC236}">
                <a16:creationId xmlns:a16="http://schemas.microsoft.com/office/drawing/2014/main" id="{A832B219-A13C-434B-A1C0-992FED91851F}"/>
              </a:ext>
            </a:extLst>
          </p:cNvPr>
          <p:cNvSpPr>
            <a:spLocks xmlns:a="http://schemas.openxmlformats.org/drawingml/2006/main" noGrp="1"/>
          </p:cNvSpPr>
          <p:nvPr/>
        </p:nvSpPr>
        <p:spPr>
          <a:xfrm xmlns:a="http://schemas.openxmlformats.org/drawingml/2006/main">
            <a:off x="26955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2C65677-3D39-4666-BE23-D14EC58FC3C4}"/>
              </a:ext>
            </a:extLst>
          </p:cNvPr>
          <p:cNvSpPr>
            <a:spLocks xmlns:a="http://schemas.openxmlformats.org/drawingml/2006/main" noGrp="1"/>
          </p:cNvSpPr>
          <p:nvPr/>
        </p:nvSpPr>
        <p:spPr>
          <a:xfrm xmlns:a="http://schemas.openxmlformats.org/drawingml/2006/main">
            <a:off x="346710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2401E0B-475A-4464-AB0C-7409A0F70E35}"/>
              </a:ext>
            </a:extLst>
          </p:cNvPr>
          <p:cNvSpPr>
            <a:spLocks xmlns:a="http://schemas.openxmlformats.org/drawingml/2006/main" noGrp="1"/>
          </p:cNvSpPr>
          <p:nvPr/>
        </p:nvSpPr>
        <p:spPr>
          <a:xfrm xmlns:a="http://schemas.openxmlformats.org/drawingml/2006/main">
            <a:off x="32385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Organize</a:t>
            </a:r>
          </a:p>
        </p:txBody>
      </p:sp>
      <p:sp>
        <p:nvSpPr>
          <p:cNvPr id="13" name="">
            <a:extLst xmlns:a="http://schemas.openxmlformats.org/drawingml/2006/main">
              <a:ext uri="{FF2B5EF4-FFF2-40B4-BE49-F238E27FC236}">
                <a16:creationId xmlns:a16="http://schemas.microsoft.com/office/drawing/2014/main" id="{BC4C8DFB-BEE3-4F0C-9F37-CBC874AD4AEC}"/>
              </a:ext>
            </a:extLst>
          </p:cNvPr>
          <p:cNvSpPr>
            <a:spLocks xmlns:a="http://schemas.openxmlformats.org/drawingml/2006/main" noGrp="1"/>
          </p:cNvSpPr>
          <p:nvPr/>
        </p:nvSpPr>
        <p:spPr>
          <a:xfrm xmlns:a="http://schemas.openxmlformats.org/drawingml/2006/main">
            <a:off x="40767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813A77-82E7-4B9F-91F2-1E78AA263268}"/>
              </a:ext>
            </a:extLst>
          </p:cNvPr>
          <p:cNvSpPr>
            <a:spLocks xmlns:a="http://schemas.openxmlformats.org/drawingml/2006/main" noGrp="1"/>
          </p:cNvSpPr>
          <p:nvPr/>
        </p:nvSpPr>
        <p:spPr>
          <a:xfrm xmlns:a="http://schemas.openxmlformats.org/drawingml/2006/main">
            <a:off x="484822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618B547-EE19-4106-B803-2DD988EF4C76}"/>
              </a:ext>
            </a:extLst>
          </p:cNvPr>
          <p:cNvSpPr>
            <a:spLocks xmlns:a="http://schemas.openxmlformats.org/drawingml/2006/main" noGrp="1"/>
          </p:cNvSpPr>
          <p:nvPr/>
        </p:nvSpPr>
        <p:spPr>
          <a:xfrm xmlns:a="http://schemas.openxmlformats.org/drawingml/2006/main">
            <a:off x="46196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Build</a:t>
            </a:r>
          </a:p>
        </p:txBody>
      </p:sp>
      <p:sp>
        <p:nvSpPr>
          <p:cNvPr id="16" name="">
            <a:extLst xmlns:a="http://schemas.openxmlformats.org/drawingml/2006/main">
              <a:ext uri="{FF2B5EF4-FFF2-40B4-BE49-F238E27FC236}">
                <a16:creationId xmlns:a16="http://schemas.microsoft.com/office/drawing/2014/main" id="{2920F3D4-32E0-4CCE-8AEA-44B1DD361E0E}"/>
              </a:ext>
            </a:extLst>
          </p:cNvPr>
          <p:cNvSpPr>
            <a:spLocks xmlns:a="http://schemas.openxmlformats.org/drawingml/2006/main" noGrp="1"/>
          </p:cNvSpPr>
          <p:nvPr/>
        </p:nvSpPr>
        <p:spPr>
          <a:xfrm xmlns:a="http://schemas.openxmlformats.org/drawingml/2006/main">
            <a:off x="545782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8E5241F-8C6F-420E-95CC-1D809A23C340}"/>
              </a:ext>
            </a:extLst>
          </p:cNvPr>
          <p:cNvSpPr>
            <a:spLocks xmlns:a="http://schemas.openxmlformats.org/drawingml/2006/main" noGrp="1"/>
          </p:cNvSpPr>
          <p:nvPr/>
        </p:nvSpPr>
        <p:spPr>
          <a:xfrm xmlns:a="http://schemas.openxmlformats.org/drawingml/2006/main">
            <a:off x="622935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1091DDA4-7B4A-46CD-A266-A9DA3DEF4588}"/>
              </a:ext>
            </a:extLst>
          </p:cNvPr>
          <p:cNvSpPr>
            <a:spLocks xmlns:a="http://schemas.openxmlformats.org/drawingml/2006/main" noGrp="1"/>
          </p:cNvSpPr>
          <p:nvPr/>
        </p:nvSpPr>
        <p:spPr>
          <a:xfrm xmlns:a="http://schemas.openxmlformats.org/drawingml/2006/main">
            <a:off x="60007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Protect</a:t>
            </a:r>
          </a:p>
        </p:txBody>
      </p:sp>
      <p:sp>
        <p:nvSpPr>
          <p:cNvPr id="19" name="">
            <a:extLst xmlns:a="http://schemas.openxmlformats.org/drawingml/2006/main">
              <a:ext uri="{FF2B5EF4-FFF2-40B4-BE49-F238E27FC236}">
                <a16:creationId xmlns:a16="http://schemas.microsoft.com/office/drawing/2014/main" id="{F326FBF5-D5CE-4917-83E7-A351B0594788}"/>
              </a:ext>
            </a:extLst>
          </p:cNvPr>
          <p:cNvSpPr>
            <a:spLocks xmlns:a="http://schemas.openxmlformats.org/drawingml/2006/main" noGrp="1"/>
          </p:cNvSpPr>
          <p:nvPr/>
        </p:nvSpPr>
        <p:spPr>
          <a:xfrm xmlns:a="http://schemas.openxmlformats.org/drawingml/2006/main">
            <a:off x="68389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2147EC-ED39-4D8D-8A32-DE6E2C01EFA6}"/>
              </a:ext>
            </a:extLst>
          </p:cNvPr>
          <p:cNvSpPr>
            <a:spLocks xmlns:a="http://schemas.openxmlformats.org/drawingml/2006/main" noGrp="1"/>
          </p:cNvSpPr>
          <p:nvPr/>
        </p:nvSpPr>
        <p:spPr>
          <a:xfrm xmlns:a="http://schemas.openxmlformats.org/drawingml/2006/main">
            <a:off x="761047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F0C2E177-F2B5-4139-8138-32BF88FBF8F3}"/>
              </a:ext>
            </a:extLst>
          </p:cNvPr>
          <p:cNvSpPr>
            <a:spLocks xmlns:a="http://schemas.openxmlformats.org/drawingml/2006/main" noGrp="1"/>
          </p:cNvSpPr>
          <p:nvPr/>
        </p:nvSpPr>
        <p:spPr>
          <a:xfrm xmlns:a="http://schemas.openxmlformats.org/drawingml/2006/main">
            <a:off x="73818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Observe</a:t>
            </a:r>
          </a:p>
        </p:txBody>
      </p:sp>
      <p:sp>
        <p:nvSpPr>
          <p:cNvPr id="22" name="">
            <a:extLst xmlns:a="http://schemas.openxmlformats.org/drawingml/2006/main">
              <a:ext uri="{FF2B5EF4-FFF2-40B4-BE49-F238E27FC236}">
                <a16:creationId xmlns:a16="http://schemas.microsoft.com/office/drawing/2014/main" id="{CFC61D53-7DC1-43FD-BC7D-FF38317CB578}"/>
              </a:ext>
            </a:extLst>
          </p:cNvPr>
          <p:cNvSpPr>
            <a:spLocks xmlns:a="http://schemas.openxmlformats.org/drawingml/2006/main" noGrp="1"/>
          </p:cNvSpPr>
          <p:nvPr/>
        </p:nvSpPr>
        <p:spPr>
          <a:xfrm xmlns:a="http://schemas.openxmlformats.org/drawingml/2006/main">
            <a:off x="82200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EE02FB-09EA-42EB-817A-984D4C0262BE}"/>
              </a:ext>
            </a:extLst>
          </p:cNvPr>
          <p:cNvSpPr>
            <a:spLocks xmlns:a="http://schemas.openxmlformats.org/drawingml/2006/main" noGrp="1"/>
          </p:cNvSpPr>
          <p:nvPr/>
        </p:nvSpPr>
        <p:spPr>
          <a:xfrm xmlns:a="http://schemas.openxmlformats.org/drawingml/2006/main">
            <a:off x="8991600" y="2381250"/>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98197637-007C-4686-A32E-38285BEDBB29}"/>
              </a:ext>
            </a:extLst>
          </p:cNvPr>
          <p:cNvSpPr>
            <a:spLocks xmlns:a="http://schemas.openxmlformats.org/drawingml/2006/main" noGrp="1"/>
          </p:cNvSpPr>
          <p:nvPr/>
        </p:nvSpPr>
        <p:spPr>
          <a:xfrm xmlns:a="http://schemas.openxmlformats.org/drawingml/2006/main">
            <a:off x="87630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Control cost</a:t>
            </a:r>
          </a:p>
        </p:txBody>
      </p:sp>
      <p:sp>
        <p:nvSpPr>
          <p:cNvPr id="25" name="">
            <a:extLst xmlns:a="http://schemas.openxmlformats.org/drawingml/2006/main">
              <a:ext uri="{FF2B5EF4-FFF2-40B4-BE49-F238E27FC236}">
                <a16:creationId xmlns:a16="http://schemas.microsoft.com/office/drawing/2014/main" id="{D3716965-8C6A-49D7-AE32-19CEA9E34150}"/>
              </a:ext>
            </a:extLst>
          </p:cNvPr>
          <p:cNvSpPr>
            <a:spLocks xmlns:a="http://schemas.openxmlformats.org/drawingml/2006/main" noGrp="1"/>
          </p:cNvSpPr>
          <p:nvPr/>
        </p:nvSpPr>
        <p:spPr>
          <a:xfrm xmlns:a="http://schemas.openxmlformats.org/drawingml/2006/main">
            <a:off x="96012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794E5C9-FAD1-4883-8428-8746E5F8D30A}"/>
              </a:ext>
            </a:extLst>
          </p:cNvPr>
          <p:cNvSpPr>
            <a:spLocks xmlns:a="http://schemas.openxmlformats.org/drawingml/2006/main" noGrp="1"/>
          </p:cNvSpPr>
          <p:nvPr/>
        </p:nvSpPr>
        <p:spPr>
          <a:xfrm xmlns:a="http://schemas.openxmlformats.org/drawingml/2006/main">
            <a:off x="10372725" y="2381250"/>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40587AB2-0569-439D-84F6-6F3AE6620CA8}"/>
              </a:ext>
            </a:extLst>
          </p:cNvPr>
          <p:cNvSpPr>
            <a:spLocks xmlns:a="http://schemas.openxmlformats.org/drawingml/2006/main" noGrp="1"/>
          </p:cNvSpPr>
          <p:nvPr/>
        </p:nvSpPr>
        <p:spPr>
          <a:xfrm xmlns:a="http://schemas.openxmlformats.org/drawingml/2006/main">
            <a:off x="101441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Clean up</a:t>
            </a:r>
          </a:p>
        </p:txBody>
      </p:sp>
      <p:sp>
        <p:nvSpPr>
          <p:cNvPr id="28" name="">
            <a:extLst xmlns:a="http://schemas.openxmlformats.org/drawingml/2006/main">
              <a:ext uri="{FF2B5EF4-FFF2-40B4-BE49-F238E27FC236}">
                <a16:creationId xmlns:a16="http://schemas.microsoft.com/office/drawing/2014/main" id="{19BE7049-04C3-4E90-826C-9E3A67827BDC}"/>
              </a:ext>
            </a:extLst>
          </p:cNvPr>
          <p:cNvSpPr>
            <a:spLocks xmlns:a="http://schemas.openxmlformats.org/drawingml/2006/main" noGrp="1"/>
          </p:cNvSpPr>
          <p:nvPr/>
        </p:nvSpPr>
        <p:spPr>
          <a:xfrm xmlns:a="http://schemas.openxmlformats.org/drawingml/2006/main">
            <a:off x="666750" y="45148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The destination</a:t>
            </a:r>
          </a:p>
        </p:txBody>
      </p:sp>
      <p:sp>
        <p:nvSpPr>
          <p:cNvPr id="29" name="">
            <a:extLst xmlns:a="http://schemas.openxmlformats.org/drawingml/2006/main">
              <a:ext uri="{FF2B5EF4-FFF2-40B4-BE49-F238E27FC236}">
                <a16:creationId xmlns:a16="http://schemas.microsoft.com/office/drawing/2014/main" id="{39F650DB-15AE-4B6D-B9E5-0295E5AD5FBE}"/>
              </a:ext>
            </a:extLst>
          </p:cNvPr>
          <p:cNvSpPr>
            <a:spLocks xmlns:a="http://schemas.openxmlformats.org/drawingml/2006/main" noGrp="1"/>
          </p:cNvSpPr>
          <p:nvPr/>
        </p:nvSpPr>
        <p:spPr>
          <a:xfrm xmlns:a="http://schemas.openxmlformats.org/drawingml/2006/main">
            <a:off x="666750" y="49149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250" b="1">
                <a:solidFill>
                  <a:srgbClr val="17324D"/>
                </a:solidFill>
                <a:latin typeface="Arial"/>
                <a:ea typeface="Arial"/>
                <a:cs typeface="Arial"/>
              </a:defRPr>
            </a:pPr>
            <a:r>
              <a:rPr sz="2250" b="1">
                <a:solidFill>
                  <a:srgbClr val="17324D"/>
                </a:solidFill>
                <a:latin typeface="Arial"/>
                <a:ea typeface="Arial"/>
                <a:cs typeface="Arial"/>
              </a:rPr>
              <a:t>A small Azure environment you can explain, validate, and remove safely</a:t>
            </a:r>
          </a:p>
        </p:txBody>
      </p:sp>
    </p:spTree>
    <p:extLst>
      <p:ext uri="{BB962C8B-B14F-4D97-AF65-F5344CB8AC3E}">
        <p14:creationId xmlns:p14="http://schemas.microsoft.com/office/powerpoint/2010/main" val="346279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A3EDD83-89DF-4A63-9EBD-C17A856EB816}"/>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Cloud computing</a:t>
            </a:r>
          </a:p>
        </p:txBody>
      </p:sp>
      <p:sp>
        <p:nvSpPr>
          <p:cNvPr id="2" name="">
            <a:extLst xmlns:a="http://schemas.openxmlformats.org/drawingml/2006/main">
              <a:ext uri="{FF2B5EF4-FFF2-40B4-BE49-F238E27FC236}">
                <a16:creationId xmlns:a16="http://schemas.microsoft.com/office/drawing/2014/main" id="{EEA60980-0F4F-43A1-B06E-2058A442FF2F}"/>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A1B8A6-2081-4295-A6E4-682DE8E9730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Rent technology services when you need them</a:t>
            </a:r>
          </a:p>
        </p:txBody>
      </p:sp>
      <p:sp>
        <p:nvSpPr>
          <p:cNvPr id="4" name="">
            <a:extLst xmlns:a="http://schemas.openxmlformats.org/drawingml/2006/main">
              <a:ext uri="{FF2B5EF4-FFF2-40B4-BE49-F238E27FC236}">
                <a16:creationId xmlns:a16="http://schemas.microsoft.com/office/drawing/2014/main" id="{AD3F266E-98C7-4949-AD0D-46DF7C99B72A}"/>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03</a:t>
            </a:r>
          </a:p>
        </p:txBody>
      </p:sp>
      <p:sp>
        <p:nvSpPr>
          <p:cNvPr id="5" name="">
            <a:extLst xmlns:a="http://schemas.openxmlformats.org/drawingml/2006/main">
              <a:ext uri="{FF2B5EF4-FFF2-40B4-BE49-F238E27FC236}">
                <a16:creationId xmlns:a16="http://schemas.microsoft.com/office/drawing/2014/main" id="{603FCC0F-BE91-4EED-87DF-D041A0EC46A2}"/>
              </a:ext>
            </a:extLst>
          </p:cNvPr>
          <p:cNvSpPr>
            <a:spLocks xmlns:a="http://schemas.openxmlformats.org/drawingml/2006/main" noGrp="1"/>
          </p:cNvSpPr>
          <p:nvPr/>
        </p:nvSpPr>
        <p:spPr>
          <a:xfrm xmlns:a="http://schemas.openxmlformats.org/drawingml/2006/main">
            <a:off x="90487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17324D"/>
                </a:solidFill>
                <a:latin typeface="Arial"/>
                <a:ea typeface="Arial"/>
                <a:cs typeface="Arial"/>
              </a:defRPr>
            </a:pPr>
            <a:r>
              <a:rPr sz="2100" b="1">
                <a:solidFill>
                  <a:srgbClr val="17324D"/>
                </a:solidFill>
                <a:latin typeface="Arial"/>
                <a:ea typeface="Arial"/>
                <a:cs typeface="Arial"/>
              </a:rPr>
              <a:t>On premises</a:t>
            </a:r>
          </a:p>
        </p:txBody>
      </p:sp>
      <p:sp>
        <p:nvSpPr>
          <p:cNvPr id="6" name="">
            <a:extLst xmlns:a="http://schemas.openxmlformats.org/drawingml/2006/main">
              <a:ext uri="{FF2B5EF4-FFF2-40B4-BE49-F238E27FC236}">
                <a16:creationId xmlns:a16="http://schemas.microsoft.com/office/drawing/2014/main" id="{A590D33E-45F4-409D-8AA5-9E1C95358CCC}"/>
              </a:ext>
            </a:extLst>
          </p:cNvPr>
          <p:cNvSpPr>
            <a:spLocks xmlns:a="http://schemas.openxmlformats.org/drawingml/2006/main" noGrp="1"/>
          </p:cNvSpPr>
          <p:nvPr/>
        </p:nvSpPr>
        <p:spPr>
          <a:xfrm xmlns:a="http://schemas.openxmlformats.org/drawingml/2006/main">
            <a:off x="904875" y="2095500"/>
            <a:ext cx="4095750" cy="2857500"/>
          </a:xfrm>
          <a:prstGeom xmlns:a="http://schemas.openxmlformats.org/drawingml/2006/main" prst="roundRect">
            <a:avLst>
              <a:gd name="adj" fmla="val 2667"/>
            </a:avLst>
          </a:prstGeom>
          <a:solidFill xmlns:a="http://schemas.openxmlformats.org/drawingml/2006/main">
            <a:srgbClr val="F5F8FB"/>
          </a:solidFill>
          <a:ln xmlns:a="http://schemas.openxmlformats.org/drawingml/2006/main" w="19050">
            <a:solidFill>
              <a:srgbClr val="DCE4EA"/>
            </a:solidFill>
          </a:ln>
        </p:spPr>
      </p:sp>
      <p:sp>
        <p:nvSpPr>
          <p:cNvPr id="7" name="">
            <a:extLst xmlns:a="http://schemas.openxmlformats.org/drawingml/2006/main">
              <a:ext uri="{FF2B5EF4-FFF2-40B4-BE49-F238E27FC236}">
                <a16:creationId xmlns:a16="http://schemas.microsoft.com/office/drawing/2014/main" id="{E264BD7F-2F64-4B7F-BDB5-9CFCD67B33D1}"/>
              </a:ext>
            </a:extLst>
          </p:cNvPr>
          <p:cNvSpPr>
            <a:spLocks xmlns:a="http://schemas.openxmlformats.org/drawingml/2006/main" noGrp="1"/>
          </p:cNvSpPr>
          <p:nvPr/>
        </p:nvSpPr>
        <p:spPr>
          <a:xfrm xmlns:a="http://schemas.openxmlformats.org/drawingml/2006/main">
            <a:off x="119062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52606D"/>
                </a:solidFill>
                <a:latin typeface="Arial"/>
                <a:ea typeface="Arial"/>
                <a:cs typeface="Arial"/>
              </a:defRPr>
            </a:pPr>
            <a:r>
              <a:rPr sz="1575" b="1">
                <a:solidFill>
                  <a:srgbClr val="52606D"/>
                </a:solidFill>
                <a:latin typeface="Arial"/>
                <a:ea typeface="Arial"/>
                <a:cs typeface="Arial"/>
              </a:rPr>
              <a:t>You buy and operate</a:t>
            </a:r>
          </a:p>
        </p:txBody>
      </p:sp>
      <p:sp>
        <p:nvSpPr>
          <p:cNvPr id="8" name="">
            <a:extLst xmlns:a="http://schemas.openxmlformats.org/drawingml/2006/main">
              <a:ext uri="{FF2B5EF4-FFF2-40B4-BE49-F238E27FC236}">
                <a16:creationId xmlns:a16="http://schemas.microsoft.com/office/drawing/2014/main" id="{25ABDCAA-D551-483F-97E2-63FC714A4D89}"/>
              </a:ext>
            </a:extLst>
          </p:cNvPr>
          <p:cNvSpPr>
            <a:spLocks xmlns:a="http://schemas.openxmlformats.org/drawingml/2006/main" noGrp="1"/>
          </p:cNvSpPr>
          <p:nvPr/>
        </p:nvSpPr>
        <p:spPr>
          <a:xfrm xmlns:a="http://schemas.openxmlformats.org/drawingml/2006/main">
            <a:off x="1238250" y="30003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B87C3562-0954-45D6-8FAA-FA4CD992AD0A}"/>
              </a:ext>
            </a:extLst>
          </p:cNvPr>
          <p:cNvSpPr>
            <a:spLocks xmlns:a="http://schemas.openxmlformats.org/drawingml/2006/main" noGrp="1"/>
          </p:cNvSpPr>
          <p:nvPr/>
        </p:nvSpPr>
        <p:spPr>
          <a:xfrm xmlns:a="http://schemas.openxmlformats.org/drawingml/2006/main">
            <a:off x="1562100" y="29146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Servers</a:t>
            </a:r>
          </a:p>
        </p:txBody>
      </p:sp>
      <p:sp>
        <p:nvSpPr>
          <p:cNvPr id="10" name="">
            <a:extLst xmlns:a="http://schemas.openxmlformats.org/drawingml/2006/main">
              <a:ext uri="{FF2B5EF4-FFF2-40B4-BE49-F238E27FC236}">
                <a16:creationId xmlns:a16="http://schemas.microsoft.com/office/drawing/2014/main" id="{F280CD64-CE20-4449-A00F-2BE5D2D3D013}"/>
              </a:ext>
            </a:extLst>
          </p:cNvPr>
          <p:cNvSpPr>
            <a:spLocks xmlns:a="http://schemas.openxmlformats.org/drawingml/2006/main" noGrp="1"/>
          </p:cNvSpPr>
          <p:nvPr/>
        </p:nvSpPr>
        <p:spPr>
          <a:xfrm xmlns:a="http://schemas.openxmlformats.org/drawingml/2006/main">
            <a:off x="1238250" y="34575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A6080E4-E3B2-4C37-96C7-F8DDDC7A203E}"/>
              </a:ext>
            </a:extLst>
          </p:cNvPr>
          <p:cNvSpPr>
            <a:spLocks xmlns:a="http://schemas.openxmlformats.org/drawingml/2006/main" noGrp="1"/>
          </p:cNvSpPr>
          <p:nvPr/>
        </p:nvSpPr>
        <p:spPr>
          <a:xfrm xmlns:a="http://schemas.openxmlformats.org/drawingml/2006/main">
            <a:off x="1562100" y="3371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Power and cooling</a:t>
            </a:r>
          </a:p>
        </p:txBody>
      </p:sp>
      <p:sp>
        <p:nvSpPr>
          <p:cNvPr id="12" name="">
            <a:extLst xmlns:a="http://schemas.openxmlformats.org/drawingml/2006/main">
              <a:ext uri="{FF2B5EF4-FFF2-40B4-BE49-F238E27FC236}">
                <a16:creationId xmlns:a16="http://schemas.microsoft.com/office/drawing/2014/main" id="{CC63E856-C6CE-46A7-9873-A06EA446AD0B}"/>
              </a:ext>
            </a:extLst>
          </p:cNvPr>
          <p:cNvSpPr>
            <a:spLocks xmlns:a="http://schemas.openxmlformats.org/drawingml/2006/main" noGrp="1"/>
          </p:cNvSpPr>
          <p:nvPr/>
        </p:nvSpPr>
        <p:spPr>
          <a:xfrm xmlns:a="http://schemas.openxmlformats.org/drawingml/2006/main">
            <a:off x="1238250" y="39147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EEDE3050-2D89-4228-8261-EF8B6FB51A1B}"/>
              </a:ext>
            </a:extLst>
          </p:cNvPr>
          <p:cNvSpPr>
            <a:spLocks xmlns:a="http://schemas.openxmlformats.org/drawingml/2006/main" noGrp="1"/>
          </p:cNvSpPr>
          <p:nvPr/>
        </p:nvSpPr>
        <p:spPr>
          <a:xfrm xmlns:a="http://schemas.openxmlformats.org/drawingml/2006/main">
            <a:off x="1562100" y="3829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Hardware repairs</a:t>
            </a:r>
          </a:p>
        </p:txBody>
      </p:sp>
      <p:sp>
        <p:nvSpPr>
          <p:cNvPr id="14" name="">
            <a:extLst xmlns:a="http://schemas.openxmlformats.org/drawingml/2006/main">
              <a:ext uri="{FF2B5EF4-FFF2-40B4-BE49-F238E27FC236}">
                <a16:creationId xmlns:a16="http://schemas.microsoft.com/office/drawing/2014/main" id="{A7969185-5731-4ED6-8CE9-E967A0820D1B}"/>
              </a:ext>
            </a:extLst>
          </p:cNvPr>
          <p:cNvSpPr>
            <a:spLocks xmlns:a="http://schemas.openxmlformats.org/drawingml/2006/main" noGrp="1"/>
          </p:cNvSpPr>
          <p:nvPr/>
        </p:nvSpPr>
        <p:spPr>
          <a:xfrm xmlns:a="http://schemas.openxmlformats.org/drawingml/2006/main">
            <a:off x="1238250" y="43719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CC7766F1-38D7-4FF7-B441-42BF2EEC38AA}"/>
              </a:ext>
            </a:extLst>
          </p:cNvPr>
          <p:cNvSpPr>
            <a:spLocks xmlns:a="http://schemas.openxmlformats.org/drawingml/2006/main" noGrp="1"/>
          </p:cNvSpPr>
          <p:nvPr/>
        </p:nvSpPr>
        <p:spPr>
          <a:xfrm xmlns:a="http://schemas.openxmlformats.org/drawingml/2006/main">
            <a:off x="1562100" y="4286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Capacity planning</a:t>
            </a:r>
          </a:p>
        </p:txBody>
      </p:sp>
      <p:sp>
        <p:nvSpPr>
          <p:cNvPr id="16" name="">
            <a:extLst xmlns:a="http://schemas.openxmlformats.org/drawingml/2006/main">
              <a:ext uri="{FF2B5EF4-FFF2-40B4-BE49-F238E27FC236}">
                <a16:creationId xmlns:a16="http://schemas.microsoft.com/office/drawing/2014/main" id="{5B283766-4247-4AD4-B099-357609A4D6DF}"/>
              </a:ext>
            </a:extLst>
          </p:cNvPr>
          <p:cNvSpPr>
            <a:spLocks xmlns:a="http://schemas.openxmlformats.org/drawingml/2006/main" noGrp="1"/>
          </p:cNvSpPr>
          <p:nvPr/>
        </p:nvSpPr>
        <p:spPr>
          <a:xfrm xmlns:a="http://schemas.openxmlformats.org/drawingml/2006/main">
            <a:off x="709612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Cloud</a:t>
            </a:r>
          </a:p>
        </p:txBody>
      </p:sp>
      <p:sp>
        <p:nvSpPr>
          <p:cNvPr id="17" name="">
            <a:extLst xmlns:a="http://schemas.openxmlformats.org/drawingml/2006/main">
              <a:ext uri="{FF2B5EF4-FFF2-40B4-BE49-F238E27FC236}">
                <a16:creationId xmlns:a16="http://schemas.microsoft.com/office/drawing/2014/main" id="{299E39E8-80D1-46AD-BD39-F409C1C1E4F8}"/>
              </a:ext>
            </a:extLst>
          </p:cNvPr>
          <p:cNvSpPr>
            <a:spLocks xmlns:a="http://schemas.openxmlformats.org/drawingml/2006/main" noGrp="1"/>
          </p:cNvSpPr>
          <p:nvPr/>
        </p:nvSpPr>
        <p:spPr>
          <a:xfrm xmlns:a="http://schemas.openxmlformats.org/drawingml/2006/main">
            <a:off x="7096125" y="2095500"/>
            <a:ext cx="4095750" cy="2857500"/>
          </a:xfrm>
          <a:prstGeom xmlns:a="http://schemas.openxmlformats.org/drawingml/2006/main" prst="roundRect">
            <a:avLst>
              <a:gd name="adj" fmla="val 2667"/>
            </a:avLst>
          </a:prstGeom>
          <a:solidFill xmlns:a="http://schemas.openxmlformats.org/drawingml/2006/main">
            <a:srgbClr val="EAF5FC"/>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0D174899-C602-4F51-91F0-9CE0B1AA4D8D}"/>
              </a:ext>
            </a:extLst>
          </p:cNvPr>
          <p:cNvSpPr>
            <a:spLocks xmlns:a="http://schemas.openxmlformats.org/drawingml/2006/main" noGrp="1"/>
          </p:cNvSpPr>
          <p:nvPr/>
        </p:nvSpPr>
        <p:spPr>
          <a:xfrm xmlns:a="http://schemas.openxmlformats.org/drawingml/2006/main">
            <a:off x="738187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0078D4"/>
                </a:solidFill>
                <a:latin typeface="Arial"/>
                <a:ea typeface="Arial"/>
                <a:cs typeface="Arial"/>
              </a:defRPr>
            </a:pPr>
            <a:r>
              <a:rPr sz="1575" b="1">
                <a:solidFill>
                  <a:srgbClr val="0078D4"/>
                </a:solidFill>
                <a:latin typeface="Arial"/>
                <a:ea typeface="Arial"/>
                <a:cs typeface="Arial"/>
              </a:rPr>
              <a:t>A provider operates the platform</a:t>
            </a:r>
          </a:p>
        </p:txBody>
      </p:sp>
      <p:sp>
        <p:nvSpPr>
          <p:cNvPr id="19" name="">
            <a:extLst xmlns:a="http://schemas.openxmlformats.org/drawingml/2006/main">
              <a:ext uri="{FF2B5EF4-FFF2-40B4-BE49-F238E27FC236}">
                <a16:creationId xmlns:a16="http://schemas.microsoft.com/office/drawing/2014/main" id="{A9FE4A27-D10E-4CD6-86F1-8DA373068E80}"/>
              </a:ext>
            </a:extLst>
          </p:cNvPr>
          <p:cNvSpPr>
            <a:spLocks xmlns:a="http://schemas.openxmlformats.org/drawingml/2006/main" noGrp="1"/>
          </p:cNvSpPr>
          <p:nvPr/>
        </p:nvSpPr>
        <p:spPr>
          <a:xfrm xmlns:a="http://schemas.openxmlformats.org/drawingml/2006/main">
            <a:off x="7429500" y="30003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3B133598-ABD3-404D-890F-085375954BF4}"/>
              </a:ext>
            </a:extLst>
          </p:cNvPr>
          <p:cNvSpPr>
            <a:spLocks xmlns:a="http://schemas.openxmlformats.org/drawingml/2006/main" noGrp="1"/>
          </p:cNvSpPr>
          <p:nvPr/>
        </p:nvSpPr>
        <p:spPr>
          <a:xfrm xmlns:a="http://schemas.openxmlformats.org/drawingml/2006/main">
            <a:off x="7753350" y="29146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Use services on demand</a:t>
            </a:r>
          </a:p>
        </p:txBody>
      </p:sp>
      <p:sp>
        <p:nvSpPr>
          <p:cNvPr id="21" name="">
            <a:extLst xmlns:a="http://schemas.openxmlformats.org/drawingml/2006/main">
              <a:ext uri="{FF2B5EF4-FFF2-40B4-BE49-F238E27FC236}">
                <a16:creationId xmlns:a16="http://schemas.microsoft.com/office/drawing/2014/main" id="{1968279F-BF88-4076-AEF7-6F671043431F}"/>
              </a:ext>
            </a:extLst>
          </p:cNvPr>
          <p:cNvSpPr>
            <a:spLocks xmlns:a="http://schemas.openxmlformats.org/drawingml/2006/main" noGrp="1"/>
          </p:cNvSpPr>
          <p:nvPr/>
        </p:nvSpPr>
        <p:spPr>
          <a:xfrm xmlns:a="http://schemas.openxmlformats.org/drawingml/2006/main">
            <a:off x="7429500" y="34575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FE6EB2AA-172C-411E-9D5B-28DB394EFBF9}"/>
              </a:ext>
            </a:extLst>
          </p:cNvPr>
          <p:cNvSpPr>
            <a:spLocks xmlns:a="http://schemas.openxmlformats.org/drawingml/2006/main" noGrp="1"/>
          </p:cNvSpPr>
          <p:nvPr/>
        </p:nvSpPr>
        <p:spPr>
          <a:xfrm xmlns:a="http://schemas.openxmlformats.org/drawingml/2006/main">
            <a:off x="7753350" y="33718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Scale when demand changes</a:t>
            </a:r>
          </a:p>
        </p:txBody>
      </p:sp>
      <p:sp>
        <p:nvSpPr>
          <p:cNvPr id="23" name="">
            <a:extLst xmlns:a="http://schemas.openxmlformats.org/drawingml/2006/main">
              <a:ext uri="{FF2B5EF4-FFF2-40B4-BE49-F238E27FC236}">
                <a16:creationId xmlns:a16="http://schemas.microsoft.com/office/drawing/2014/main" id="{ABD45F06-8B66-4A49-A5CC-AC70D80AA037}"/>
              </a:ext>
            </a:extLst>
          </p:cNvPr>
          <p:cNvSpPr>
            <a:spLocks xmlns:a="http://schemas.openxmlformats.org/drawingml/2006/main" noGrp="1"/>
          </p:cNvSpPr>
          <p:nvPr/>
        </p:nvSpPr>
        <p:spPr>
          <a:xfrm xmlns:a="http://schemas.openxmlformats.org/drawingml/2006/main">
            <a:off x="7429500" y="39147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354898BE-3B44-4C63-90F4-5E88D7338AE3}"/>
              </a:ext>
            </a:extLst>
          </p:cNvPr>
          <p:cNvSpPr>
            <a:spLocks xmlns:a="http://schemas.openxmlformats.org/drawingml/2006/main" noGrp="1"/>
          </p:cNvSpPr>
          <p:nvPr/>
        </p:nvSpPr>
        <p:spPr>
          <a:xfrm xmlns:a="http://schemas.openxmlformats.org/drawingml/2006/main">
            <a:off x="7753350" y="38290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Pay for measured use</a:t>
            </a:r>
          </a:p>
        </p:txBody>
      </p:sp>
      <p:sp>
        <p:nvSpPr>
          <p:cNvPr id="25" name="">
            <a:extLst xmlns:a="http://schemas.openxmlformats.org/drawingml/2006/main">
              <a:ext uri="{FF2B5EF4-FFF2-40B4-BE49-F238E27FC236}">
                <a16:creationId xmlns:a16="http://schemas.microsoft.com/office/drawing/2014/main" id="{594F9CB4-B719-4616-A0BA-B8BE44B0AA39}"/>
              </a:ext>
            </a:extLst>
          </p:cNvPr>
          <p:cNvSpPr>
            <a:spLocks xmlns:a="http://schemas.openxmlformats.org/drawingml/2006/main" noGrp="1"/>
          </p:cNvSpPr>
          <p:nvPr/>
        </p:nvSpPr>
        <p:spPr>
          <a:xfrm xmlns:a="http://schemas.openxmlformats.org/drawingml/2006/main">
            <a:off x="7429500" y="43719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6699BF51-D8C2-4D06-A313-6C732BEC6CE8}"/>
              </a:ext>
            </a:extLst>
          </p:cNvPr>
          <p:cNvSpPr>
            <a:spLocks xmlns:a="http://schemas.openxmlformats.org/drawingml/2006/main" noGrp="1"/>
          </p:cNvSpPr>
          <p:nvPr/>
        </p:nvSpPr>
        <p:spPr>
          <a:xfrm xmlns:a="http://schemas.openxmlformats.org/drawingml/2006/main">
            <a:off x="7753350" y="42862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Access global regions</a:t>
            </a:r>
          </a:p>
        </p:txBody>
      </p:sp>
      <p:sp>
        <p:nvSpPr>
          <p:cNvPr id="27" name="">
            <a:extLst xmlns:a="http://schemas.openxmlformats.org/drawingml/2006/main">
              <a:ext uri="{FF2B5EF4-FFF2-40B4-BE49-F238E27FC236}">
                <a16:creationId xmlns:a16="http://schemas.microsoft.com/office/drawing/2014/main" id="{53F0AD2D-16B2-4C7B-B111-E2B70F3BA390}"/>
              </a:ext>
            </a:extLst>
          </p:cNvPr>
          <p:cNvSpPr>
            <a:spLocks xmlns:a="http://schemas.openxmlformats.org/drawingml/2006/main" noGrp="1"/>
          </p:cNvSpPr>
          <p:nvPr/>
        </p:nvSpPr>
        <p:spPr>
          <a:xfrm xmlns:a="http://schemas.openxmlformats.org/drawingml/2006/main">
            <a:off x="4286250" y="54673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Shared responsibility</a:t>
            </a:r>
          </a:p>
        </p:txBody>
      </p:sp>
      <p:sp>
        <p:nvSpPr>
          <p:cNvPr id="28" name="">
            <a:extLst xmlns:a="http://schemas.openxmlformats.org/drawingml/2006/main">
              <a:ext uri="{FF2B5EF4-FFF2-40B4-BE49-F238E27FC236}">
                <a16:creationId xmlns:a16="http://schemas.microsoft.com/office/drawing/2014/main" id="{9FF5F8EC-5BB5-49BE-9A70-CE487747A99E}"/>
              </a:ext>
            </a:extLst>
          </p:cNvPr>
          <p:cNvSpPr>
            <a:spLocks xmlns:a="http://schemas.openxmlformats.org/drawingml/2006/main" noGrp="1"/>
          </p:cNvSpPr>
          <p:nvPr/>
        </p:nvSpPr>
        <p:spPr>
          <a:xfrm xmlns:a="http://schemas.openxmlformats.org/drawingml/2006/main">
            <a:off x="2476500" y="58388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Microsoft secures the cloud. You secure what you put in it.</a:t>
            </a:r>
          </a:p>
        </p:txBody>
      </p:sp>
    </p:spTree>
    <p:extLst>
      <p:ext uri="{BB962C8B-B14F-4D97-AF65-F5344CB8AC3E}">
        <p14:creationId xmlns:p14="http://schemas.microsoft.com/office/powerpoint/2010/main" val="8701223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3B2B7CE-940D-46D9-93F7-8E038571CC97}"/>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IaaS, PaaS, and SaaS</a:t>
            </a:r>
          </a:p>
        </p:txBody>
      </p:sp>
      <p:sp>
        <p:nvSpPr>
          <p:cNvPr id="2" name="">
            <a:extLst xmlns:a="http://schemas.openxmlformats.org/drawingml/2006/main">
              <a:ext uri="{FF2B5EF4-FFF2-40B4-BE49-F238E27FC236}">
                <a16:creationId xmlns:a16="http://schemas.microsoft.com/office/drawing/2014/main" id="{44FA2812-A6D2-466C-AC72-89274CD0A681}"/>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754EAE-E402-46CA-B11B-31D2C9127A9A}"/>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service model changes how much you manage</a:t>
            </a:r>
          </a:p>
        </p:txBody>
      </p:sp>
      <p:sp>
        <p:nvSpPr>
          <p:cNvPr id="4" name="">
            <a:extLst xmlns:a="http://schemas.openxmlformats.org/drawingml/2006/main">
              <a:ext uri="{FF2B5EF4-FFF2-40B4-BE49-F238E27FC236}">
                <a16:creationId xmlns:a16="http://schemas.microsoft.com/office/drawing/2014/main" id="{0F88DF8E-06BA-45B1-9AB6-0988E26DA58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04</a:t>
            </a:r>
          </a:p>
        </p:txBody>
      </p:sp>
      <p:sp>
        <p:nvSpPr>
          <p:cNvPr id="5" name="">
            <a:extLst xmlns:a="http://schemas.openxmlformats.org/drawingml/2006/main">
              <a:ext uri="{FF2B5EF4-FFF2-40B4-BE49-F238E27FC236}">
                <a16:creationId xmlns:a16="http://schemas.microsoft.com/office/drawing/2014/main" id="{0C61EF9F-E6DE-446E-A172-71249090EDAE}"/>
              </a:ext>
            </a:extLst>
          </p:cNvPr>
          <p:cNvSpPr>
            <a:spLocks xmlns:a="http://schemas.openxmlformats.org/drawingml/2006/main" noGrp="1"/>
          </p:cNvSpPr>
          <p:nvPr/>
        </p:nvSpPr>
        <p:spPr>
          <a:xfrm xmlns:a="http://schemas.openxmlformats.org/drawingml/2006/main">
            <a:off x="66675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78D4"/>
                </a:solidFill>
                <a:latin typeface="Arial"/>
                <a:ea typeface="Arial"/>
                <a:cs typeface="Arial"/>
              </a:defRPr>
            </a:pPr>
            <a:r>
              <a:rPr sz="2550" b="1">
                <a:solidFill>
                  <a:srgbClr val="0078D4"/>
                </a:solidFill>
                <a:latin typeface="Arial"/>
                <a:ea typeface="Arial"/>
                <a:cs typeface="Arial"/>
              </a:rPr>
              <a:t>IaaS</a:t>
            </a:r>
          </a:p>
        </p:txBody>
      </p:sp>
      <p:sp>
        <p:nvSpPr>
          <p:cNvPr id="6" name="">
            <a:extLst xmlns:a="http://schemas.openxmlformats.org/drawingml/2006/main">
              <a:ext uri="{FF2B5EF4-FFF2-40B4-BE49-F238E27FC236}">
                <a16:creationId xmlns:a16="http://schemas.microsoft.com/office/drawing/2014/main" id="{711DEDAD-0FCC-4C2C-B176-07951E7E1FC0}"/>
              </a:ext>
            </a:extLst>
          </p:cNvPr>
          <p:cNvSpPr>
            <a:spLocks xmlns:a="http://schemas.openxmlformats.org/drawingml/2006/main" noGrp="1"/>
          </p:cNvSpPr>
          <p:nvPr/>
        </p:nvSpPr>
        <p:spPr>
          <a:xfrm xmlns:a="http://schemas.openxmlformats.org/drawingml/2006/main">
            <a:off x="666750" y="2171700"/>
            <a:ext cx="3333750" cy="2476500"/>
          </a:xfrm>
          <a:prstGeom xmlns:a="http://schemas.openxmlformats.org/drawingml/2006/main" prst="roundRect">
            <a:avLst>
              <a:gd name="adj" fmla="val 3077"/>
            </a:avLst>
          </a:prstGeom>
          <a:solidFill xmlns:a="http://schemas.openxmlformats.org/drawingml/2006/main">
            <a:srgbClr val="EEF6FC"/>
          </a:solidFill>
          <a:ln xmlns:a="http://schemas.openxmlformats.org/drawingml/2006/main" w="19050">
            <a:solidFill>
              <a:srgbClr val="0078D4"/>
            </a:solidFill>
          </a:ln>
        </p:spPr>
      </p:sp>
      <p:sp>
        <p:nvSpPr>
          <p:cNvPr id="7" name="">
            <a:extLst xmlns:a="http://schemas.openxmlformats.org/drawingml/2006/main">
              <a:ext uri="{FF2B5EF4-FFF2-40B4-BE49-F238E27FC236}">
                <a16:creationId xmlns:a16="http://schemas.microsoft.com/office/drawing/2014/main" id="{850211FB-34E1-449B-A6B5-967854694EBA}"/>
              </a:ext>
            </a:extLst>
          </p:cNvPr>
          <p:cNvSpPr>
            <a:spLocks xmlns:a="http://schemas.openxmlformats.org/drawingml/2006/main" noGrp="1"/>
          </p:cNvSpPr>
          <p:nvPr/>
        </p:nvSpPr>
        <p:spPr>
          <a:xfrm xmlns:a="http://schemas.openxmlformats.org/drawingml/2006/main">
            <a:off x="914400" y="2419350"/>
            <a:ext cx="552450" cy="5524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B38C02A9-162A-47FD-967D-10428159820C}"/>
              </a:ext>
            </a:extLst>
          </p:cNvPr>
          <p:cNvSpPr>
            <a:spLocks xmlns:a="http://schemas.openxmlformats.org/drawingml/2006/main" noGrp="1"/>
          </p:cNvSpPr>
          <p:nvPr/>
        </p:nvSpPr>
        <p:spPr>
          <a:xfrm xmlns:a="http://schemas.openxmlformats.org/drawingml/2006/main">
            <a:off x="163830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9" name="">
            <a:extLst xmlns:a="http://schemas.openxmlformats.org/drawingml/2006/main">
              <a:ext uri="{FF2B5EF4-FFF2-40B4-BE49-F238E27FC236}">
                <a16:creationId xmlns:a16="http://schemas.microsoft.com/office/drawing/2014/main" id="{E09DB873-30AD-4236-B137-4D768487F173}"/>
              </a:ext>
            </a:extLst>
          </p:cNvPr>
          <p:cNvSpPr>
            <a:spLocks xmlns:a="http://schemas.openxmlformats.org/drawingml/2006/main" noGrp="1"/>
          </p:cNvSpPr>
          <p:nvPr/>
        </p:nvSpPr>
        <p:spPr>
          <a:xfrm xmlns:a="http://schemas.openxmlformats.org/drawingml/2006/main">
            <a:off x="93345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manage the operating system</a:t>
            </a:r>
          </a:p>
        </p:txBody>
      </p:sp>
      <p:sp>
        <p:nvSpPr>
          <p:cNvPr id="10" name="">
            <a:extLst xmlns:a="http://schemas.openxmlformats.org/drawingml/2006/main">
              <a:ext uri="{FF2B5EF4-FFF2-40B4-BE49-F238E27FC236}">
                <a16:creationId xmlns:a16="http://schemas.microsoft.com/office/drawing/2014/main" id="{5D4DAFDF-09C6-4A96-9DF6-4AD3C6C55F5B}"/>
              </a:ext>
            </a:extLst>
          </p:cNvPr>
          <p:cNvSpPr>
            <a:spLocks xmlns:a="http://schemas.openxmlformats.org/drawingml/2006/main" noGrp="1"/>
          </p:cNvSpPr>
          <p:nvPr/>
        </p:nvSpPr>
        <p:spPr>
          <a:xfrm xmlns:a="http://schemas.openxmlformats.org/drawingml/2006/main">
            <a:off x="4524375"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A4EF"/>
                </a:solidFill>
                <a:latin typeface="Arial"/>
                <a:ea typeface="Arial"/>
                <a:cs typeface="Arial"/>
              </a:defRPr>
            </a:pPr>
            <a:r>
              <a:rPr sz="2550" b="1">
                <a:solidFill>
                  <a:srgbClr val="00A4EF"/>
                </a:solidFill>
                <a:latin typeface="Arial"/>
                <a:ea typeface="Arial"/>
                <a:cs typeface="Arial"/>
              </a:rPr>
              <a:t>PaaS</a:t>
            </a:r>
          </a:p>
        </p:txBody>
      </p:sp>
      <p:sp>
        <p:nvSpPr>
          <p:cNvPr id="11" name="">
            <a:extLst xmlns:a="http://schemas.openxmlformats.org/drawingml/2006/main">
              <a:ext uri="{FF2B5EF4-FFF2-40B4-BE49-F238E27FC236}">
                <a16:creationId xmlns:a16="http://schemas.microsoft.com/office/drawing/2014/main" id="{8E950EF5-F02F-4437-9067-61DC9CAB89EC}"/>
              </a:ext>
            </a:extLst>
          </p:cNvPr>
          <p:cNvSpPr>
            <a:spLocks xmlns:a="http://schemas.openxmlformats.org/drawingml/2006/main" noGrp="1"/>
          </p:cNvSpPr>
          <p:nvPr/>
        </p:nvSpPr>
        <p:spPr>
          <a:xfrm xmlns:a="http://schemas.openxmlformats.org/drawingml/2006/main">
            <a:off x="4524375" y="2171700"/>
            <a:ext cx="3333750" cy="2476500"/>
          </a:xfrm>
          <a:prstGeom xmlns:a="http://schemas.openxmlformats.org/drawingml/2006/main" prst="roundRect">
            <a:avLst>
              <a:gd name="adj" fmla="val 3077"/>
            </a:avLst>
          </a:prstGeom>
          <a:solidFill xmlns:a="http://schemas.openxmlformats.org/drawingml/2006/main">
            <a:srgbClr val="E7F8FC"/>
          </a:solidFill>
          <a:ln xmlns:a="http://schemas.openxmlformats.org/drawingml/2006/main" w="19050">
            <a:solidFill>
              <a:srgbClr val="00A4EF"/>
            </a:solidFill>
          </a:ln>
        </p:spPr>
      </p:sp>
      <p:sp>
        <p:nvSpPr>
          <p:cNvPr id="12" name="">
            <a:extLst xmlns:a="http://schemas.openxmlformats.org/drawingml/2006/main">
              <a:ext uri="{FF2B5EF4-FFF2-40B4-BE49-F238E27FC236}">
                <a16:creationId xmlns:a16="http://schemas.microsoft.com/office/drawing/2014/main" id="{6F0DE4FD-5F0E-4618-8B99-1F4E76719B64}"/>
              </a:ext>
            </a:extLst>
          </p:cNvPr>
          <p:cNvSpPr>
            <a:spLocks xmlns:a="http://schemas.openxmlformats.org/drawingml/2006/main" noGrp="1"/>
          </p:cNvSpPr>
          <p:nvPr/>
        </p:nvSpPr>
        <p:spPr>
          <a:xfrm xmlns:a="http://schemas.openxmlformats.org/drawingml/2006/main">
            <a:off x="4772025" y="2419350"/>
            <a:ext cx="552450" cy="552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DA662A5F-D94B-4CFD-ABD9-3703E67195B0}"/>
              </a:ext>
            </a:extLst>
          </p:cNvPr>
          <p:cNvSpPr>
            <a:spLocks xmlns:a="http://schemas.openxmlformats.org/drawingml/2006/main" noGrp="1"/>
          </p:cNvSpPr>
          <p:nvPr/>
        </p:nvSpPr>
        <p:spPr>
          <a:xfrm xmlns:a="http://schemas.openxmlformats.org/drawingml/2006/main">
            <a:off x="5495925"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4" name="">
            <a:extLst xmlns:a="http://schemas.openxmlformats.org/drawingml/2006/main">
              <a:ext uri="{FF2B5EF4-FFF2-40B4-BE49-F238E27FC236}">
                <a16:creationId xmlns:a16="http://schemas.microsoft.com/office/drawing/2014/main" id="{05CA6836-40DF-4361-8BED-2BA42135C333}"/>
              </a:ext>
            </a:extLst>
          </p:cNvPr>
          <p:cNvSpPr>
            <a:spLocks xmlns:a="http://schemas.openxmlformats.org/drawingml/2006/main" noGrp="1"/>
          </p:cNvSpPr>
          <p:nvPr/>
        </p:nvSpPr>
        <p:spPr>
          <a:xfrm xmlns:a="http://schemas.openxmlformats.org/drawingml/2006/main">
            <a:off x="4791075"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deploy the application</a:t>
            </a:r>
          </a:p>
        </p:txBody>
      </p:sp>
      <p:sp>
        <p:nvSpPr>
          <p:cNvPr id="15" name="">
            <a:extLst xmlns:a="http://schemas.openxmlformats.org/drawingml/2006/main">
              <a:ext uri="{FF2B5EF4-FFF2-40B4-BE49-F238E27FC236}">
                <a16:creationId xmlns:a16="http://schemas.microsoft.com/office/drawing/2014/main" id="{1A3D2EAA-266B-4271-8B67-D1767E4976FB}"/>
              </a:ext>
            </a:extLst>
          </p:cNvPr>
          <p:cNvSpPr>
            <a:spLocks xmlns:a="http://schemas.openxmlformats.org/drawingml/2006/main" noGrp="1"/>
          </p:cNvSpPr>
          <p:nvPr/>
        </p:nvSpPr>
        <p:spPr>
          <a:xfrm xmlns:a="http://schemas.openxmlformats.org/drawingml/2006/main">
            <a:off x="838200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07C10"/>
                </a:solidFill>
                <a:latin typeface="Arial"/>
                <a:ea typeface="Arial"/>
                <a:cs typeface="Arial"/>
              </a:defRPr>
            </a:pPr>
            <a:r>
              <a:rPr sz="2550" b="1">
                <a:solidFill>
                  <a:srgbClr val="107C10"/>
                </a:solidFill>
                <a:latin typeface="Arial"/>
                <a:ea typeface="Arial"/>
                <a:cs typeface="Arial"/>
              </a:rPr>
              <a:t>SaaS</a:t>
            </a:r>
          </a:p>
        </p:txBody>
      </p:sp>
      <p:sp>
        <p:nvSpPr>
          <p:cNvPr id="16" name="">
            <a:extLst xmlns:a="http://schemas.openxmlformats.org/drawingml/2006/main">
              <a:ext uri="{FF2B5EF4-FFF2-40B4-BE49-F238E27FC236}">
                <a16:creationId xmlns:a16="http://schemas.microsoft.com/office/drawing/2014/main" id="{1C5E0642-764C-480B-B065-F9689F1E5FC9}"/>
              </a:ext>
            </a:extLst>
          </p:cNvPr>
          <p:cNvSpPr>
            <a:spLocks xmlns:a="http://schemas.openxmlformats.org/drawingml/2006/main" noGrp="1"/>
          </p:cNvSpPr>
          <p:nvPr/>
        </p:nvSpPr>
        <p:spPr>
          <a:xfrm xmlns:a="http://schemas.openxmlformats.org/drawingml/2006/main">
            <a:off x="8382000" y="2171700"/>
            <a:ext cx="3333750" cy="2476500"/>
          </a:xfrm>
          <a:prstGeom xmlns:a="http://schemas.openxmlformats.org/drawingml/2006/main" prst="roundRect">
            <a:avLst>
              <a:gd name="adj" fmla="val 3077"/>
            </a:avLst>
          </a:prstGeom>
          <a:solidFill xmlns:a="http://schemas.openxmlformats.org/drawingml/2006/main">
            <a:srgbClr val="EDF8ED"/>
          </a:solidFill>
          <a:ln xmlns:a="http://schemas.openxmlformats.org/drawingml/2006/main" w="19050">
            <a:solidFill>
              <a:srgbClr val="107C10"/>
            </a:solidFill>
          </a:ln>
        </p:spPr>
      </p:sp>
      <p:sp>
        <p:nvSpPr>
          <p:cNvPr id="17" name="">
            <a:extLst xmlns:a="http://schemas.openxmlformats.org/drawingml/2006/main">
              <a:ext uri="{FF2B5EF4-FFF2-40B4-BE49-F238E27FC236}">
                <a16:creationId xmlns:a16="http://schemas.microsoft.com/office/drawing/2014/main" id="{19CB7632-C8CF-4D5F-AD15-09B33D6382B6}"/>
              </a:ext>
            </a:extLst>
          </p:cNvPr>
          <p:cNvSpPr>
            <a:spLocks xmlns:a="http://schemas.openxmlformats.org/drawingml/2006/main" noGrp="1"/>
          </p:cNvSpPr>
          <p:nvPr/>
        </p:nvSpPr>
        <p:spPr>
          <a:xfrm xmlns:a="http://schemas.openxmlformats.org/drawingml/2006/main">
            <a:off x="8629650" y="2419350"/>
            <a:ext cx="552450" cy="5524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E0394745-D297-426E-906A-05E3C51947C5}"/>
              </a:ext>
            </a:extLst>
          </p:cNvPr>
          <p:cNvSpPr>
            <a:spLocks xmlns:a="http://schemas.openxmlformats.org/drawingml/2006/main" noGrp="1"/>
          </p:cNvSpPr>
          <p:nvPr/>
        </p:nvSpPr>
        <p:spPr>
          <a:xfrm xmlns:a="http://schemas.openxmlformats.org/drawingml/2006/main">
            <a:off x="935355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Microsoft 365</a:t>
            </a:r>
          </a:p>
        </p:txBody>
      </p:sp>
      <p:sp>
        <p:nvSpPr>
          <p:cNvPr id="19" name="">
            <a:extLst xmlns:a="http://schemas.openxmlformats.org/drawingml/2006/main">
              <a:ext uri="{FF2B5EF4-FFF2-40B4-BE49-F238E27FC236}">
                <a16:creationId xmlns:a16="http://schemas.microsoft.com/office/drawing/2014/main" id="{D62EE243-7815-43E0-8BD9-81F6E8B1E808}"/>
              </a:ext>
            </a:extLst>
          </p:cNvPr>
          <p:cNvSpPr>
            <a:spLocks xmlns:a="http://schemas.openxmlformats.org/drawingml/2006/main" noGrp="1"/>
          </p:cNvSpPr>
          <p:nvPr/>
        </p:nvSpPr>
        <p:spPr>
          <a:xfrm xmlns:a="http://schemas.openxmlformats.org/drawingml/2006/main">
            <a:off x="864870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use the finished software</a:t>
            </a:r>
          </a:p>
        </p:txBody>
      </p:sp>
      <p:sp>
        <p:nvSpPr>
          <p:cNvPr id="20" name="">
            <a:extLst xmlns:a="http://schemas.openxmlformats.org/drawingml/2006/main">
              <a:ext uri="{FF2B5EF4-FFF2-40B4-BE49-F238E27FC236}">
                <a16:creationId xmlns:a16="http://schemas.microsoft.com/office/drawing/2014/main" id="{89E8CF55-293E-4BEE-96C3-DC44279C324A}"/>
              </a:ext>
            </a:extLst>
          </p:cNvPr>
          <p:cNvSpPr>
            <a:spLocks xmlns:a="http://schemas.openxmlformats.org/drawingml/2006/main" noGrp="1"/>
          </p:cNvSpPr>
          <p:nvPr/>
        </p:nvSpPr>
        <p:spPr>
          <a:xfrm xmlns:a="http://schemas.openxmlformats.org/drawingml/2006/main">
            <a:off x="781050" y="51435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More control</a:t>
            </a:r>
          </a:p>
        </p:txBody>
      </p:sp>
      <p:sp>
        <p:nvSpPr>
          <p:cNvPr id="21" name="">
            <a:extLst xmlns:a="http://schemas.openxmlformats.org/drawingml/2006/main">
              <a:ext uri="{FF2B5EF4-FFF2-40B4-BE49-F238E27FC236}">
                <a16:creationId xmlns:a16="http://schemas.microsoft.com/office/drawing/2014/main" id="{C720B0EC-BE65-4F9B-83A5-06830FEBC0AC}"/>
              </a:ext>
            </a:extLst>
          </p:cNvPr>
          <p:cNvSpPr>
            <a:spLocks xmlns:a="http://schemas.openxmlformats.org/drawingml/2006/main" noGrp="1"/>
          </p:cNvSpPr>
          <p:nvPr/>
        </p:nvSpPr>
        <p:spPr>
          <a:xfrm xmlns:a="http://schemas.openxmlformats.org/drawingml/2006/main">
            <a:off x="2095500" y="5276850"/>
            <a:ext cx="7620000" cy="7620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FC66DAC-0870-476A-8878-298C80951BA7}"/>
              </a:ext>
            </a:extLst>
          </p:cNvPr>
          <p:cNvSpPr>
            <a:spLocks xmlns:a="http://schemas.openxmlformats.org/drawingml/2006/main" noGrp="1"/>
          </p:cNvSpPr>
          <p:nvPr/>
        </p:nvSpPr>
        <p:spPr>
          <a:xfrm xmlns:a="http://schemas.openxmlformats.org/drawingml/2006/main">
            <a:off x="9239250" y="51435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142"/>
          </a:bodyPr>
          <a:lstStyle xmlns:a="http://schemas.openxmlformats.org/drawingml/2006/main"/>
          <a:p xmlns:a="http://schemas.openxmlformats.org/drawingml/2006/main">
            <a:pPr algn="r">
              <a:defRPr sz="1350" b="0">
                <a:solidFill>
                  <a:srgbClr val="52606D"/>
                </a:solidFill>
                <a:latin typeface="Arial"/>
                <a:ea typeface="Arial"/>
                <a:cs typeface="Arial"/>
              </a:defRPr>
            </a:pPr>
            <a:r>
              <a:rPr sz="1350" b="0">
                <a:solidFill>
                  <a:srgbClr val="52606D"/>
                </a:solidFill>
                <a:latin typeface="Arial"/>
                <a:ea typeface="Arial"/>
                <a:cs typeface="Arial"/>
              </a:rPr>
              <a:t>Less platform management</a:t>
            </a:r>
          </a:p>
        </p:txBody>
      </p:sp>
    </p:spTree>
    <p:extLst>
      <p:ext uri="{BB962C8B-B14F-4D97-AF65-F5344CB8AC3E}">
        <p14:creationId xmlns:p14="http://schemas.microsoft.com/office/powerpoint/2010/main" val="3531649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DE32D0-DBAA-42A3-A03F-CEA250EDA456}"/>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How Azure is organized</a:t>
            </a:r>
          </a:p>
        </p:txBody>
      </p:sp>
      <p:sp>
        <p:nvSpPr>
          <p:cNvPr id="2" name="">
            <a:extLst xmlns:a="http://schemas.openxmlformats.org/drawingml/2006/main">
              <a:ext uri="{FF2B5EF4-FFF2-40B4-BE49-F238E27FC236}">
                <a16:creationId xmlns:a16="http://schemas.microsoft.com/office/drawing/2014/main" id="{74FAF638-9D7A-4BE4-B82A-62842F42AD99}"/>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32263B-1231-4A5C-80EA-D171FE2207A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Access and policy flow down through four levels</a:t>
            </a:r>
          </a:p>
        </p:txBody>
      </p:sp>
      <p:sp>
        <p:nvSpPr>
          <p:cNvPr id="4" name="">
            <a:extLst xmlns:a="http://schemas.openxmlformats.org/drawingml/2006/main">
              <a:ext uri="{FF2B5EF4-FFF2-40B4-BE49-F238E27FC236}">
                <a16:creationId xmlns:a16="http://schemas.microsoft.com/office/drawing/2014/main" id="{8EBFE52D-FD60-4F48-878A-FB37B1AAED1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05</a:t>
            </a:r>
          </a:p>
        </p:txBody>
      </p:sp>
      <p:sp>
        <p:nvSpPr>
          <p:cNvPr id="5" name="">
            <a:extLst xmlns:a="http://schemas.openxmlformats.org/drawingml/2006/main">
              <a:ext uri="{FF2B5EF4-FFF2-40B4-BE49-F238E27FC236}">
                <a16:creationId xmlns:a16="http://schemas.microsoft.com/office/drawing/2014/main" id="{A5C65B82-8556-43AC-8DDD-35D0D008966D}"/>
              </a:ext>
            </a:extLst>
          </p:cNvPr>
          <p:cNvSpPr>
            <a:spLocks xmlns:a="http://schemas.openxmlformats.org/drawingml/2006/main" noGrp="1"/>
          </p:cNvSpPr>
          <p:nvPr/>
        </p:nvSpPr>
        <p:spPr>
          <a:xfrm xmlns:a="http://schemas.openxmlformats.org/drawingml/2006/main">
            <a:off x="2190750" y="1524000"/>
            <a:ext cx="7810500" cy="685800"/>
          </a:xfrm>
          <a:prstGeom xmlns:a="http://schemas.openxmlformats.org/drawingml/2006/main" prst="roundRect">
            <a:avLst>
              <a:gd name="adj" fmla="val 11111"/>
            </a:avLst>
          </a:prstGeom>
          <a:solidFill xmlns:a="http://schemas.openxmlformats.org/drawingml/2006/main">
            <a:srgbClr val="17324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782E28-BEB3-49F4-98E8-4A57432C1CCF}"/>
              </a:ext>
            </a:extLst>
          </p:cNvPr>
          <p:cNvSpPr>
            <a:spLocks xmlns:a="http://schemas.openxmlformats.org/drawingml/2006/main" noGrp="1"/>
          </p:cNvSpPr>
          <p:nvPr/>
        </p:nvSpPr>
        <p:spPr>
          <a:xfrm xmlns:a="http://schemas.openxmlformats.org/drawingml/2006/main">
            <a:off x="2457450" y="1685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Management group</a:t>
            </a:r>
          </a:p>
        </p:txBody>
      </p:sp>
      <p:sp>
        <p:nvSpPr>
          <p:cNvPr id="7" name="">
            <a:extLst xmlns:a="http://schemas.openxmlformats.org/drawingml/2006/main">
              <a:ext uri="{FF2B5EF4-FFF2-40B4-BE49-F238E27FC236}">
                <a16:creationId xmlns:a16="http://schemas.microsoft.com/office/drawing/2014/main" id="{3B94D116-CBFF-4920-B299-BEF2EFA9C967}"/>
              </a:ext>
            </a:extLst>
          </p:cNvPr>
          <p:cNvSpPr>
            <a:spLocks xmlns:a="http://schemas.openxmlformats.org/drawingml/2006/main" noGrp="1"/>
          </p:cNvSpPr>
          <p:nvPr/>
        </p:nvSpPr>
        <p:spPr>
          <a:xfrm xmlns:a="http://schemas.openxmlformats.org/drawingml/2006/main">
            <a:off x="5143500" y="16954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Organizes subscriptions</a:t>
            </a:r>
          </a:p>
        </p:txBody>
      </p:sp>
      <p:sp>
        <p:nvSpPr>
          <p:cNvPr id="8" name="">
            <a:extLst xmlns:a="http://schemas.openxmlformats.org/drawingml/2006/main">
              <a:ext uri="{FF2B5EF4-FFF2-40B4-BE49-F238E27FC236}">
                <a16:creationId xmlns:a16="http://schemas.microsoft.com/office/drawing/2014/main" id="{7100B96E-1D1B-425A-A2AB-84B27EF2538B}"/>
              </a:ext>
            </a:extLst>
          </p:cNvPr>
          <p:cNvSpPr>
            <a:spLocks xmlns:a="http://schemas.openxmlformats.org/drawingml/2006/main" noGrp="1"/>
          </p:cNvSpPr>
          <p:nvPr/>
        </p:nvSpPr>
        <p:spPr>
          <a:xfrm xmlns:a="http://schemas.openxmlformats.org/drawingml/2006/main">
            <a:off x="2762250" y="2476500"/>
            <a:ext cx="6667500"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FBFE46-9C00-4B87-9BF8-9B3C67E46B14}"/>
              </a:ext>
            </a:extLst>
          </p:cNvPr>
          <p:cNvSpPr>
            <a:spLocks xmlns:a="http://schemas.openxmlformats.org/drawingml/2006/main" noGrp="1"/>
          </p:cNvSpPr>
          <p:nvPr/>
        </p:nvSpPr>
        <p:spPr>
          <a:xfrm xmlns:a="http://schemas.openxmlformats.org/drawingml/2006/main">
            <a:off x="3028950" y="2638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Subscription</a:t>
            </a:r>
          </a:p>
        </p:txBody>
      </p:sp>
      <p:sp>
        <p:nvSpPr>
          <p:cNvPr id="10" name="">
            <a:extLst xmlns:a="http://schemas.openxmlformats.org/drawingml/2006/main">
              <a:ext uri="{FF2B5EF4-FFF2-40B4-BE49-F238E27FC236}">
                <a16:creationId xmlns:a16="http://schemas.microsoft.com/office/drawing/2014/main" id="{776C7AFE-52E9-48F3-B4A8-4C92662E597E}"/>
              </a:ext>
            </a:extLst>
          </p:cNvPr>
          <p:cNvSpPr>
            <a:spLocks xmlns:a="http://schemas.openxmlformats.org/drawingml/2006/main" noGrp="1"/>
          </p:cNvSpPr>
          <p:nvPr/>
        </p:nvSpPr>
        <p:spPr>
          <a:xfrm xmlns:a="http://schemas.openxmlformats.org/drawingml/2006/main">
            <a:off x="5715000" y="2647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Billing and access boundary</a:t>
            </a:r>
          </a:p>
        </p:txBody>
      </p:sp>
      <p:sp>
        <p:nvSpPr>
          <p:cNvPr id="11" name="">
            <a:extLst xmlns:a="http://schemas.openxmlformats.org/drawingml/2006/main">
              <a:ext uri="{FF2B5EF4-FFF2-40B4-BE49-F238E27FC236}">
                <a16:creationId xmlns:a16="http://schemas.microsoft.com/office/drawing/2014/main" id="{809CB3AD-D9A6-4A52-A8B3-F80DD58C17B1}"/>
              </a:ext>
            </a:extLst>
          </p:cNvPr>
          <p:cNvSpPr>
            <a:spLocks xmlns:a="http://schemas.openxmlformats.org/drawingml/2006/main" noGrp="1"/>
          </p:cNvSpPr>
          <p:nvPr/>
        </p:nvSpPr>
        <p:spPr>
          <a:xfrm xmlns:a="http://schemas.openxmlformats.org/drawingml/2006/main">
            <a:off x="3333750" y="3429000"/>
            <a:ext cx="5524500" cy="685800"/>
          </a:xfrm>
          <a:prstGeom xmlns:a="http://schemas.openxmlformats.org/drawingml/2006/main" prst="roundRect">
            <a:avLst>
              <a:gd name="adj" fmla="val 11111"/>
            </a:avLst>
          </a:prstGeom>
          <a:solidFill xmlns:a="http://schemas.openxmlformats.org/drawingml/2006/main">
            <a:srgbClr val="00A4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A6ED77-6408-430B-BCEC-1FCC47006CAC}"/>
              </a:ext>
            </a:extLst>
          </p:cNvPr>
          <p:cNvSpPr>
            <a:spLocks xmlns:a="http://schemas.openxmlformats.org/drawingml/2006/main" noGrp="1"/>
          </p:cNvSpPr>
          <p:nvPr/>
        </p:nvSpPr>
        <p:spPr>
          <a:xfrm xmlns:a="http://schemas.openxmlformats.org/drawingml/2006/main">
            <a:off x="3600450" y="3590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 group</a:t>
            </a:r>
          </a:p>
        </p:txBody>
      </p:sp>
      <p:sp>
        <p:nvSpPr>
          <p:cNvPr id="13" name="">
            <a:extLst xmlns:a="http://schemas.openxmlformats.org/drawingml/2006/main">
              <a:ext uri="{FF2B5EF4-FFF2-40B4-BE49-F238E27FC236}">
                <a16:creationId xmlns:a16="http://schemas.microsoft.com/office/drawing/2014/main" id="{F709239D-7C79-4DD6-B541-9CF530F6C772}"/>
              </a:ext>
            </a:extLst>
          </p:cNvPr>
          <p:cNvSpPr>
            <a:spLocks xmlns:a="http://schemas.openxmlformats.org/drawingml/2006/main" noGrp="1"/>
          </p:cNvSpPr>
          <p:nvPr/>
        </p:nvSpPr>
        <p:spPr>
          <a:xfrm xmlns:a="http://schemas.openxmlformats.org/drawingml/2006/main">
            <a:off x="6286500" y="3600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Lifecycle container</a:t>
            </a:r>
          </a:p>
        </p:txBody>
      </p:sp>
      <p:sp>
        <p:nvSpPr>
          <p:cNvPr id="14" name="">
            <a:extLst xmlns:a="http://schemas.openxmlformats.org/drawingml/2006/main">
              <a:ext uri="{FF2B5EF4-FFF2-40B4-BE49-F238E27FC236}">
                <a16:creationId xmlns:a16="http://schemas.microsoft.com/office/drawing/2014/main" id="{11AC63A0-9AE7-4969-9BC1-C9169889857E}"/>
              </a:ext>
            </a:extLst>
          </p:cNvPr>
          <p:cNvSpPr>
            <a:spLocks xmlns:a="http://schemas.openxmlformats.org/drawingml/2006/main" noGrp="1"/>
          </p:cNvSpPr>
          <p:nvPr/>
        </p:nvSpPr>
        <p:spPr>
          <a:xfrm xmlns:a="http://schemas.openxmlformats.org/drawingml/2006/main">
            <a:off x="3905250" y="4381500"/>
            <a:ext cx="4381500" cy="685800"/>
          </a:xfrm>
          <a:prstGeom xmlns:a="http://schemas.openxmlformats.org/drawingml/2006/main" prst="roundRect">
            <a:avLst>
              <a:gd name="adj" fmla="val 11111"/>
            </a:avLst>
          </a:prstGeom>
          <a:solidFill xmlns:a="http://schemas.openxmlformats.org/drawingml/2006/main">
            <a:srgbClr val="107C1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D1CDDE-E25D-44A0-8A54-58BF6F00EF5C}"/>
              </a:ext>
            </a:extLst>
          </p:cNvPr>
          <p:cNvSpPr>
            <a:spLocks xmlns:a="http://schemas.openxmlformats.org/drawingml/2006/main" noGrp="1"/>
          </p:cNvSpPr>
          <p:nvPr/>
        </p:nvSpPr>
        <p:spPr>
          <a:xfrm xmlns:a="http://schemas.openxmlformats.org/drawingml/2006/main">
            <a:off x="4171950" y="4543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a:t>
            </a:r>
          </a:p>
        </p:txBody>
      </p:sp>
      <p:sp>
        <p:nvSpPr>
          <p:cNvPr id="16" name="">
            <a:extLst xmlns:a="http://schemas.openxmlformats.org/drawingml/2006/main">
              <a:ext uri="{FF2B5EF4-FFF2-40B4-BE49-F238E27FC236}">
                <a16:creationId xmlns:a16="http://schemas.microsoft.com/office/drawing/2014/main" id="{E5E755A4-A8F7-4F09-8BD0-7CF9AE6A73CE}"/>
              </a:ext>
            </a:extLst>
          </p:cNvPr>
          <p:cNvSpPr>
            <a:spLocks xmlns:a="http://schemas.openxmlformats.org/drawingml/2006/main" noGrp="1"/>
          </p:cNvSpPr>
          <p:nvPr/>
        </p:nvSpPr>
        <p:spPr>
          <a:xfrm xmlns:a="http://schemas.openxmlformats.org/drawingml/2006/main">
            <a:off x="5715000" y="45529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FFFFFF"/>
                </a:solidFill>
                <a:latin typeface="Arial"/>
                <a:ea typeface="Arial"/>
                <a:cs typeface="Arial"/>
              </a:defRPr>
            </a:pPr>
            <a:r>
              <a:rPr sz="1125" b="0">
                <a:solidFill>
                  <a:srgbClr val="FFFFFF"/>
                </a:solidFill>
                <a:latin typeface="Arial"/>
                <a:ea typeface="Arial"/>
                <a:cs typeface="Arial"/>
              </a:rPr>
              <a:t>VM, VNet, Storage, Web App</a:t>
            </a:r>
          </a:p>
        </p:txBody>
      </p:sp>
      <p:sp>
        <p:nvSpPr>
          <p:cNvPr id="17" name="">
            <a:extLst xmlns:a="http://schemas.openxmlformats.org/drawingml/2006/main">
              <a:ext uri="{FF2B5EF4-FFF2-40B4-BE49-F238E27FC236}">
                <a16:creationId xmlns:a16="http://schemas.microsoft.com/office/drawing/2014/main" id="{5EC54BBB-7FD7-4546-99C7-770A0F3B1C61}"/>
              </a:ext>
            </a:extLst>
          </p:cNvPr>
          <p:cNvSpPr>
            <a:spLocks xmlns:a="http://schemas.openxmlformats.org/drawingml/2006/main" noGrp="1"/>
          </p:cNvSpPr>
          <p:nvPr/>
        </p:nvSpPr>
        <p:spPr>
          <a:xfrm xmlns:a="http://schemas.openxmlformats.org/drawingml/2006/main">
            <a:off x="2762250" y="5524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52606D"/>
                </a:solidFill>
                <a:latin typeface="Arial"/>
                <a:ea typeface="Arial"/>
                <a:cs typeface="Arial"/>
              </a:defRPr>
            </a:pPr>
            <a:r>
              <a:rPr sz="1575" b="0">
                <a:solidFill>
                  <a:srgbClr val="52606D"/>
                </a:solidFill>
                <a:latin typeface="Arial"/>
                <a:ea typeface="Arial"/>
                <a:cs typeface="Arial"/>
              </a:rPr>
              <a:t>Think of folders for governance, not physical boxes</a:t>
            </a:r>
          </a:p>
        </p:txBody>
      </p:sp>
    </p:spTree>
    <p:extLst>
      <p:ext uri="{BB962C8B-B14F-4D97-AF65-F5344CB8AC3E}">
        <p14:creationId xmlns:p14="http://schemas.microsoft.com/office/powerpoint/2010/main" val="18059859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E56035-BFB4-48B9-BB82-58177B98B7CE}"/>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Resource groups</a:t>
            </a:r>
          </a:p>
        </p:txBody>
      </p:sp>
      <p:sp>
        <p:nvSpPr>
          <p:cNvPr id="2" name="">
            <a:extLst xmlns:a="http://schemas.openxmlformats.org/drawingml/2006/main">
              <a:ext uri="{FF2B5EF4-FFF2-40B4-BE49-F238E27FC236}">
                <a16:creationId xmlns:a16="http://schemas.microsoft.com/office/drawing/2014/main" id="{60029924-F593-4828-B147-77B70957973C}"/>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FA06DD-3B8D-4D6A-98D6-490ADEDA598A}"/>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Related resources share one lifecycle</a:t>
            </a:r>
          </a:p>
        </p:txBody>
      </p:sp>
      <p:sp>
        <p:nvSpPr>
          <p:cNvPr id="4" name="">
            <a:extLst xmlns:a="http://schemas.openxmlformats.org/drawingml/2006/main">
              <a:ext uri="{FF2B5EF4-FFF2-40B4-BE49-F238E27FC236}">
                <a16:creationId xmlns:a16="http://schemas.microsoft.com/office/drawing/2014/main" id="{CB484C8F-E891-4629-9A4C-206A932A5225}"/>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06</a:t>
            </a:r>
          </a:p>
        </p:txBody>
      </p:sp>
      <p:sp>
        <p:nvSpPr>
          <p:cNvPr id="5" name="">
            <a:extLst xmlns:a="http://schemas.openxmlformats.org/drawingml/2006/main">
              <a:ext uri="{FF2B5EF4-FFF2-40B4-BE49-F238E27FC236}">
                <a16:creationId xmlns:a16="http://schemas.microsoft.com/office/drawing/2014/main" id="{4857511D-702A-4D58-986E-D4CE5D4A77C8}"/>
              </a:ext>
            </a:extLst>
          </p:cNvPr>
          <p:cNvSpPr>
            <a:spLocks xmlns:a="http://schemas.openxmlformats.org/drawingml/2006/main" noGrp="1"/>
          </p:cNvSpPr>
          <p:nvPr/>
        </p:nvSpPr>
        <p:spPr>
          <a:xfrm xmlns:a="http://schemas.openxmlformats.org/drawingml/2006/main">
            <a:off x="857250" y="1571625"/>
            <a:ext cx="10477500" cy="3429000"/>
          </a:xfrm>
          <a:prstGeom xmlns:a="http://schemas.openxmlformats.org/drawingml/2006/main" prst="roundRect">
            <a:avLst>
              <a:gd name="adj" fmla="val 2222"/>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D93BDBA1-1094-4659-90E7-AFB21D71F1FF}"/>
              </a:ext>
            </a:extLst>
          </p:cNvPr>
          <p:cNvSpPr>
            <a:spLocks xmlns:a="http://schemas.openxmlformats.org/drawingml/2006/main" noGrp="1"/>
          </p:cNvSpPr>
          <p:nvPr/>
        </p:nvSpPr>
        <p:spPr>
          <a:xfrm xmlns:a="http://schemas.openxmlformats.org/drawingml/2006/main">
            <a:off x="1190625" y="18097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F9986092-8265-4076-AB5A-C6ABCCEEDE7C}"/>
              </a:ext>
            </a:extLst>
          </p:cNvPr>
          <p:cNvSpPr>
            <a:spLocks xmlns:a="http://schemas.openxmlformats.org/drawingml/2006/main" noGrp="1"/>
          </p:cNvSpPr>
          <p:nvPr/>
        </p:nvSpPr>
        <p:spPr>
          <a:xfrm xmlns:a="http://schemas.openxmlformats.org/drawingml/2006/main">
            <a:off x="1285875" y="2857500"/>
            <a:ext cx="876300" cy="8763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VM</a:t>
            </a:r>
          </a:p>
        </p:txBody>
      </p:sp>
      <p:sp>
        <p:nvSpPr>
          <p:cNvPr id="8" name="">
            <a:extLst xmlns:a="http://schemas.openxmlformats.org/drawingml/2006/main">
              <a:ext uri="{FF2B5EF4-FFF2-40B4-BE49-F238E27FC236}">
                <a16:creationId xmlns:a16="http://schemas.microsoft.com/office/drawing/2014/main" id="{5D4BF948-59EA-401C-A3E7-47E0D180C394}"/>
              </a:ext>
            </a:extLst>
          </p:cNvPr>
          <p:cNvSpPr>
            <a:spLocks xmlns:a="http://schemas.openxmlformats.org/drawingml/2006/main" noGrp="1"/>
          </p:cNvSpPr>
          <p:nvPr/>
        </p:nvSpPr>
        <p:spPr>
          <a:xfrm xmlns:a="http://schemas.openxmlformats.org/drawingml/2006/main">
            <a:off x="98107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VM</a:t>
            </a:r>
          </a:p>
        </p:txBody>
      </p:sp>
      <p:sp>
        <p:nvSpPr>
          <p:cNvPr id="9" name="">
            <a:extLst xmlns:a="http://schemas.openxmlformats.org/drawingml/2006/main">
              <a:ext uri="{FF2B5EF4-FFF2-40B4-BE49-F238E27FC236}">
                <a16:creationId xmlns:a16="http://schemas.microsoft.com/office/drawing/2014/main" id="{9EED01AF-24CB-4348-962A-98089394E896}"/>
              </a:ext>
            </a:extLst>
          </p:cNvPr>
          <p:cNvSpPr>
            <a:spLocks xmlns:a="http://schemas.openxmlformats.org/drawingml/2006/main" noGrp="1"/>
          </p:cNvSpPr>
          <p:nvPr/>
        </p:nvSpPr>
        <p:spPr>
          <a:xfrm xmlns:a="http://schemas.openxmlformats.org/drawingml/2006/main">
            <a:off x="3714750" y="2857500"/>
            <a:ext cx="876300" cy="8763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VN</a:t>
            </a:r>
          </a:p>
        </p:txBody>
      </p:sp>
      <p:sp>
        <p:nvSpPr>
          <p:cNvPr id="10" name="">
            <a:extLst xmlns:a="http://schemas.openxmlformats.org/drawingml/2006/main">
              <a:ext uri="{FF2B5EF4-FFF2-40B4-BE49-F238E27FC236}">
                <a16:creationId xmlns:a16="http://schemas.microsoft.com/office/drawing/2014/main" id="{308ECDE2-7028-474C-AC13-C5BFFF2EFD67}"/>
              </a:ext>
            </a:extLst>
          </p:cNvPr>
          <p:cNvSpPr>
            <a:spLocks xmlns:a="http://schemas.openxmlformats.org/drawingml/2006/main" noGrp="1"/>
          </p:cNvSpPr>
          <p:nvPr/>
        </p:nvSpPr>
        <p:spPr>
          <a:xfrm xmlns:a="http://schemas.openxmlformats.org/drawingml/2006/main">
            <a:off x="340995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VNet</a:t>
            </a:r>
          </a:p>
        </p:txBody>
      </p:sp>
      <p:sp>
        <p:nvSpPr>
          <p:cNvPr id="11" name="">
            <a:extLst xmlns:a="http://schemas.openxmlformats.org/drawingml/2006/main">
              <a:ext uri="{FF2B5EF4-FFF2-40B4-BE49-F238E27FC236}">
                <a16:creationId xmlns:a16="http://schemas.microsoft.com/office/drawing/2014/main" id="{220F0220-95BA-4CCF-B872-051F42E375AF}"/>
              </a:ext>
            </a:extLst>
          </p:cNvPr>
          <p:cNvSpPr>
            <a:spLocks xmlns:a="http://schemas.openxmlformats.org/drawingml/2006/main" noGrp="1"/>
          </p:cNvSpPr>
          <p:nvPr/>
        </p:nvSpPr>
        <p:spPr>
          <a:xfrm xmlns:a="http://schemas.openxmlformats.org/drawingml/2006/main">
            <a:off x="6143625" y="2857500"/>
            <a:ext cx="876300" cy="8763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
            </a:r>
          </a:p>
        </p:txBody>
      </p:sp>
      <p:sp>
        <p:nvSpPr>
          <p:cNvPr id="12" name="">
            <a:extLst xmlns:a="http://schemas.openxmlformats.org/drawingml/2006/main">
              <a:ext uri="{FF2B5EF4-FFF2-40B4-BE49-F238E27FC236}">
                <a16:creationId xmlns:a16="http://schemas.microsoft.com/office/drawing/2014/main" id="{149FF7C8-9B33-47CE-A342-D1F15E8455B8}"/>
              </a:ext>
            </a:extLst>
          </p:cNvPr>
          <p:cNvSpPr>
            <a:spLocks xmlns:a="http://schemas.openxmlformats.org/drawingml/2006/main" noGrp="1"/>
          </p:cNvSpPr>
          <p:nvPr/>
        </p:nvSpPr>
        <p:spPr>
          <a:xfrm xmlns:a="http://schemas.openxmlformats.org/drawingml/2006/main">
            <a:off x="583882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Storage</a:t>
            </a:r>
          </a:p>
        </p:txBody>
      </p:sp>
      <p:sp>
        <p:nvSpPr>
          <p:cNvPr id="13" name="">
            <a:extLst xmlns:a="http://schemas.openxmlformats.org/drawingml/2006/main">
              <a:ext uri="{FF2B5EF4-FFF2-40B4-BE49-F238E27FC236}">
                <a16:creationId xmlns:a16="http://schemas.microsoft.com/office/drawing/2014/main" id="{2B1E20C2-C168-4B89-B203-AD0EA5BD8B29}"/>
              </a:ext>
            </a:extLst>
          </p:cNvPr>
          <p:cNvSpPr>
            <a:spLocks xmlns:a="http://schemas.openxmlformats.org/drawingml/2006/main" noGrp="1"/>
          </p:cNvSpPr>
          <p:nvPr/>
        </p:nvSpPr>
        <p:spPr>
          <a:xfrm xmlns:a="http://schemas.openxmlformats.org/drawingml/2006/main">
            <a:off x="8572500" y="2857500"/>
            <a:ext cx="876300" cy="8763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We</a:t>
            </a:r>
          </a:p>
        </p:txBody>
      </p:sp>
      <p:sp>
        <p:nvSpPr>
          <p:cNvPr id="14" name="">
            <a:extLst xmlns:a="http://schemas.openxmlformats.org/drawingml/2006/main">
              <a:ext uri="{FF2B5EF4-FFF2-40B4-BE49-F238E27FC236}">
                <a16:creationId xmlns:a16="http://schemas.microsoft.com/office/drawing/2014/main" id="{CD3671BD-0177-4476-AD97-DA6342917083}"/>
              </a:ext>
            </a:extLst>
          </p:cNvPr>
          <p:cNvSpPr>
            <a:spLocks xmlns:a="http://schemas.openxmlformats.org/drawingml/2006/main" noGrp="1"/>
          </p:cNvSpPr>
          <p:nvPr/>
        </p:nvSpPr>
        <p:spPr>
          <a:xfrm xmlns:a="http://schemas.openxmlformats.org/drawingml/2006/main">
            <a:off x="826770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Web App</a:t>
            </a:r>
          </a:p>
        </p:txBody>
      </p:sp>
      <p:sp>
        <p:nvSpPr>
          <p:cNvPr id="15" name="">
            <a:extLst xmlns:a="http://schemas.openxmlformats.org/drawingml/2006/main">
              <a:ext uri="{FF2B5EF4-FFF2-40B4-BE49-F238E27FC236}">
                <a16:creationId xmlns:a16="http://schemas.microsoft.com/office/drawing/2014/main" id="{6BDFA553-D9BB-4B63-B1E0-90DB111EB29C}"/>
              </a:ext>
            </a:extLst>
          </p:cNvPr>
          <p:cNvSpPr>
            <a:spLocks xmlns:a="http://schemas.openxmlformats.org/drawingml/2006/main" noGrp="1"/>
          </p:cNvSpPr>
          <p:nvPr/>
        </p:nvSpPr>
        <p:spPr>
          <a:xfrm xmlns:a="http://schemas.openxmlformats.org/drawingml/2006/main">
            <a:off x="138112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Create together</a:t>
            </a:r>
          </a:p>
        </p:txBody>
      </p:sp>
      <p:sp>
        <p:nvSpPr>
          <p:cNvPr id="16" name="">
            <a:extLst xmlns:a="http://schemas.openxmlformats.org/drawingml/2006/main">
              <a:ext uri="{FF2B5EF4-FFF2-40B4-BE49-F238E27FC236}">
                <a16:creationId xmlns:a16="http://schemas.microsoft.com/office/drawing/2014/main" id="{D0915FC0-B08E-483D-97E5-114B63A0F1DB}"/>
              </a:ext>
            </a:extLst>
          </p:cNvPr>
          <p:cNvSpPr>
            <a:spLocks xmlns:a="http://schemas.openxmlformats.org/drawingml/2006/main" noGrp="1"/>
          </p:cNvSpPr>
          <p:nvPr/>
        </p:nvSpPr>
        <p:spPr>
          <a:xfrm xmlns:a="http://schemas.openxmlformats.org/drawingml/2006/main">
            <a:off x="4953000"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Review together</a:t>
            </a:r>
          </a:p>
        </p:txBody>
      </p:sp>
      <p:sp>
        <p:nvSpPr>
          <p:cNvPr id="17" name="">
            <a:extLst xmlns:a="http://schemas.openxmlformats.org/drawingml/2006/main">
              <a:ext uri="{FF2B5EF4-FFF2-40B4-BE49-F238E27FC236}">
                <a16:creationId xmlns:a16="http://schemas.microsoft.com/office/drawing/2014/main" id="{3B2FE3E3-7726-4B1E-AFC4-A0B30B7F8D2A}"/>
              </a:ext>
            </a:extLst>
          </p:cNvPr>
          <p:cNvSpPr>
            <a:spLocks xmlns:a="http://schemas.openxmlformats.org/drawingml/2006/main" noGrp="1"/>
          </p:cNvSpPr>
          <p:nvPr/>
        </p:nvSpPr>
        <p:spPr>
          <a:xfrm xmlns:a="http://schemas.openxmlformats.org/drawingml/2006/main">
            <a:off x="852487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D83B01"/>
                </a:solidFill>
                <a:latin typeface="Arial"/>
                <a:ea typeface="Arial"/>
                <a:cs typeface="Arial"/>
              </a:defRPr>
            </a:pPr>
            <a:r>
              <a:rPr sz="1500" b="1">
                <a:solidFill>
                  <a:srgbClr val="D83B01"/>
                </a:solidFill>
                <a:latin typeface="Arial"/>
                <a:ea typeface="Arial"/>
                <a:cs typeface="Arial"/>
              </a:rPr>
              <a:t>Delete together</a:t>
            </a:r>
          </a:p>
        </p:txBody>
      </p:sp>
    </p:spTree>
    <p:extLst>
      <p:ext uri="{BB962C8B-B14F-4D97-AF65-F5344CB8AC3E}">
        <p14:creationId xmlns:p14="http://schemas.microsoft.com/office/powerpoint/2010/main" val="4363731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569E3FD-74C8-4EFF-900C-D0B79D069515}"/>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compute choices</a:t>
            </a:r>
          </a:p>
        </p:txBody>
      </p:sp>
      <p:sp>
        <p:nvSpPr>
          <p:cNvPr id="2" name="">
            <a:extLst xmlns:a="http://schemas.openxmlformats.org/drawingml/2006/main">
              <a:ext uri="{FF2B5EF4-FFF2-40B4-BE49-F238E27FC236}">
                <a16:creationId xmlns:a16="http://schemas.microsoft.com/office/drawing/2014/main" id="{D02B4C2F-0929-4FDA-B787-5937B1C2006E}"/>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721CED-CE55-40BB-9552-023750709338}"/>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Choose the simplest service that fits the workload</a:t>
            </a:r>
          </a:p>
        </p:txBody>
      </p:sp>
      <p:sp>
        <p:nvSpPr>
          <p:cNvPr id="4" name="">
            <a:extLst xmlns:a="http://schemas.openxmlformats.org/drawingml/2006/main">
              <a:ext uri="{FF2B5EF4-FFF2-40B4-BE49-F238E27FC236}">
                <a16:creationId xmlns:a16="http://schemas.microsoft.com/office/drawing/2014/main" id="{E17864E5-F1AF-4C57-B739-3E3D02FEA1D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07</a:t>
            </a:r>
          </a:p>
        </p:txBody>
      </p:sp>
      <p:sp>
        <p:nvSpPr>
          <p:cNvPr id="5" name="">
            <a:extLst xmlns:a="http://schemas.openxmlformats.org/drawingml/2006/main">
              <a:ext uri="{FF2B5EF4-FFF2-40B4-BE49-F238E27FC236}">
                <a16:creationId xmlns:a16="http://schemas.microsoft.com/office/drawing/2014/main" id="{7E37691B-4804-4923-B83D-745F0CDFA7CD}"/>
              </a:ext>
            </a:extLst>
          </p:cNvPr>
          <p:cNvSpPr>
            <a:spLocks xmlns:a="http://schemas.openxmlformats.org/drawingml/2006/main" noGrp="1"/>
          </p:cNvSpPr>
          <p:nvPr/>
        </p:nvSpPr>
        <p:spPr>
          <a:xfrm xmlns:a="http://schemas.openxmlformats.org/drawingml/2006/main">
            <a:off x="762000" y="1428750"/>
            <a:ext cx="590550" cy="5905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B04BDA0-4C00-4493-80A7-974F6B82DAAC}"/>
              </a:ext>
            </a:extLst>
          </p:cNvPr>
          <p:cNvSpPr>
            <a:spLocks xmlns:a="http://schemas.openxmlformats.org/drawingml/2006/main" noGrp="1"/>
          </p:cNvSpPr>
          <p:nvPr/>
        </p:nvSpPr>
        <p:spPr>
          <a:xfrm xmlns:a="http://schemas.openxmlformats.org/drawingml/2006/main">
            <a:off x="1638300" y="14097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7" name="">
            <a:extLst xmlns:a="http://schemas.openxmlformats.org/drawingml/2006/main">
              <a:ext uri="{FF2B5EF4-FFF2-40B4-BE49-F238E27FC236}">
                <a16:creationId xmlns:a16="http://schemas.microsoft.com/office/drawing/2014/main" id="{8AA1FC78-F974-4A36-AA4A-C1EC6D98F4D4}"/>
              </a:ext>
            </a:extLst>
          </p:cNvPr>
          <p:cNvSpPr>
            <a:spLocks xmlns:a="http://schemas.openxmlformats.org/drawingml/2006/main" noGrp="1"/>
          </p:cNvSpPr>
          <p:nvPr/>
        </p:nvSpPr>
        <p:spPr>
          <a:xfrm xmlns:a="http://schemas.openxmlformats.org/drawingml/2006/main">
            <a:off x="4476750" y="14097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Full operating system control</a:t>
            </a:r>
          </a:p>
        </p:txBody>
      </p:sp>
      <p:sp>
        <p:nvSpPr>
          <p:cNvPr id="8" name="">
            <a:extLst xmlns:a="http://schemas.openxmlformats.org/drawingml/2006/main">
              <a:ext uri="{FF2B5EF4-FFF2-40B4-BE49-F238E27FC236}">
                <a16:creationId xmlns:a16="http://schemas.microsoft.com/office/drawing/2014/main" id="{A5E30D25-927B-450F-9BA3-2A05BDB09051}"/>
              </a:ext>
            </a:extLst>
          </p:cNvPr>
          <p:cNvSpPr>
            <a:spLocks xmlns:a="http://schemas.openxmlformats.org/drawingml/2006/main" noGrp="1"/>
          </p:cNvSpPr>
          <p:nvPr/>
        </p:nvSpPr>
        <p:spPr>
          <a:xfrm xmlns:a="http://schemas.openxmlformats.org/drawingml/2006/main">
            <a:off x="7858125" y="14097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Legacy app or custom server</a:t>
            </a:r>
          </a:p>
        </p:txBody>
      </p:sp>
      <p:sp>
        <p:nvSpPr>
          <p:cNvPr id="9" name="">
            <a:extLst xmlns:a="http://schemas.openxmlformats.org/drawingml/2006/main">
              <a:ext uri="{FF2B5EF4-FFF2-40B4-BE49-F238E27FC236}">
                <a16:creationId xmlns:a16="http://schemas.microsoft.com/office/drawing/2014/main" id="{0F2E3998-78EB-4C58-AFDD-EEC5C359C0B6}"/>
              </a:ext>
            </a:extLst>
          </p:cNvPr>
          <p:cNvSpPr>
            <a:spLocks xmlns:a="http://schemas.openxmlformats.org/drawingml/2006/main" noGrp="1"/>
          </p:cNvSpPr>
          <p:nvPr/>
        </p:nvSpPr>
        <p:spPr>
          <a:xfrm xmlns:a="http://schemas.openxmlformats.org/drawingml/2006/main">
            <a:off x="1619250" y="21240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05E2B23-E0DC-4C09-88D2-C0E327F63035}"/>
              </a:ext>
            </a:extLst>
          </p:cNvPr>
          <p:cNvSpPr>
            <a:spLocks xmlns:a="http://schemas.openxmlformats.org/drawingml/2006/main" noGrp="1"/>
          </p:cNvSpPr>
          <p:nvPr/>
        </p:nvSpPr>
        <p:spPr>
          <a:xfrm xmlns:a="http://schemas.openxmlformats.org/drawingml/2006/main">
            <a:off x="762000" y="2476500"/>
            <a:ext cx="590550" cy="5905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39E73937-FD88-4017-A682-8608F93AEC4C}"/>
              </a:ext>
            </a:extLst>
          </p:cNvPr>
          <p:cNvSpPr>
            <a:spLocks xmlns:a="http://schemas.openxmlformats.org/drawingml/2006/main" noGrp="1"/>
          </p:cNvSpPr>
          <p:nvPr/>
        </p:nvSpPr>
        <p:spPr>
          <a:xfrm xmlns:a="http://schemas.openxmlformats.org/drawingml/2006/main">
            <a:off x="16383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2" name="">
            <a:extLst xmlns:a="http://schemas.openxmlformats.org/drawingml/2006/main">
              <a:ext uri="{FF2B5EF4-FFF2-40B4-BE49-F238E27FC236}">
                <a16:creationId xmlns:a16="http://schemas.microsoft.com/office/drawing/2014/main" id="{98B8419F-C2ED-49AD-AB2C-6BEF6CBE052D}"/>
              </a:ext>
            </a:extLst>
          </p:cNvPr>
          <p:cNvSpPr>
            <a:spLocks xmlns:a="http://schemas.openxmlformats.org/drawingml/2006/main" noGrp="1"/>
          </p:cNvSpPr>
          <p:nvPr/>
        </p:nvSpPr>
        <p:spPr>
          <a:xfrm xmlns:a="http://schemas.openxmlformats.org/drawingml/2006/main">
            <a:off x="4476750" y="24574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Managed web hosting</a:t>
            </a:r>
          </a:p>
        </p:txBody>
      </p:sp>
      <p:sp>
        <p:nvSpPr>
          <p:cNvPr id="13" name="">
            <a:extLst xmlns:a="http://schemas.openxmlformats.org/drawingml/2006/main">
              <a:ext uri="{FF2B5EF4-FFF2-40B4-BE49-F238E27FC236}">
                <a16:creationId xmlns:a16="http://schemas.microsoft.com/office/drawing/2014/main" id="{DE9529FC-D58C-4A17-9938-0D9B6A67A7BE}"/>
              </a:ext>
            </a:extLst>
          </p:cNvPr>
          <p:cNvSpPr>
            <a:spLocks xmlns:a="http://schemas.openxmlformats.org/drawingml/2006/main" noGrp="1"/>
          </p:cNvSpPr>
          <p:nvPr/>
        </p:nvSpPr>
        <p:spPr>
          <a:xfrm xmlns:a="http://schemas.openxmlformats.org/drawingml/2006/main">
            <a:off x="7858125" y="24574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Website or API</a:t>
            </a:r>
          </a:p>
        </p:txBody>
      </p:sp>
      <p:sp>
        <p:nvSpPr>
          <p:cNvPr id="14" name="">
            <a:extLst xmlns:a="http://schemas.openxmlformats.org/drawingml/2006/main">
              <a:ext uri="{FF2B5EF4-FFF2-40B4-BE49-F238E27FC236}">
                <a16:creationId xmlns:a16="http://schemas.microsoft.com/office/drawing/2014/main" id="{127B4146-6DA6-4080-9C6C-6294F3455B48}"/>
              </a:ext>
            </a:extLst>
          </p:cNvPr>
          <p:cNvSpPr>
            <a:spLocks xmlns:a="http://schemas.openxmlformats.org/drawingml/2006/main" noGrp="1"/>
          </p:cNvSpPr>
          <p:nvPr/>
        </p:nvSpPr>
        <p:spPr>
          <a:xfrm xmlns:a="http://schemas.openxmlformats.org/drawingml/2006/main">
            <a:off x="1619250" y="317182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38CC5D-1FF8-40E1-B3E5-D644790B74CA}"/>
              </a:ext>
            </a:extLst>
          </p:cNvPr>
          <p:cNvSpPr>
            <a:spLocks xmlns:a="http://schemas.openxmlformats.org/drawingml/2006/main" noGrp="1"/>
          </p:cNvSpPr>
          <p:nvPr/>
        </p:nvSpPr>
        <p:spPr>
          <a:xfrm xmlns:a="http://schemas.openxmlformats.org/drawingml/2006/main">
            <a:off x="762000" y="3524250"/>
            <a:ext cx="590550" cy="5905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17F8C778-5DDB-474E-B45E-A34E9CE7492A}"/>
              </a:ext>
            </a:extLst>
          </p:cNvPr>
          <p:cNvSpPr>
            <a:spLocks xmlns:a="http://schemas.openxmlformats.org/drawingml/2006/main" noGrp="1"/>
          </p:cNvSpPr>
          <p:nvPr/>
        </p:nvSpPr>
        <p:spPr>
          <a:xfrm xmlns:a="http://schemas.openxmlformats.org/drawingml/2006/main">
            <a:off x="1638300" y="35052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Functions</a:t>
            </a:r>
          </a:p>
        </p:txBody>
      </p:sp>
      <p:sp>
        <p:nvSpPr>
          <p:cNvPr id="17" name="">
            <a:extLst xmlns:a="http://schemas.openxmlformats.org/drawingml/2006/main">
              <a:ext uri="{FF2B5EF4-FFF2-40B4-BE49-F238E27FC236}">
                <a16:creationId xmlns:a16="http://schemas.microsoft.com/office/drawing/2014/main" id="{A2F76550-3BBF-4554-AC95-C8D245C30FB0}"/>
              </a:ext>
            </a:extLst>
          </p:cNvPr>
          <p:cNvSpPr>
            <a:spLocks xmlns:a="http://schemas.openxmlformats.org/drawingml/2006/main" noGrp="1"/>
          </p:cNvSpPr>
          <p:nvPr/>
        </p:nvSpPr>
        <p:spPr>
          <a:xfrm xmlns:a="http://schemas.openxmlformats.org/drawingml/2006/main">
            <a:off x="4476750" y="35052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Runs code after an event</a:t>
            </a:r>
          </a:p>
        </p:txBody>
      </p:sp>
      <p:sp>
        <p:nvSpPr>
          <p:cNvPr id="18" name="">
            <a:extLst xmlns:a="http://schemas.openxmlformats.org/drawingml/2006/main">
              <a:ext uri="{FF2B5EF4-FFF2-40B4-BE49-F238E27FC236}">
                <a16:creationId xmlns:a16="http://schemas.microsoft.com/office/drawing/2014/main" id="{8CBB8DD2-D8C6-4A7F-83AE-446155E5E466}"/>
              </a:ext>
            </a:extLst>
          </p:cNvPr>
          <p:cNvSpPr>
            <a:spLocks xmlns:a="http://schemas.openxmlformats.org/drawingml/2006/main" noGrp="1"/>
          </p:cNvSpPr>
          <p:nvPr/>
        </p:nvSpPr>
        <p:spPr>
          <a:xfrm xmlns:a="http://schemas.openxmlformats.org/drawingml/2006/main">
            <a:off x="7858125" y="35052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Short background task</a:t>
            </a:r>
          </a:p>
        </p:txBody>
      </p:sp>
      <p:sp>
        <p:nvSpPr>
          <p:cNvPr id="19" name="">
            <a:extLst xmlns:a="http://schemas.openxmlformats.org/drawingml/2006/main">
              <a:ext uri="{FF2B5EF4-FFF2-40B4-BE49-F238E27FC236}">
                <a16:creationId xmlns:a16="http://schemas.microsoft.com/office/drawing/2014/main" id="{818C267B-04DA-45B5-8CC8-AFE514A2ED1D}"/>
              </a:ext>
            </a:extLst>
          </p:cNvPr>
          <p:cNvSpPr>
            <a:spLocks xmlns:a="http://schemas.openxmlformats.org/drawingml/2006/main" noGrp="1"/>
          </p:cNvSpPr>
          <p:nvPr/>
        </p:nvSpPr>
        <p:spPr>
          <a:xfrm xmlns:a="http://schemas.openxmlformats.org/drawingml/2006/main">
            <a:off x="1619250" y="42195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72CDC1-EFE7-4CBC-BC70-18A6FA6412DF}"/>
              </a:ext>
            </a:extLst>
          </p:cNvPr>
          <p:cNvSpPr>
            <a:spLocks xmlns:a="http://schemas.openxmlformats.org/drawingml/2006/main" noGrp="1"/>
          </p:cNvSpPr>
          <p:nvPr/>
        </p:nvSpPr>
        <p:spPr>
          <a:xfrm xmlns:a="http://schemas.openxmlformats.org/drawingml/2006/main">
            <a:off x="762000" y="4572000"/>
            <a:ext cx="590550" cy="5905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FCDC4956-7346-4302-A840-9A87724EE8CF}"/>
              </a:ext>
            </a:extLst>
          </p:cNvPr>
          <p:cNvSpPr>
            <a:spLocks xmlns:a="http://schemas.openxmlformats.org/drawingml/2006/main" noGrp="1"/>
          </p:cNvSpPr>
          <p:nvPr/>
        </p:nvSpPr>
        <p:spPr>
          <a:xfrm xmlns:a="http://schemas.openxmlformats.org/drawingml/2006/main">
            <a:off x="1638300" y="45529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Containers / AKS</a:t>
            </a:r>
          </a:p>
        </p:txBody>
      </p:sp>
      <p:sp>
        <p:nvSpPr>
          <p:cNvPr id="22" name="">
            <a:extLst xmlns:a="http://schemas.openxmlformats.org/drawingml/2006/main">
              <a:ext uri="{FF2B5EF4-FFF2-40B4-BE49-F238E27FC236}">
                <a16:creationId xmlns:a16="http://schemas.microsoft.com/office/drawing/2014/main" id="{54DA0268-0FDF-45A3-A05E-8091060702C8}"/>
              </a:ext>
            </a:extLst>
          </p:cNvPr>
          <p:cNvSpPr>
            <a:spLocks xmlns:a="http://schemas.openxmlformats.org/drawingml/2006/main" noGrp="1"/>
          </p:cNvSpPr>
          <p:nvPr/>
        </p:nvSpPr>
        <p:spPr>
          <a:xfrm xmlns:a="http://schemas.openxmlformats.org/drawingml/2006/main">
            <a:off x="4476750" y="45529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2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Packages and orchestrates services</a:t>
            </a:r>
          </a:p>
        </p:txBody>
      </p:sp>
      <p:sp>
        <p:nvSpPr>
          <p:cNvPr id="23" name="">
            <a:extLst xmlns:a="http://schemas.openxmlformats.org/drawingml/2006/main">
              <a:ext uri="{FF2B5EF4-FFF2-40B4-BE49-F238E27FC236}">
                <a16:creationId xmlns:a16="http://schemas.microsoft.com/office/drawing/2014/main" id="{2F910875-6525-46C7-920B-4A4C2DE1D03D}"/>
              </a:ext>
            </a:extLst>
          </p:cNvPr>
          <p:cNvSpPr>
            <a:spLocks xmlns:a="http://schemas.openxmlformats.org/drawingml/2006/main" noGrp="1"/>
          </p:cNvSpPr>
          <p:nvPr/>
        </p:nvSpPr>
        <p:spPr>
          <a:xfrm xmlns:a="http://schemas.openxmlformats.org/drawingml/2006/main">
            <a:off x="7858125" y="45529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Complex container platform</a:t>
            </a:r>
          </a:p>
        </p:txBody>
      </p:sp>
    </p:spTree>
    <p:extLst>
      <p:ext uri="{BB962C8B-B14F-4D97-AF65-F5344CB8AC3E}">
        <p14:creationId xmlns:p14="http://schemas.microsoft.com/office/powerpoint/2010/main" val="12142055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E1748A3-4A03-487A-8FE6-8AA711082280}"/>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 virtual machine needs supporting resources</a:t>
            </a:r>
          </a:p>
        </p:txBody>
      </p:sp>
      <p:sp>
        <p:nvSpPr>
          <p:cNvPr id="2" name="">
            <a:extLst xmlns:a="http://schemas.openxmlformats.org/drawingml/2006/main">
              <a:ext uri="{FF2B5EF4-FFF2-40B4-BE49-F238E27FC236}">
                <a16:creationId xmlns:a16="http://schemas.microsoft.com/office/drawing/2014/main" id="{29F9C342-A18E-4163-9D87-EEB850BCD78A}"/>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1CA633-8706-4772-8E6B-8E330DA6E481}"/>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VM is one part of the deployed system</a:t>
            </a:r>
          </a:p>
        </p:txBody>
      </p:sp>
      <p:sp>
        <p:nvSpPr>
          <p:cNvPr id="4" name="">
            <a:extLst xmlns:a="http://schemas.openxmlformats.org/drawingml/2006/main">
              <a:ext uri="{FF2B5EF4-FFF2-40B4-BE49-F238E27FC236}">
                <a16:creationId xmlns:a16="http://schemas.microsoft.com/office/drawing/2014/main" id="{27FF921C-CC76-41C3-9D18-935DDD846F00}"/>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08</a:t>
            </a:r>
          </a:p>
        </p:txBody>
      </p:sp>
      <p:sp>
        <p:nvSpPr>
          <p:cNvPr id="5" name="">
            <a:extLst xmlns:a="http://schemas.openxmlformats.org/drawingml/2006/main">
              <a:ext uri="{FF2B5EF4-FFF2-40B4-BE49-F238E27FC236}">
                <a16:creationId xmlns:a16="http://schemas.microsoft.com/office/drawing/2014/main" id="{14509FD2-301D-4D0A-AB51-7FF543A04477}"/>
              </a:ext>
            </a:extLst>
          </p:cNvPr>
          <p:cNvSpPr>
            <a:spLocks xmlns:a="http://schemas.openxmlformats.org/drawingml/2006/main" noGrp="1"/>
          </p:cNvSpPr>
          <p:nvPr/>
        </p:nvSpPr>
        <p:spPr>
          <a:xfrm xmlns:a="http://schemas.openxmlformats.org/drawingml/2006/main">
            <a:off x="4905375" y="2333625"/>
            <a:ext cx="1428750" cy="14287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VM</a:t>
            </a:r>
          </a:p>
        </p:txBody>
      </p:sp>
      <p:sp>
        <p:nvSpPr>
          <p:cNvPr id="6" name="">
            <a:extLst xmlns:a="http://schemas.openxmlformats.org/drawingml/2006/main">
              <a:ext uri="{FF2B5EF4-FFF2-40B4-BE49-F238E27FC236}">
                <a16:creationId xmlns:a16="http://schemas.microsoft.com/office/drawing/2014/main" id="{30DB7117-E241-49F3-9C51-CD5087654D00}"/>
              </a:ext>
            </a:extLst>
          </p:cNvPr>
          <p:cNvSpPr>
            <a:spLocks xmlns:a="http://schemas.openxmlformats.org/drawingml/2006/main" noGrp="1"/>
          </p:cNvSpPr>
          <p:nvPr/>
        </p:nvSpPr>
        <p:spPr>
          <a:xfrm xmlns:a="http://schemas.openxmlformats.org/drawingml/2006/main">
            <a:off x="114300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7324D"/>
            </a:solidFill>
          </a:ln>
        </p:spPr>
      </p:sp>
      <p:sp>
        <p:nvSpPr>
          <p:cNvPr id="7" name="">
            <a:extLst xmlns:a="http://schemas.openxmlformats.org/drawingml/2006/main">
              <a:ext uri="{FF2B5EF4-FFF2-40B4-BE49-F238E27FC236}">
                <a16:creationId xmlns:a16="http://schemas.microsoft.com/office/drawing/2014/main" id="{1DAA576B-34D1-4BD3-BCEE-90AD288522F0}"/>
              </a:ext>
            </a:extLst>
          </p:cNvPr>
          <p:cNvSpPr>
            <a:spLocks xmlns:a="http://schemas.openxmlformats.org/drawingml/2006/main" noGrp="1"/>
          </p:cNvSpPr>
          <p:nvPr/>
        </p:nvSpPr>
        <p:spPr>
          <a:xfrm xmlns:a="http://schemas.openxmlformats.org/drawingml/2006/main">
            <a:off x="137160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Image</a:t>
            </a:r>
          </a:p>
        </p:txBody>
      </p:sp>
      <p:sp>
        <p:nvSpPr>
          <p:cNvPr id="8" name="">
            <a:extLst xmlns:a="http://schemas.openxmlformats.org/drawingml/2006/main">
              <a:ext uri="{FF2B5EF4-FFF2-40B4-BE49-F238E27FC236}">
                <a16:creationId xmlns:a16="http://schemas.microsoft.com/office/drawing/2014/main" id="{6D489EBC-6F10-4019-8143-E7C15A22FA1B}"/>
              </a:ext>
            </a:extLst>
          </p:cNvPr>
          <p:cNvSpPr>
            <a:spLocks xmlns:a="http://schemas.openxmlformats.org/drawingml/2006/main" noGrp="1"/>
          </p:cNvSpPr>
          <p:nvPr/>
        </p:nvSpPr>
        <p:spPr>
          <a:xfrm xmlns:a="http://schemas.openxmlformats.org/drawingml/2006/main">
            <a:off x="137160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Starting OS</a:t>
            </a:r>
          </a:p>
        </p:txBody>
      </p:sp>
      <p:sp>
        <p:nvSpPr>
          <p:cNvPr id="9" name="">
            <a:extLst xmlns:a="http://schemas.openxmlformats.org/drawingml/2006/main">
              <a:ext uri="{FF2B5EF4-FFF2-40B4-BE49-F238E27FC236}">
                <a16:creationId xmlns:a16="http://schemas.microsoft.com/office/drawing/2014/main" id="{33163001-CEEA-4880-8A8F-E4F106D41FF6}"/>
              </a:ext>
            </a:extLst>
          </p:cNvPr>
          <p:cNvSpPr>
            <a:spLocks xmlns:a="http://schemas.openxmlformats.org/drawingml/2006/main" noGrp="1"/>
          </p:cNvSpPr>
          <p:nvPr/>
        </p:nvSpPr>
        <p:spPr>
          <a:xfrm xmlns:a="http://schemas.openxmlformats.org/drawingml/2006/main">
            <a:off x="114300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00A4EF"/>
            </a:solidFill>
          </a:ln>
        </p:spPr>
      </p:sp>
      <p:sp>
        <p:nvSpPr>
          <p:cNvPr id="10" name="">
            <a:extLst xmlns:a="http://schemas.openxmlformats.org/drawingml/2006/main">
              <a:ext uri="{FF2B5EF4-FFF2-40B4-BE49-F238E27FC236}">
                <a16:creationId xmlns:a16="http://schemas.microsoft.com/office/drawing/2014/main" id="{2AE603B8-9A93-48BD-9D58-3B04D8471F7F}"/>
              </a:ext>
            </a:extLst>
          </p:cNvPr>
          <p:cNvSpPr>
            <a:spLocks xmlns:a="http://schemas.openxmlformats.org/drawingml/2006/main" noGrp="1"/>
          </p:cNvSpPr>
          <p:nvPr/>
        </p:nvSpPr>
        <p:spPr>
          <a:xfrm xmlns:a="http://schemas.openxmlformats.org/drawingml/2006/main">
            <a:off x="137160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00A4EF"/>
                </a:solidFill>
                <a:latin typeface="Arial"/>
                <a:ea typeface="Arial"/>
                <a:cs typeface="Arial"/>
              </a:defRPr>
            </a:pPr>
            <a:r>
              <a:rPr sz="1725" b="1">
                <a:solidFill>
                  <a:srgbClr val="00A4EF"/>
                </a:solidFill>
                <a:latin typeface="Arial"/>
                <a:ea typeface="Arial"/>
                <a:cs typeface="Arial"/>
              </a:rPr>
              <a:t>Size</a:t>
            </a:r>
          </a:p>
        </p:txBody>
      </p:sp>
      <p:sp>
        <p:nvSpPr>
          <p:cNvPr id="11" name="">
            <a:extLst xmlns:a="http://schemas.openxmlformats.org/drawingml/2006/main">
              <a:ext uri="{FF2B5EF4-FFF2-40B4-BE49-F238E27FC236}">
                <a16:creationId xmlns:a16="http://schemas.microsoft.com/office/drawing/2014/main" id="{B287F180-1A07-4DE1-A910-045B88DCA9BB}"/>
              </a:ext>
            </a:extLst>
          </p:cNvPr>
          <p:cNvSpPr>
            <a:spLocks xmlns:a="http://schemas.openxmlformats.org/drawingml/2006/main" noGrp="1"/>
          </p:cNvSpPr>
          <p:nvPr/>
        </p:nvSpPr>
        <p:spPr>
          <a:xfrm xmlns:a="http://schemas.openxmlformats.org/drawingml/2006/main">
            <a:off x="137160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CPU and memory</a:t>
            </a:r>
          </a:p>
        </p:txBody>
      </p:sp>
      <p:sp>
        <p:nvSpPr>
          <p:cNvPr id="12" name="">
            <a:extLst xmlns:a="http://schemas.openxmlformats.org/drawingml/2006/main">
              <a:ext uri="{FF2B5EF4-FFF2-40B4-BE49-F238E27FC236}">
                <a16:creationId xmlns:a16="http://schemas.microsoft.com/office/drawing/2014/main" id="{337DE7A9-43F0-4625-9325-5A3BFB9D0D1B}"/>
              </a:ext>
            </a:extLst>
          </p:cNvPr>
          <p:cNvSpPr>
            <a:spLocks xmlns:a="http://schemas.openxmlformats.org/drawingml/2006/main" noGrp="1"/>
          </p:cNvSpPr>
          <p:nvPr/>
        </p:nvSpPr>
        <p:spPr>
          <a:xfrm xmlns:a="http://schemas.openxmlformats.org/drawingml/2006/main">
            <a:off x="847725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07C10"/>
            </a:solidFill>
          </a:ln>
        </p:spPr>
      </p:sp>
      <p:sp>
        <p:nvSpPr>
          <p:cNvPr id="13" name="">
            <a:extLst xmlns:a="http://schemas.openxmlformats.org/drawingml/2006/main">
              <a:ext uri="{FF2B5EF4-FFF2-40B4-BE49-F238E27FC236}">
                <a16:creationId xmlns:a16="http://schemas.microsoft.com/office/drawing/2014/main" id="{252FB18D-72F1-4026-8811-8F1C2DAC7539}"/>
              </a:ext>
            </a:extLst>
          </p:cNvPr>
          <p:cNvSpPr>
            <a:spLocks xmlns:a="http://schemas.openxmlformats.org/drawingml/2006/main" noGrp="1"/>
          </p:cNvSpPr>
          <p:nvPr/>
        </p:nvSpPr>
        <p:spPr>
          <a:xfrm xmlns:a="http://schemas.openxmlformats.org/drawingml/2006/main">
            <a:off x="870585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7C10"/>
                </a:solidFill>
                <a:latin typeface="Arial"/>
                <a:ea typeface="Arial"/>
                <a:cs typeface="Arial"/>
              </a:defRPr>
            </a:pPr>
            <a:r>
              <a:rPr sz="1725" b="1">
                <a:solidFill>
                  <a:srgbClr val="107C10"/>
                </a:solidFill>
                <a:latin typeface="Arial"/>
                <a:ea typeface="Arial"/>
                <a:cs typeface="Arial"/>
              </a:rPr>
              <a:t>OS disk</a:t>
            </a:r>
          </a:p>
        </p:txBody>
      </p:sp>
      <p:sp>
        <p:nvSpPr>
          <p:cNvPr id="14" name="">
            <a:extLst xmlns:a="http://schemas.openxmlformats.org/drawingml/2006/main">
              <a:ext uri="{FF2B5EF4-FFF2-40B4-BE49-F238E27FC236}">
                <a16:creationId xmlns:a16="http://schemas.microsoft.com/office/drawing/2014/main" id="{85DA05C7-76A9-420B-86D4-30841D4F35BA}"/>
              </a:ext>
            </a:extLst>
          </p:cNvPr>
          <p:cNvSpPr>
            <a:spLocks xmlns:a="http://schemas.openxmlformats.org/drawingml/2006/main" noGrp="1"/>
          </p:cNvSpPr>
          <p:nvPr/>
        </p:nvSpPr>
        <p:spPr>
          <a:xfrm xmlns:a="http://schemas.openxmlformats.org/drawingml/2006/main">
            <a:off x="870585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Persistent storage</a:t>
            </a:r>
          </a:p>
        </p:txBody>
      </p:sp>
      <p:sp>
        <p:nvSpPr>
          <p:cNvPr id="15" name="">
            <a:extLst xmlns:a="http://schemas.openxmlformats.org/drawingml/2006/main">
              <a:ext uri="{FF2B5EF4-FFF2-40B4-BE49-F238E27FC236}">
                <a16:creationId xmlns:a16="http://schemas.microsoft.com/office/drawing/2014/main" id="{D73F1E35-4A72-45C2-A7C0-2A5BE55DE9C3}"/>
              </a:ext>
            </a:extLst>
          </p:cNvPr>
          <p:cNvSpPr>
            <a:spLocks xmlns:a="http://schemas.openxmlformats.org/drawingml/2006/main" noGrp="1"/>
          </p:cNvSpPr>
          <p:nvPr/>
        </p:nvSpPr>
        <p:spPr>
          <a:xfrm xmlns:a="http://schemas.openxmlformats.org/drawingml/2006/main">
            <a:off x="847725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1FD4C628-79CA-4B7F-BCC0-5A5C4B7A97B4}"/>
              </a:ext>
            </a:extLst>
          </p:cNvPr>
          <p:cNvSpPr>
            <a:spLocks xmlns:a="http://schemas.openxmlformats.org/drawingml/2006/main" noGrp="1"/>
          </p:cNvSpPr>
          <p:nvPr/>
        </p:nvSpPr>
        <p:spPr>
          <a:xfrm xmlns:a="http://schemas.openxmlformats.org/drawingml/2006/main">
            <a:off x="870585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FFB900"/>
                </a:solidFill>
                <a:latin typeface="Arial"/>
                <a:ea typeface="Arial"/>
                <a:cs typeface="Arial"/>
              </a:defRPr>
            </a:pPr>
            <a:r>
              <a:rPr sz="1725" b="1">
                <a:solidFill>
                  <a:srgbClr val="FFB900"/>
                </a:solidFill>
                <a:latin typeface="Arial"/>
                <a:ea typeface="Arial"/>
                <a:cs typeface="Arial"/>
              </a:rPr>
              <a:t>NIC</a:t>
            </a:r>
          </a:p>
        </p:txBody>
      </p:sp>
      <p:sp>
        <p:nvSpPr>
          <p:cNvPr id="17" name="">
            <a:extLst xmlns:a="http://schemas.openxmlformats.org/drawingml/2006/main">
              <a:ext uri="{FF2B5EF4-FFF2-40B4-BE49-F238E27FC236}">
                <a16:creationId xmlns:a16="http://schemas.microsoft.com/office/drawing/2014/main" id="{80D5376F-1A77-4252-B8B5-8C62D75B0832}"/>
              </a:ext>
            </a:extLst>
          </p:cNvPr>
          <p:cNvSpPr>
            <a:spLocks xmlns:a="http://schemas.openxmlformats.org/drawingml/2006/main" noGrp="1"/>
          </p:cNvSpPr>
          <p:nvPr/>
        </p:nvSpPr>
        <p:spPr>
          <a:xfrm xmlns:a="http://schemas.openxmlformats.org/drawingml/2006/main">
            <a:off x="870585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Network connection</a:t>
            </a:r>
          </a:p>
        </p:txBody>
      </p:sp>
      <p:sp>
        <p:nvSpPr>
          <p:cNvPr id="18" name="">
            <a:extLst xmlns:a="http://schemas.openxmlformats.org/drawingml/2006/main">
              <a:ext uri="{FF2B5EF4-FFF2-40B4-BE49-F238E27FC236}">
                <a16:creationId xmlns:a16="http://schemas.microsoft.com/office/drawing/2014/main" id="{B6ED591D-7D33-43A0-96E3-9490BC657516}"/>
              </a:ext>
            </a:extLst>
          </p:cNvPr>
          <p:cNvSpPr>
            <a:spLocks xmlns:a="http://schemas.openxmlformats.org/drawingml/2006/main" noGrp="1"/>
          </p:cNvSpPr>
          <p:nvPr/>
        </p:nvSpPr>
        <p:spPr>
          <a:xfrm xmlns:a="http://schemas.openxmlformats.org/drawingml/2006/main">
            <a:off x="3714750" y="215265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D795038-5B6C-45C8-8B5D-5DABEB4A7607}"/>
              </a:ext>
            </a:extLst>
          </p:cNvPr>
          <p:cNvSpPr>
            <a:spLocks xmlns:a="http://schemas.openxmlformats.org/drawingml/2006/main" noGrp="1"/>
          </p:cNvSpPr>
          <p:nvPr/>
        </p:nvSpPr>
        <p:spPr>
          <a:xfrm xmlns:a="http://schemas.openxmlformats.org/drawingml/2006/main">
            <a:off x="3714750" y="434340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5586FCE-9EE5-41EF-9B43-C60702AFA9DA}"/>
              </a:ext>
            </a:extLst>
          </p:cNvPr>
          <p:cNvSpPr>
            <a:spLocks xmlns:a="http://schemas.openxmlformats.org/drawingml/2006/main" noGrp="1"/>
          </p:cNvSpPr>
          <p:nvPr/>
        </p:nvSpPr>
        <p:spPr>
          <a:xfrm xmlns:a="http://schemas.openxmlformats.org/drawingml/2006/main">
            <a:off x="6334125" y="215265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0A8A5E-ADF8-461C-BD70-EDF800FEC3D9}"/>
              </a:ext>
            </a:extLst>
          </p:cNvPr>
          <p:cNvSpPr>
            <a:spLocks xmlns:a="http://schemas.openxmlformats.org/drawingml/2006/main" noGrp="1"/>
          </p:cNvSpPr>
          <p:nvPr/>
        </p:nvSpPr>
        <p:spPr>
          <a:xfrm xmlns:a="http://schemas.openxmlformats.org/drawingml/2006/main">
            <a:off x="6334125" y="434340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334310C-9111-4FBD-B4B8-9B73222B7D54}"/>
              </a:ext>
            </a:extLst>
          </p:cNvPr>
          <p:cNvSpPr>
            <a:spLocks xmlns:a="http://schemas.openxmlformats.org/drawingml/2006/main" noGrp="1"/>
          </p:cNvSpPr>
          <p:nvPr/>
        </p:nvSpPr>
        <p:spPr>
          <a:xfrm xmlns:a="http://schemas.openxmlformats.org/drawingml/2006/main">
            <a:off x="3667125" y="5429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D83B01"/>
                </a:solidFill>
                <a:latin typeface="Arial"/>
                <a:ea typeface="Arial"/>
                <a:cs typeface="Arial"/>
              </a:defRPr>
            </a:pPr>
            <a:r>
              <a:rPr sz="1725" b="1">
                <a:solidFill>
                  <a:srgbClr val="D83B01"/>
                </a:solidFill>
                <a:latin typeface="Arial"/>
                <a:ea typeface="Arial"/>
                <a:cs typeface="Arial"/>
              </a:rPr>
              <a:t>Lab rule: no internet-wide RDP rule</a:t>
            </a:r>
          </a:p>
        </p:txBody>
      </p:sp>
    </p:spTree>
    <p:extLst>
      <p:ext uri="{BB962C8B-B14F-4D97-AF65-F5344CB8AC3E}">
        <p14:creationId xmlns:p14="http://schemas.microsoft.com/office/powerpoint/2010/main" val="20204089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3D7C10-1CC8-4C22-B1DC-12ED1473752B}"/>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networking</a:t>
            </a:r>
          </a:p>
        </p:txBody>
      </p:sp>
      <p:sp>
        <p:nvSpPr>
          <p:cNvPr id="2" name="">
            <a:extLst xmlns:a="http://schemas.openxmlformats.org/drawingml/2006/main">
              <a:ext uri="{FF2B5EF4-FFF2-40B4-BE49-F238E27FC236}">
                <a16:creationId xmlns:a16="http://schemas.microsoft.com/office/drawing/2014/main" id="{DE64DA74-87EB-48E6-BCAD-F52F44A34E91}"/>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63C059-B1D7-4B02-B593-617A826C035B}"/>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Private address space connects the workload</a:t>
            </a:r>
          </a:p>
        </p:txBody>
      </p:sp>
      <p:sp>
        <p:nvSpPr>
          <p:cNvPr id="4" name="">
            <a:extLst xmlns:a="http://schemas.openxmlformats.org/drawingml/2006/main">
              <a:ext uri="{FF2B5EF4-FFF2-40B4-BE49-F238E27FC236}">
                <a16:creationId xmlns:a16="http://schemas.microsoft.com/office/drawing/2014/main" id="{B15EF83A-DCFC-4C77-B1A4-DCF11A8A8E89}"/>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09</a:t>
            </a:r>
          </a:p>
        </p:txBody>
      </p:sp>
      <p:sp>
        <p:nvSpPr>
          <p:cNvPr id="5" name="">
            <a:extLst xmlns:a="http://schemas.openxmlformats.org/drawingml/2006/main">
              <a:ext uri="{FF2B5EF4-FFF2-40B4-BE49-F238E27FC236}">
                <a16:creationId xmlns:a16="http://schemas.microsoft.com/office/drawing/2014/main" id="{CE221218-D9A1-409B-9DA9-59EDF4BAF63E}"/>
              </a:ext>
            </a:extLst>
          </p:cNvPr>
          <p:cNvSpPr>
            <a:spLocks xmlns:a="http://schemas.openxmlformats.org/drawingml/2006/main" noGrp="1"/>
          </p:cNvSpPr>
          <p:nvPr/>
        </p:nvSpPr>
        <p:spPr>
          <a:xfrm xmlns:a="http://schemas.openxmlformats.org/drawingml/2006/main">
            <a:off x="904875" y="1476375"/>
            <a:ext cx="10382250" cy="4000500"/>
          </a:xfrm>
          <a:prstGeom xmlns:a="http://schemas.openxmlformats.org/drawingml/2006/main" prst="roundRect">
            <a:avLst>
              <a:gd name="adj" fmla="val 1905"/>
            </a:avLst>
          </a:prstGeom>
          <a:solidFill xmlns:a="http://schemas.openxmlformats.org/drawingml/2006/main">
            <a:srgbClr val="F4FAFD"/>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D2B72B5A-2858-4A90-9DD2-CCE85DDAACCB}"/>
              </a:ext>
            </a:extLst>
          </p:cNvPr>
          <p:cNvSpPr>
            <a:spLocks xmlns:a="http://schemas.openxmlformats.org/drawingml/2006/main" noGrp="1"/>
          </p:cNvSpPr>
          <p:nvPr/>
        </p:nvSpPr>
        <p:spPr>
          <a:xfrm xmlns:a="http://schemas.openxmlformats.org/drawingml/2006/main">
            <a:off x="1238250" y="171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vnet-mmaug-demo    10.0.0.0/16</a:t>
            </a:r>
          </a:p>
        </p:txBody>
      </p:sp>
      <p:sp>
        <p:nvSpPr>
          <p:cNvPr id="7" name="">
            <a:extLst xmlns:a="http://schemas.openxmlformats.org/drawingml/2006/main">
              <a:ext uri="{FF2B5EF4-FFF2-40B4-BE49-F238E27FC236}">
                <a16:creationId xmlns:a16="http://schemas.microsoft.com/office/drawing/2014/main" id="{CA022672-2B4B-4338-BBB8-A1125644EB7B}"/>
              </a:ext>
            </a:extLst>
          </p:cNvPr>
          <p:cNvSpPr>
            <a:spLocks xmlns:a="http://schemas.openxmlformats.org/drawingml/2006/main" noGrp="1"/>
          </p:cNvSpPr>
          <p:nvPr/>
        </p:nvSpPr>
        <p:spPr>
          <a:xfrm xmlns:a="http://schemas.openxmlformats.org/drawingml/2006/main">
            <a:off x="1476375" y="2381250"/>
            <a:ext cx="7239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792CDE9B-E74F-4322-9AFA-B2DE65F8FD17}"/>
              </a:ext>
            </a:extLst>
          </p:cNvPr>
          <p:cNvSpPr>
            <a:spLocks xmlns:a="http://schemas.openxmlformats.org/drawingml/2006/main" noGrp="1"/>
          </p:cNvSpPr>
          <p:nvPr/>
        </p:nvSpPr>
        <p:spPr>
          <a:xfrm xmlns:a="http://schemas.openxmlformats.org/drawingml/2006/main">
            <a:off x="1809750" y="26098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0A4EF"/>
                </a:solidFill>
                <a:latin typeface="Arial"/>
                <a:ea typeface="Arial"/>
                <a:cs typeface="Arial"/>
              </a:defRPr>
            </a:pPr>
            <a:r>
              <a:rPr sz="1650" b="1">
                <a:solidFill>
                  <a:srgbClr val="00A4EF"/>
                </a:solidFill>
                <a:latin typeface="Arial"/>
                <a:ea typeface="Arial"/>
                <a:cs typeface="Arial"/>
              </a:rPr>
              <a:t>snet-workload    10.0.1.0/24</a:t>
            </a:r>
          </a:p>
        </p:txBody>
      </p:sp>
      <p:sp>
        <p:nvSpPr>
          <p:cNvPr id="9" name="">
            <a:extLst xmlns:a="http://schemas.openxmlformats.org/drawingml/2006/main">
              <a:ext uri="{FF2B5EF4-FFF2-40B4-BE49-F238E27FC236}">
                <a16:creationId xmlns:a16="http://schemas.microsoft.com/office/drawing/2014/main" id="{8E1D42AE-3614-4199-A851-8A4BB108BF65}"/>
              </a:ext>
            </a:extLst>
          </p:cNvPr>
          <p:cNvSpPr>
            <a:spLocks xmlns:a="http://schemas.openxmlformats.org/drawingml/2006/main" noGrp="1"/>
          </p:cNvSpPr>
          <p:nvPr/>
        </p:nvSpPr>
        <p:spPr>
          <a:xfrm xmlns:a="http://schemas.openxmlformats.org/drawingml/2006/main">
            <a:off x="2333625" y="3352800"/>
            <a:ext cx="857250" cy="8572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NIC</a:t>
            </a:r>
          </a:p>
        </p:txBody>
      </p:sp>
      <p:sp>
        <p:nvSpPr>
          <p:cNvPr id="10" name="">
            <a:extLst xmlns:a="http://schemas.openxmlformats.org/drawingml/2006/main">
              <a:ext uri="{FF2B5EF4-FFF2-40B4-BE49-F238E27FC236}">
                <a16:creationId xmlns:a16="http://schemas.microsoft.com/office/drawing/2014/main" id="{98369DFD-A226-4BE7-9D36-130C23C13605}"/>
              </a:ext>
            </a:extLst>
          </p:cNvPr>
          <p:cNvSpPr>
            <a:spLocks xmlns:a="http://schemas.openxmlformats.org/drawingml/2006/main" noGrp="1"/>
          </p:cNvSpPr>
          <p:nvPr/>
        </p:nvSpPr>
        <p:spPr>
          <a:xfrm xmlns:a="http://schemas.openxmlformats.org/drawingml/2006/main">
            <a:off x="4429125" y="3352800"/>
            <a:ext cx="857250" cy="857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VM</a:t>
            </a:r>
          </a:p>
        </p:txBody>
      </p:sp>
      <p:sp>
        <p:nvSpPr>
          <p:cNvPr id="11" name="">
            <a:extLst xmlns:a="http://schemas.openxmlformats.org/drawingml/2006/main">
              <a:ext uri="{FF2B5EF4-FFF2-40B4-BE49-F238E27FC236}">
                <a16:creationId xmlns:a16="http://schemas.microsoft.com/office/drawing/2014/main" id="{B22B98DB-3F72-4592-B6F8-E52F24C57A6B}"/>
              </a:ext>
            </a:extLst>
          </p:cNvPr>
          <p:cNvSpPr>
            <a:spLocks xmlns:a="http://schemas.openxmlformats.org/drawingml/2006/main" noGrp="1"/>
          </p:cNvSpPr>
          <p:nvPr/>
        </p:nvSpPr>
        <p:spPr>
          <a:xfrm xmlns:a="http://schemas.openxmlformats.org/drawingml/2006/main">
            <a:off x="3190875" y="3752850"/>
            <a:ext cx="12382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E91D6D-8229-4456-94AD-BA93F5AC06F8}"/>
              </a:ext>
            </a:extLst>
          </p:cNvPr>
          <p:cNvSpPr>
            <a:spLocks xmlns:a="http://schemas.openxmlformats.org/drawingml/2006/main" noGrp="1"/>
          </p:cNvSpPr>
          <p:nvPr/>
        </p:nvSpPr>
        <p:spPr>
          <a:xfrm xmlns:a="http://schemas.openxmlformats.org/drawingml/2006/main">
            <a:off x="6524625" y="3238500"/>
            <a:ext cx="1714500" cy="1047750"/>
          </a:xfrm>
          <a:prstGeom xmlns:a="http://schemas.openxmlformats.org/drawingml/2006/main" prst="roundRect">
            <a:avLst>
              <a:gd name="adj" fmla="val 7273"/>
            </a:avLst>
          </a:prstGeom>
          <a:solidFill xmlns:a="http://schemas.openxmlformats.org/drawingml/2006/main">
            <a:srgbClr val="FFF4E8"/>
          </a:solidFill>
          <a:ln xmlns:a="http://schemas.openxmlformats.org/drawingml/2006/main" w="19050">
            <a:solidFill>
              <a:srgbClr val="D83B01"/>
            </a:solidFill>
          </a:ln>
        </p:spPr>
      </p:sp>
      <p:sp>
        <p:nvSpPr>
          <p:cNvPr id="13" name="">
            <a:extLst xmlns:a="http://schemas.openxmlformats.org/drawingml/2006/main">
              <a:ext uri="{FF2B5EF4-FFF2-40B4-BE49-F238E27FC236}">
                <a16:creationId xmlns:a16="http://schemas.microsoft.com/office/drawing/2014/main" id="{D53C886F-EC01-41B4-8494-9598E0921677}"/>
              </a:ext>
            </a:extLst>
          </p:cNvPr>
          <p:cNvSpPr>
            <a:spLocks xmlns:a="http://schemas.openxmlformats.org/drawingml/2006/main" noGrp="1"/>
          </p:cNvSpPr>
          <p:nvPr/>
        </p:nvSpPr>
        <p:spPr>
          <a:xfrm xmlns:a="http://schemas.openxmlformats.org/drawingml/2006/main">
            <a:off x="6858000" y="34290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NSG</a:t>
            </a:r>
          </a:p>
        </p:txBody>
      </p:sp>
      <p:sp>
        <p:nvSpPr>
          <p:cNvPr id="14" name="">
            <a:extLst xmlns:a="http://schemas.openxmlformats.org/drawingml/2006/main">
              <a:ext uri="{FF2B5EF4-FFF2-40B4-BE49-F238E27FC236}">
                <a16:creationId xmlns:a16="http://schemas.microsoft.com/office/drawing/2014/main" id="{F818FF02-7C8E-4CB1-BDB3-8675458A0AA9}"/>
              </a:ext>
            </a:extLst>
          </p:cNvPr>
          <p:cNvSpPr>
            <a:spLocks xmlns:a="http://schemas.openxmlformats.org/drawingml/2006/main" noGrp="1"/>
          </p:cNvSpPr>
          <p:nvPr/>
        </p:nvSpPr>
        <p:spPr>
          <a:xfrm xmlns:a="http://schemas.openxmlformats.org/drawingml/2006/main">
            <a:off x="6715125" y="381952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Traffic rules</a:t>
            </a:r>
          </a:p>
        </p:txBody>
      </p:sp>
      <p:sp>
        <p:nvSpPr>
          <p:cNvPr id="15" name="">
            <a:extLst xmlns:a="http://schemas.openxmlformats.org/drawingml/2006/main">
              <a:ext uri="{FF2B5EF4-FFF2-40B4-BE49-F238E27FC236}">
                <a16:creationId xmlns:a16="http://schemas.microsoft.com/office/drawing/2014/main" id="{C3D0777B-827A-47DF-83B4-8E4CA249E14A}"/>
              </a:ext>
            </a:extLst>
          </p:cNvPr>
          <p:cNvSpPr>
            <a:spLocks xmlns:a="http://schemas.openxmlformats.org/drawingml/2006/main" noGrp="1"/>
          </p:cNvSpPr>
          <p:nvPr/>
        </p:nvSpPr>
        <p:spPr>
          <a:xfrm xmlns:a="http://schemas.openxmlformats.org/drawingml/2006/main">
            <a:off x="9144000" y="2638425"/>
            <a:ext cx="1571625"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0078D4"/>
            </a:solidFill>
          </a:ln>
        </p:spPr>
      </p:sp>
      <p:sp>
        <p:nvSpPr>
          <p:cNvPr id="16" name="">
            <a:extLst xmlns:a="http://schemas.openxmlformats.org/drawingml/2006/main">
              <a:ext uri="{FF2B5EF4-FFF2-40B4-BE49-F238E27FC236}">
                <a16:creationId xmlns:a16="http://schemas.microsoft.com/office/drawing/2014/main" id="{3EA647CD-E83A-4C45-9E0E-9316B8D45FBE}"/>
              </a:ext>
            </a:extLst>
          </p:cNvPr>
          <p:cNvSpPr>
            <a:spLocks xmlns:a="http://schemas.openxmlformats.org/drawingml/2006/main" noGrp="1"/>
          </p:cNvSpPr>
          <p:nvPr/>
        </p:nvSpPr>
        <p:spPr>
          <a:xfrm xmlns:a="http://schemas.openxmlformats.org/drawingml/2006/main">
            <a:off x="9334500" y="2933700"/>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0078D4"/>
                </a:solidFill>
                <a:latin typeface="Arial"/>
                <a:ea typeface="Arial"/>
                <a:cs typeface="Arial"/>
              </a:defRPr>
            </a:pPr>
            <a:r>
              <a:rPr sz="1575" b="1">
                <a:solidFill>
                  <a:srgbClr val="0078D4"/>
                </a:solidFill>
                <a:latin typeface="Arial"/>
                <a:ea typeface="Arial"/>
                <a:cs typeface="Arial"/>
              </a:rPr>
              <a:t>Public IP</a:t>
            </a:r>
          </a:p>
        </p:txBody>
      </p:sp>
      <p:sp>
        <p:nvSpPr>
          <p:cNvPr id="17" name="">
            <a:extLst xmlns:a="http://schemas.openxmlformats.org/drawingml/2006/main">
              <a:ext uri="{FF2B5EF4-FFF2-40B4-BE49-F238E27FC236}">
                <a16:creationId xmlns:a16="http://schemas.microsoft.com/office/drawing/2014/main" id="{2FA39E02-518C-48E8-A19E-27A98DCA96F5}"/>
              </a:ext>
            </a:extLst>
          </p:cNvPr>
          <p:cNvSpPr>
            <a:spLocks xmlns:a="http://schemas.openxmlformats.org/drawingml/2006/main" noGrp="1"/>
          </p:cNvSpPr>
          <p:nvPr/>
        </p:nvSpPr>
        <p:spPr>
          <a:xfrm xmlns:a="http://schemas.openxmlformats.org/drawingml/2006/main">
            <a:off x="9353550" y="342900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2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Optional</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in this lab</a:t>
            </a:r>
          </a:p>
        </p:txBody>
      </p:sp>
      <p:sp>
        <p:nvSpPr>
          <p:cNvPr id="18" name="">
            <a:extLst xmlns:a="http://schemas.openxmlformats.org/drawingml/2006/main">
              <a:ext uri="{FF2B5EF4-FFF2-40B4-BE49-F238E27FC236}">
                <a16:creationId xmlns:a16="http://schemas.microsoft.com/office/drawing/2014/main" id="{6A62ECE8-E4B1-4CC3-B34A-DE87DD9CC035}"/>
              </a:ext>
            </a:extLst>
          </p:cNvPr>
          <p:cNvSpPr>
            <a:spLocks xmlns:a="http://schemas.openxmlformats.org/drawingml/2006/main" noGrp="1"/>
          </p:cNvSpPr>
          <p:nvPr/>
        </p:nvSpPr>
        <p:spPr>
          <a:xfrm xmlns:a="http://schemas.openxmlformats.org/drawingml/2006/main">
            <a:off x="1952625" y="50006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/16 is a larger range. /24 is a smaller range inside it.</a:t>
            </a:r>
          </a:p>
        </p:txBody>
      </p:sp>
    </p:spTree>
    <p:extLst>
      <p:ext uri="{BB962C8B-B14F-4D97-AF65-F5344CB8AC3E}">
        <p14:creationId xmlns:p14="http://schemas.microsoft.com/office/powerpoint/2010/main" val="15663413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F29BC49-8BAB-4158-AA6B-4D3CC4D8F7A7}"/>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Storage</a:t>
            </a:r>
          </a:p>
        </p:txBody>
      </p:sp>
      <p:sp>
        <p:nvSpPr>
          <p:cNvPr id="2" name="">
            <a:extLst xmlns:a="http://schemas.openxmlformats.org/drawingml/2006/main">
              <a:ext uri="{FF2B5EF4-FFF2-40B4-BE49-F238E27FC236}">
                <a16:creationId xmlns:a16="http://schemas.microsoft.com/office/drawing/2014/main" id="{160E8D09-FCF7-4D59-919B-7EF861A262B9}"/>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48F850-83D9-4068-827B-BA39EEC3C825}"/>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One account can provide several storage services</a:t>
            </a:r>
          </a:p>
        </p:txBody>
      </p:sp>
      <p:sp>
        <p:nvSpPr>
          <p:cNvPr id="4" name="">
            <a:extLst xmlns:a="http://schemas.openxmlformats.org/drawingml/2006/main">
              <a:ext uri="{FF2B5EF4-FFF2-40B4-BE49-F238E27FC236}">
                <a16:creationId xmlns:a16="http://schemas.microsoft.com/office/drawing/2014/main" id="{81B0F1CC-6CC3-4942-B75A-CE04D35F28D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10</a:t>
            </a:r>
          </a:p>
        </p:txBody>
      </p:sp>
      <p:sp>
        <p:nvSpPr>
          <p:cNvPr id="5" name="">
            <a:extLst xmlns:a="http://schemas.openxmlformats.org/drawingml/2006/main">
              <a:ext uri="{FF2B5EF4-FFF2-40B4-BE49-F238E27FC236}">
                <a16:creationId xmlns:a16="http://schemas.microsoft.com/office/drawing/2014/main" id="{85A9E3AE-AA60-4E16-B68A-553D16815D6A}"/>
              </a:ext>
            </a:extLst>
          </p:cNvPr>
          <p:cNvSpPr>
            <a:spLocks xmlns:a="http://schemas.openxmlformats.org/drawingml/2006/main" noGrp="1"/>
          </p:cNvSpPr>
          <p:nvPr/>
        </p:nvSpPr>
        <p:spPr>
          <a:xfrm xmlns:a="http://schemas.openxmlformats.org/drawingml/2006/main">
            <a:off x="857250" y="2381250"/>
            <a:ext cx="1238250" cy="1238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ST</a:t>
            </a:r>
          </a:p>
        </p:txBody>
      </p:sp>
      <p:sp>
        <p:nvSpPr>
          <p:cNvPr id="6" name="">
            <a:extLst xmlns:a="http://schemas.openxmlformats.org/drawingml/2006/main">
              <a:ext uri="{FF2B5EF4-FFF2-40B4-BE49-F238E27FC236}">
                <a16:creationId xmlns:a16="http://schemas.microsoft.com/office/drawing/2014/main" id="{239EE76D-24A2-4DE0-97CD-52C04A47016F}"/>
              </a:ext>
            </a:extLst>
          </p:cNvPr>
          <p:cNvSpPr>
            <a:spLocks xmlns:a="http://schemas.openxmlformats.org/drawingml/2006/main" noGrp="1"/>
          </p:cNvSpPr>
          <p:nvPr/>
        </p:nvSpPr>
        <p:spPr>
          <a:xfrm xmlns:a="http://schemas.openxmlformats.org/drawingml/2006/main">
            <a:off x="619125" y="38100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275"/>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Storage account</a:t>
            </a:r>
          </a:p>
        </p:txBody>
      </p:sp>
      <p:sp>
        <p:nvSpPr>
          <p:cNvPr id="7" name="">
            <a:extLst xmlns:a="http://schemas.openxmlformats.org/drawingml/2006/main">
              <a:ext uri="{FF2B5EF4-FFF2-40B4-BE49-F238E27FC236}">
                <a16:creationId xmlns:a16="http://schemas.microsoft.com/office/drawing/2014/main" id="{224AC799-1533-409C-AB46-FA2FD5E91F58}"/>
              </a:ext>
            </a:extLst>
          </p:cNvPr>
          <p:cNvSpPr>
            <a:spLocks xmlns:a="http://schemas.openxmlformats.org/drawingml/2006/main" noGrp="1"/>
          </p:cNvSpPr>
          <p:nvPr/>
        </p:nvSpPr>
        <p:spPr>
          <a:xfrm xmlns:a="http://schemas.openxmlformats.org/drawingml/2006/main">
            <a:off x="3095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A847EB67-73EE-4EDD-9A4C-684106CEA0CA}"/>
              </a:ext>
            </a:extLst>
          </p:cNvPr>
          <p:cNvSpPr>
            <a:spLocks xmlns:a="http://schemas.openxmlformats.org/drawingml/2006/main" noGrp="1"/>
          </p:cNvSpPr>
          <p:nvPr/>
        </p:nvSpPr>
        <p:spPr>
          <a:xfrm xmlns:a="http://schemas.openxmlformats.org/drawingml/2006/main">
            <a:off x="3286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00A4EF"/>
                </a:solidFill>
                <a:latin typeface="Arial"/>
                <a:ea typeface="Arial"/>
                <a:cs typeface="Arial"/>
              </a:defRPr>
            </a:pPr>
            <a:r>
              <a:rPr sz="1875" b="1">
                <a:solidFill>
                  <a:srgbClr val="00A4EF"/>
                </a:solidFill>
                <a:latin typeface="Arial"/>
                <a:ea typeface="Arial"/>
                <a:cs typeface="Arial"/>
              </a:rPr>
              <a:t>Blob</a:t>
            </a:r>
          </a:p>
        </p:txBody>
      </p:sp>
      <p:sp>
        <p:nvSpPr>
          <p:cNvPr id="9" name="">
            <a:extLst xmlns:a="http://schemas.openxmlformats.org/drawingml/2006/main">
              <a:ext uri="{FF2B5EF4-FFF2-40B4-BE49-F238E27FC236}">
                <a16:creationId xmlns:a16="http://schemas.microsoft.com/office/drawing/2014/main" id="{E2703727-364A-4CF8-B2BC-AA6BBB86DD09}"/>
              </a:ext>
            </a:extLst>
          </p:cNvPr>
          <p:cNvSpPr>
            <a:spLocks xmlns:a="http://schemas.openxmlformats.org/drawingml/2006/main" noGrp="1"/>
          </p:cNvSpPr>
          <p:nvPr/>
        </p:nvSpPr>
        <p:spPr>
          <a:xfrm xmlns:a="http://schemas.openxmlformats.org/drawingml/2006/main">
            <a:off x="3238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Files and objects</a:t>
            </a:r>
          </a:p>
        </p:txBody>
      </p:sp>
      <p:sp>
        <p:nvSpPr>
          <p:cNvPr id="10" name="">
            <a:extLst xmlns:a="http://schemas.openxmlformats.org/drawingml/2006/main">
              <a:ext uri="{FF2B5EF4-FFF2-40B4-BE49-F238E27FC236}">
                <a16:creationId xmlns:a16="http://schemas.microsoft.com/office/drawing/2014/main" id="{33492AE8-3C52-4B63-9807-40CC52E2BFF5}"/>
              </a:ext>
            </a:extLst>
          </p:cNvPr>
          <p:cNvSpPr>
            <a:spLocks xmlns:a="http://schemas.openxmlformats.org/drawingml/2006/main" noGrp="1"/>
          </p:cNvSpPr>
          <p:nvPr/>
        </p:nvSpPr>
        <p:spPr>
          <a:xfrm xmlns:a="http://schemas.openxmlformats.org/drawingml/2006/main">
            <a:off x="2095500" y="2962275"/>
            <a:ext cx="1000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898F24-0DAD-4D41-A893-EC9617D5FFD5}"/>
              </a:ext>
            </a:extLst>
          </p:cNvPr>
          <p:cNvSpPr>
            <a:spLocks xmlns:a="http://schemas.openxmlformats.org/drawingml/2006/main" noGrp="1"/>
          </p:cNvSpPr>
          <p:nvPr/>
        </p:nvSpPr>
        <p:spPr>
          <a:xfrm xmlns:a="http://schemas.openxmlformats.org/drawingml/2006/main">
            <a:off x="5191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07C10"/>
            </a:solidFill>
          </a:ln>
        </p:spPr>
      </p:sp>
      <p:sp>
        <p:nvSpPr>
          <p:cNvPr id="12" name="">
            <a:extLst xmlns:a="http://schemas.openxmlformats.org/drawingml/2006/main">
              <a:ext uri="{FF2B5EF4-FFF2-40B4-BE49-F238E27FC236}">
                <a16:creationId xmlns:a16="http://schemas.microsoft.com/office/drawing/2014/main" id="{B1B8344F-E1B2-4221-8236-952E396DB717}"/>
              </a:ext>
            </a:extLst>
          </p:cNvPr>
          <p:cNvSpPr>
            <a:spLocks xmlns:a="http://schemas.openxmlformats.org/drawingml/2006/main" noGrp="1"/>
          </p:cNvSpPr>
          <p:nvPr/>
        </p:nvSpPr>
        <p:spPr>
          <a:xfrm xmlns:a="http://schemas.openxmlformats.org/drawingml/2006/main">
            <a:off x="5381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07C10"/>
                </a:solidFill>
                <a:latin typeface="Arial"/>
                <a:ea typeface="Arial"/>
                <a:cs typeface="Arial"/>
              </a:defRPr>
            </a:pPr>
            <a:r>
              <a:rPr sz="1875" b="1">
                <a:solidFill>
                  <a:srgbClr val="107C10"/>
                </a:solidFill>
                <a:latin typeface="Arial"/>
                <a:ea typeface="Arial"/>
                <a:cs typeface="Arial"/>
              </a:rPr>
              <a:t>Files</a:t>
            </a:r>
          </a:p>
        </p:txBody>
      </p:sp>
      <p:sp>
        <p:nvSpPr>
          <p:cNvPr id="13" name="">
            <a:extLst xmlns:a="http://schemas.openxmlformats.org/drawingml/2006/main">
              <a:ext uri="{FF2B5EF4-FFF2-40B4-BE49-F238E27FC236}">
                <a16:creationId xmlns:a16="http://schemas.microsoft.com/office/drawing/2014/main" id="{AF7EB04D-9DA3-48ED-9EFC-7D10FBBAE94D}"/>
              </a:ext>
            </a:extLst>
          </p:cNvPr>
          <p:cNvSpPr>
            <a:spLocks xmlns:a="http://schemas.openxmlformats.org/drawingml/2006/main" noGrp="1"/>
          </p:cNvSpPr>
          <p:nvPr/>
        </p:nvSpPr>
        <p:spPr>
          <a:xfrm xmlns:a="http://schemas.openxmlformats.org/drawingml/2006/main">
            <a:off x="5334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Shared folders</a:t>
            </a:r>
          </a:p>
        </p:txBody>
      </p:sp>
      <p:sp>
        <p:nvSpPr>
          <p:cNvPr id="14" name="">
            <a:extLst xmlns:a="http://schemas.openxmlformats.org/drawingml/2006/main">
              <a:ext uri="{FF2B5EF4-FFF2-40B4-BE49-F238E27FC236}">
                <a16:creationId xmlns:a16="http://schemas.microsoft.com/office/drawing/2014/main" id="{836D8286-53FB-4889-9200-58F5021B92B0}"/>
              </a:ext>
            </a:extLst>
          </p:cNvPr>
          <p:cNvSpPr>
            <a:spLocks xmlns:a="http://schemas.openxmlformats.org/drawingml/2006/main" noGrp="1"/>
          </p:cNvSpPr>
          <p:nvPr/>
        </p:nvSpPr>
        <p:spPr>
          <a:xfrm xmlns:a="http://schemas.openxmlformats.org/drawingml/2006/main">
            <a:off x="2095500" y="2962275"/>
            <a:ext cx="3095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4EC75F-9155-47D7-BE2D-93BC1A433D8A}"/>
              </a:ext>
            </a:extLst>
          </p:cNvPr>
          <p:cNvSpPr>
            <a:spLocks xmlns:a="http://schemas.openxmlformats.org/drawingml/2006/main" noGrp="1"/>
          </p:cNvSpPr>
          <p:nvPr/>
        </p:nvSpPr>
        <p:spPr>
          <a:xfrm xmlns:a="http://schemas.openxmlformats.org/drawingml/2006/main">
            <a:off x="7286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EA3FDF60-6EA1-4214-B376-3BFE0B28C2A0}"/>
              </a:ext>
            </a:extLst>
          </p:cNvPr>
          <p:cNvSpPr>
            <a:spLocks xmlns:a="http://schemas.openxmlformats.org/drawingml/2006/main" noGrp="1"/>
          </p:cNvSpPr>
          <p:nvPr/>
        </p:nvSpPr>
        <p:spPr>
          <a:xfrm xmlns:a="http://schemas.openxmlformats.org/drawingml/2006/main">
            <a:off x="7477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FFB900"/>
                </a:solidFill>
                <a:latin typeface="Arial"/>
                <a:ea typeface="Arial"/>
                <a:cs typeface="Arial"/>
              </a:defRPr>
            </a:pPr>
            <a:r>
              <a:rPr sz="1875" b="1">
                <a:solidFill>
                  <a:srgbClr val="FFB900"/>
                </a:solidFill>
                <a:latin typeface="Arial"/>
                <a:ea typeface="Arial"/>
                <a:cs typeface="Arial"/>
              </a:rPr>
              <a:t>Queues</a:t>
            </a:r>
          </a:p>
        </p:txBody>
      </p:sp>
      <p:sp>
        <p:nvSpPr>
          <p:cNvPr id="17" name="">
            <a:extLst xmlns:a="http://schemas.openxmlformats.org/drawingml/2006/main">
              <a:ext uri="{FF2B5EF4-FFF2-40B4-BE49-F238E27FC236}">
                <a16:creationId xmlns:a16="http://schemas.microsoft.com/office/drawing/2014/main" id="{672C99CD-1EDB-48EB-B8EB-ED109268C1DB}"/>
              </a:ext>
            </a:extLst>
          </p:cNvPr>
          <p:cNvSpPr>
            <a:spLocks xmlns:a="http://schemas.openxmlformats.org/drawingml/2006/main" noGrp="1"/>
          </p:cNvSpPr>
          <p:nvPr/>
        </p:nvSpPr>
        <p:spPr>
          <a:xfrm xmlns:a="http://schemas.openxmlformats.org/drawingml/2006/main">
            <a:off x="7429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Messages</a:t>
            </a:r>
          </a:p>
        </p:txBody>
      </p:sp>
      <p:sp>
        <p:nvSpPr>
          <p:cNvPr id="18" name="">
            <a:extLst xmlns:a="http://schemas.openxmlformats.org/drawingml/2006/main">
              <a:ext uri="{FF2B5EF4-FFF2-40B4-BE49-F238E27FC236}">
                <a16:creationId xmlns:a16="http://schemas.microsoft.com/office/drawing/2014/main" id="{C700AF5A-FE96-4B11-A2F0-BA5530B78C39}"/>
              </a:ext>
            </a:extLst>
          </p:cNvPr>
          <p:cNvSpPr>
            <a:spLocks xmlns:a="http://schemas.openxmlformats.org/drawingml/2006/main" noGrp="1"/>
          </p:cNvSpPr>
          <p:nvPr/>
        </p:nvSpPr>
        <p:spPr>
          <a:xfrm xmlns:a="http://schemas.openxmlformats.org/drawingml/2006/main">
            <a:off x="2095500" y="2962275"/>
            <a:ext cx="5191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EDE109A-A836-4D6C-B90C-14941BF87AF4}"/>
              </a:ext>
            </a:extLst>
          </p:cNvPr>
          <p:cNvSpPr>
            <a:spLocks xmlns:a="http://schemas.openxmlformats.org/drawingml/2006/main" noGrp="1"/>
          </p:cNvSpPr>
          <p:nvPr/>
        </p:nvSpPr>
        <p:spPr>
          <a:xfrm xmlns:a="http://schemas.openxmlformats.org/drawingml/2006/main">
            <a:off x="9382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7324D"/>
            </a:solidFill>
          </a:ln>
        </p:spPr>
      </p:sp>
      <p:sp>
        <p:nvSpPr>
          <p:cNvPr id="20" name="">
            <a:extLst xmlns:a="http://schemas.openxmlformats.org/drawingml/2006/main">
              <a:ext uri="{FF2B5EF4-FFF2-40B4-BE49-F238E27FC236}">
                <a16:creationId xmlns:a16="http://schemas.microsoft.com/office/drawing/2014/main" id="{C4ECA20F-9836-4B9E-97B8-0F754FA015F4}"/>
              </a:ext>
            </a:extLst>
          </p:cNvPr>
          <p:cNvSpPr>
            <a:spLocks xmlns:a="http://schemas.openxmlformats.org/drawingml/2006/main" noGrp="1"/>
          </p:cNvSpPr>
          <p:nvPr/>
        </p:nvSpPr>
        <p:spPr>
          <a:xfrm xmlns:a="http://schemas.openxmlformats.org/drawingml/2006/main">
            <a:off x="9572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Tables</a:t>
            </a:r>
          </a:p>
        </p:txBody>
      </p:sp>
      <p:sp>
        <p:nvSpPr>
          <p:cNvPr id="21" name="">
            <a:extLst xmlns:a="http://schemas.openxmlformats.org/drawingml/2006/main">
              <a:ext uri="{FF2B5EF4-FFF2-40B4-BE49-F238E27FC236}">
                <a16:creationId xmlns:a16="http://schemas.microsoft.com/office/drawing/2014/main" id="{AA4D9109-212C-40B4-BEB0-0CA3314FE32E}"/>
              </a:ext>
            </a:extLst>
          </p:cNvPr>
          <p:cNvSpPr>
            <a:spLocks xmlns:a="http://schemas.openxmlformats.org/drawingml/2006/main" noGrp="1"/>
          </p:cNvSpPr>
          <p:nvPr/>
        </p:nvSpPr>
        <p:spPr>
          <a:xfrm xmlns:a="http://schemas.openxmlformats.org/drawingml/2006/main">
            <a:off x="9525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Key-value data</a:t>
            </a:r>
          </a:p>
        </p:txBody>
      </p:sp>
      <p:sp>
        <p:nvSpPr>
          <p:cNvPr id="22" name="">
            <a:extLst xmlns:a="http://schemas.openxmlformats.org/drawingml/2006/main">
              <a:ext uri="{FF2B5EF4-FFF2-40B4-BE49-F238E27FC236}">
                <a16:creationId xmlns:a16="http://schemas.microsoft.com/office/drawing/2014/main" id="{2E718EDD-A43D-4EF7-B3EF-F03AF79E42DA}"/>
              </a:ext>
            </a:extLst>
          </p:cNvPr>
          <p:cNvSpPr>
            <a:spLocks xmlns:a="http://schemas.openxmlformats.org/drawingml/2006/main" noGrp="1"/>
          </p:cNvSpPr>
          <p:nvPr/>
        </p:nvSpPr>
        <p:spPr>
          <a:xfrm xmlns:a="http://schemas.openxmlformats.org/drawingml/2006/main">
            <a:off x="2095500" y="2962275"/>
            <a:ext cx="7286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945DC22-45EF-43EF-94A9-11399D60DB8C}"/>
              </a:ext>
            </a:extLst>
          </p:cNvPr>
          <p:cNvSpPr>
            <a:spLocks xmlns:a="http://schemas.openxmlformats.org/drawingml/2006/main" noGrp="1"/>
          </p:cNvSpPr>
          <p:nvPr/>
        </p:nvSpPr>
        <p:spPr>
          <a:xfrm xmlns:a="http://schemas.openxmlformats.org/drawingml/2006/main">
            <a:off x="3143250" y="4095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100" b="1">
                <a:solidFill>
                  <a:srgbClr val="17324D"/>
                </a:solidFill>
                <a:latin typeface="Arial"/>
                <a:ea typeface="Arial"/>
                <a:cs typeface="Arial"/>
              </a:defRPr>
            </a:pPr>
            <a:r>
              <a:rPr sz="2100" b="1">
                <a:solidFill>
                  <a:srgbClr val="17324D"/>
                </a:solidFill>
                <a:latin typeface="Arial"/>
                <a:ea typeface="Arial"/>
                <a:cs typeface="Arial"/>
              </a:rPr>
              <a:t>Lab choice: private Blob container with LRS</a:t>
            </a:r>
          </a:p>
        </p:txBody>
      </p:sp>
      <p:sp>
        <p:nvSpPr>
          <p:cNvPr id="24" name="">
            <a:extLst xmlns:a="http://schemas.openxmlformats.org/drawingml/2006/main">
              <a:ext uri="{FF2B5EF4-FFF2-40B4-BE49-F238E27FC236}">
                <a16:creationId xmlns:a16="http://schemas.microsoft.com/office/drawing/2014/main" id="{90A6EFA9-24F8-477E-B0AC-685F3AC0F382}"/>
              </a:ext>
            </a:extLst>
          </p:cNvPr>
          <p:cNvSpPr>
            <a:spLocks xmlns:a="http://schemas.openxmlformats.org/drawingml/2006/main" noGrp="1"/>
          </p:cNvSpPr>
          <p:nvPr/>
        </p:nvSpPr>
        <p:spPr>
          <a:xfrm xmlns:a="http://schemas.openxmlformats.org/drawingml/2006/main">
            <a:off x="1619250" y="4857750"/>
            <a:ext cx="895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2606D"/>
                </a:solidFill>
                <a:latin typeface="Arial"/>
                <a:ea typeface="Arial"/>
                <a:cs typeface="Arial"/>
              </a:defRPr>
            </a:pPr>
            <a:r>
              <a:rPr sz="1425" b="0">
                <a:solidFill>
                  <a:srgbClr val="52606D"/>
                </a:solidFill>
                <a:latin typeface="Arial"/>
                <a:ea typeface="Arial"/>
                <a:cs typeface="Arial"/>
              </a:rPr>
              <a:t>LRS keeps local copies. ZRS spreads copies across zones. GRS also copies data to another region.</a:t>
            </a:r>
          </a:p>
        </p:txBody>
      </p:sp>
    </p:spTree>
    <p:extLst>
      <p:ext uri="{BB962C8B-B14F-4D97-AF65-F5344CB8AC3E}">
        <p14:creationId xmlns:p14="http://schemas.microsoft.com/office/powerpoint/2010/main" val="1351158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3CC7B9-C03B-448F-8C4E-D47670A76008}"/>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Identity and Azure RBAC</a:t>
            </a:r>
          </a:p>
        </p:txBody>
      </p:sp>
      <p:sp>
        <p:nvSpPr>
          <p:cNvPr id="2" name="">
            <a:extLst xmlns:a="http://schemas.openxmlformats.org/drawingml/2006/main">
              <a:ext uri="{FF2B5EF4-FFF2-40B4-BE49-F238E27FC236}">
                <a16:creationId xmlns:a16="http://schemas.microsoft.com/office/drawing/2014/main" id="{98E6156A-2694-4113-A5F6-0155D4CB50D5}"/>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71CAD5-E191-4478-B0AA-7BEF5A1BA539}"/>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Authentication confirms identity. Authorization grants access.</a:t>
            </a:r>
          </a:p>
        </p:txBody>
      </p:sp>
      <p:sp>
        <p:nvSpPr>
          <p:cNvPr id="4" name="">
            <a:extLst xmlns:a="http://schemas.openxmlformats.org/drawingml/2006/main">
              <a:ext uri="{FF2B5EF4-FFF2-40B4-BE49-F238E27FC236}">
                <a16:creationId xmlns:a16="http://schemas.microsoft.com/office/drawing/2014/main" id="{BB822EE4-BB94-4414-8892-31D8C7ADC3A4}"/>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11</a:t>
            </a:r>
          </a:p>
        </p:txBody>
      </p:sp>
      <p:sp>
        <p:nvSpPr>
          <p:cNvPr id="5" name="">
            <a:extLst xmlns:a="http://schemas.openxmlformats.org/drawingml/2006/main">
              <a:ext uri="{FF2B5EF4-FFF2-40B4-BE49-F238E27FC236}">
                <a16:creationId xmlns:a16="http://schemas.microsoft.com/office/drawing/2014/main" id="{1D78F15C-DE09-4A06-82C4-BB1DB59EB93C}"/>
              </a:ext>
            </a:extLst>
          </p:cNvPr>
          <p:cNvSpPr>
            <a:spLocks xmlns:a="http://schemas.openxmlformats.org/drawingml/2006/main" noGrp="1"/>
          </p:cNvSpPr>
          <p:nvPr/>
        </p:nvSpPr>
        <p:spPr>
          <a:xfrm xmlns:a="http://schemas.openxmlformats.org/drawingml/2006/main">
            <a:off x="762000" y="1619250"/>
            <a:ext cx="4762500" cy="1714500"/>
          </a:xfrm>
          <a:prstGeom xmlns:a="http://schemas.openxmlformats.org/drawingml/2006/main" prst="roundRect">
            <a:avLst>
              <a:gd name="adj" fmla="val 4444"/>
            </a:avLst>
          </a:prstGeom>
          <a:solidFill xmlns:a="http://schemas.openxmlformats.org/drawingml/2006/main">
            <a:srgbClr val="EAF5FC"/>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3B083078-87DE-4B9D-8321-BE66F1DC9518}"/>
              </a:ext>
            </a:extLst>
          </p:cNvPr>
          <p:cNvSpPr>
            <a:spLocks xmlns:a="http://schemas.openxmlformats.org/drawingml/2006/main" noGrp="1"/>
          </p:cNvSpPr>
          <p:nvPr/>
        </p:nvSpPr>
        <p:spPr>
          <a:xfrm xmlns:a="http://schemas.openxmlformats.org/drawingml/2006/main">
            <a:off x="10953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Authentication</a:t>
            </a:r>
          </a:p>
        </p:txBody>
      </p:sp>
      <p:sp>
        <p:nvSpPr>
          <p:cNvPr id="7" name="">
            <a:extLst xmlns:a="http://schemas.openxmlformats.org/drawingml/2006/main">
              <a:ext uri="{FF2B5EF4-FFF2-40B4-BE49-F238E27FC236}">
                <a16:creationId xmlns:a16="http://schemas.microsoft.com/office/drawing/2014/main" id="{AC623B0F-644C-4971-A5D3-AD81E5340C3F}"/>
              </a:ext>
            </a:extLst>
          </p:cNvPr>
          <p:cNvSpPr>
            <a:spLocks xmlns:a="http://schemas.openxmlformats.org/drawingml/2006/main" noGrp="1"/>
          </p:cNvSpPr>
          <p:nvPr/>
        </p:nvSpPr>
        <p:spPr>
          <a:xfrm xmlns:a="http://schemas.openxmlformats.org/drawingml/2006/main">
            <a:off x="10953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Who are you?</a:t>
            </a:r>
          </a:p>
        </p:txBody>
      </p:sp>
      <p:sp>
        <p:nvSpPr>
          <p:cNvPr id="8" name="">
            <a:extLst xmlns:a="http://schemas.openxmlformats.org/drawingml/2006/main">
              <a:ext uri="{FF2B5EF4-FFF2-40B4-BE49-F238E27FC236}">
                <a16:creationId xmlns:a16="http://schemas.microsoft.com/office/drawing/2014/main" id="{BD420704-B336-42B6-A35E-F8DC40BE6F13}"/>
              </a:ext>
            </a:extLst>
          </p:cNvPr>
          <p:cNvSpPr>
            <a:spLocks xmlns:a="http://schemas.openxmlformats.org/drawingml/2006/main" noGrp="1"/>
          </p:cNvSpPr>
          <p:nvPr/>
        </p:nvSpPr>
        <p:spPr>
          <a:xfrm xmlns:a="http://schemas.openxmlformats.org/drawingml/2006/main">
            <a:off x="6667500" y="1619250"/>
            <a:ext cx="4762500" cy="1714500"/>
          </a:xfrm>
          <a:prstGeom xmlns:a="http://schemas.openxmlformats.org/drawingml/2006/main" prst="roundRect">
            <a:avLst>
              <a:gd name="adj" fmla="val 4444"/>
            </a:avLst>
          </a:prstGeom>
          <a:solidFill xmlns:a="http://schemas.openxmlformats.org/drawingml/2006/main">
            <a:srgbClr val="EDF8ED"/>
          </a:solidFill>
          <a:ln xmlns:a="http://schemas.openxmlformats.org/drawingml/2006/main" w="19050">
            <a:solidFill>
              <a:srgbClr val="107C10"/>
            </a:solidFill>
          </a:ln>
        </p:spPr>
      </p:sp>
      <p:sp>
        <p:nvSpPr>
          <p:cNvPr id="9" name="">
            <a:extLst xmlns:a="http://schemas.openxmlformats.org/drawingml/2006/main">
              <a:ext uri="{FF2B5EF4-FFF2-40B4-BE49-F238E27FC236}">
                <a16:creationId xmlns:a16="http://schemas.microsoft.com/office/drawing/2014/main" id="{510F53BF-CF86-4B5F-8DA1-ED75653DC0BD}"/>
              </a:ext>
            </a:extLst>
          </p:cNvPr>
          <p:cNvSpPr>
            <a:spLocks xmlns:a="http://schemas.openxmlformats.org/drawingml/2006/main" noGrp="1"/>
          </p:cNvSpPr>
          <p:nvPr/>
        </p:nvSpPr>
        <p:spPr>
          <a:xfrm xmlns:a="http://schemas.openxmlformats.org/drawingml/2006/main">
            <a:off x="70008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107C10"/>
                </a:solidFill>
                <a:latin typeface="Arial"/>
                <a:ea typeface="Arial"/>
                <a:cs typeface="Arial"/>
              </a:defRPr>
            </a:pPr>
            <a:r>
              <a:rPr sz="2100" b="1">
                <a:solidFill>
                  <a:srgbClr val="107C10"/>
                </a:solidFill>
                <a:latin typeface="Arial"/>
                <a:ea typeface="Arial"/>
                <a:cs typeface="Arial"/>
              </a:rPr>
              <a:t>Authorization</a:t>
            </a:r>
          </a:p>
        </p:txBody>
      </p:sp>
      <p:sp>
        <p:nvSpPr>
          <p:cNvPr id="10" name="">
            <a:extLst xmlns:a="http://schemas.openxmlformats.org/drawingml/2006/main">
              <a:ext uri="{FF2B5EF4-FFF2-40B4-BE49-F238E27FC236}">
                <a16:creationId xmlns:a16="http://schemas.microsoft.com/office/drawing/2014/main" id="{FE3E4348-2695-477B-B9BE-3B0A46DA6AF1}"/>
              </a:ext>
            </a:extLst>
          </p:cNvPr>
          <p:cNvSpPr>
            <a:spLocks xmlns:a="http://schemas.openxmlformats.org/drawingml/2006/main" noGrp="1"/>
          </p:cNvSpPr>
          <p:nvPr/>
        </p:nvSpPr>
        <p:spPr>
          <a:xfrm xmlns:a="http://schemas.openxmlformats.org/drawingml/2006/main">
            <a:off x="70008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What may you do?</a:t>
            </a:r>
          </a:p>
        </p:txBody>
      </p:sp>
      <p:sp>
        <p:nvSpPr>
          <p:cNvPr id="11" name="">
            <a:extLst xmlns:a="http://schemas.openxmlformats.org/drawingml/2006/main">
              <a:ext uri="{FF2B5EF4-FFF2-40B4-BE49-F238E27FC236}">
                <a16:creationId xmlns:a16="http://schemas.microsoft.com/office/drawing/2014/main" id="{4EA8719F-2054-47F5-A7C9-0E3B0FE6070F}"/>
              </a:ext>
            </a:extLst>
          </p:cNvPr>
          <p:cNvSpPr>
            <a:spLocks xmlns:a="http://schemas.openxmlformats.org/drawingml/2006/main" noGrp="1"/>
          </p:cNvSpPr>
          <p:nvPr/>
        </p:nvSpPr>
        <p:spPr>
          <a:xfrm xmlns:a="http://schemas.openxmlformats.org/drawingml/2006/main">
            <a:off x="762000" y="39528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Azure RBAC scope</a:t>
            </a:r>
          </a:p>
        </p:txBody>
      </p:sp>
      <p:sp>
        <p:nvSpPr>
          <p:cNvPr id="12" name="">
            <a:extLst xmlns:a="http://schemas.openxmlformats.org/drawingml/2006/main">
              <a:ext uri="{FF2B5EF4-FFF2-40B4-BE49-F238E27FC236}">
                <a16:creationId xmlns:a16="http://schemas.microsoft.com/office/drawing/2014/main" id="{E2A924B2-39E1-47E2-BFE4-EEC7E721F588}"/>
              </a:ext>
            </a:extLst>
          </p:cNvPr>
          <p:cNvSpPr>
            <a:spLocks xmlns:a="http://schemas.openxmlformats.org/drawingml/2006/main" noGrp="1"/>
          </p:cNvSpPr>
          <p:nvPr/>
        </p:nvSpPr>
        <p:spPr>
          <a:xfrm xmlns:a="http://schemas.openxmlformats.org/drawingml/2006/main">
            <a:off x="762000"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3" name="">
            <a:extLst xmlns:a="http://schemas.openxmlformats.org/drawingml/2006/main">
              <a:ext uri="{FF2B5EF4-FFF2-40B4-BE49-F238E27FC236}">
                <a16:creationId xmlns:a16="http://schemas.microsoft.com/office/drawing/2014/main" id="{0AC0BF1B-3018-47BF-BBF4-18861E68AF07}"/>
              </a:ext>
            </a:extLst>
          </p:cNvPr>
          <p:cNvSpPr>
            <a:spLocks xmlns:a="http://schemas.openxmlformats.org/drawingml/2006/main" noGrp="1"/>
          </p:cNvSpPr>
          <p:nvPr/>
        </p:nvSpPr>
        <p:spPr>
          <a:xfrm xmlns:a="http://schemas.openxmlformats.org/drawingml/2006/main">
            <a:off x="87630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Management group</a:t>
            </a:r>
          </a:p>
        </p:txBody>
      </p:sp>
      <p:sp>
        <p:nvSpPr>
          <p:cNvPr id="14" name="">
            <a:extLst xmlns:a="http://schemas.openxmlformats.org/drawingml/2006/main">
              <a:ext uri="{FF2B5EF4-FFF2-40B4-BE49-F238E27FC236}">
                <a16:creationId xmlns:a16="http://schemas.microsoft.com/office/drawing/2014/main" id="{B1755F68-6F6E-4001-8BE8-DCF22B9C6D5C}"/>
              </a:ext>
            </a:extLst>
          </p:cNvPr>
          <p:cNvSpPr>
            <a:spLocks xmlns:a="http://schemas.openxmlformats.org/drawingml/2006/main" noGrp="1"/>
          </p:cNvSpPr>
          <p:nvPr/>
        </p:nvSpPr>
        <p:spPr>
          <a:xfrm xmlns:a="http://schemas.openxmlformats.org/drawingml/2006/main">
            <a:off x="347662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5" name="">
            <a:extLst xmlns:a="http://schemas.openxmlformats.org/drawingml/2006/main">
              <a:ext uri="{FF2B5EF4-FFF2-40B4-BE49-F238E27FC236}">
                <a16:creationId xmlns:a16="http://schemas.microsoft.com/office/drawing/2014/main" id="{4F74EB0E-673F-4793-B68A-10D899E030AE}"/>
              </a:ext>
            </a:extLst>
          </p:cNvPr>
          <p:cNvSpPr>
            <a:spLocks xmlns:a="http://schemas.openxmlformats.org/drawingml/2006/main" noGrp="1"/>
          </p:cNvSpPr>
          <p:nvPr/>
        </p:nvSpPr>
        <p:spPr>
          <a:xfrm xmlns:a="http://schemas.openxmlformats.org/drawingml/2006/main">
            <a:off x="359092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Subscription</a:t>
            </a:r>
          </a:p>
        </p:txBody>
      </p:sp>
      <p:sp>
        <p:nvSpPr>
          <p:cNvPr id="16" name="">
            <a:extLst xmlns:a="http://schemas.openxmlformats.org/drawingml/2006/main">
              <a:ext uri="{FF2B5EF4-FFF2-40B4-BE49-F238E27FC236}">
                <a16:creationId xmlns:a16="http://schemas.microsoft.com/office/drawing/2014/main" id="{BD31B91C-A89C-4103-9408-61828B356D70}"/>
              </a:ext>
            </a:extLst>
          </p:cNvPr>
          <p:cNvSpPr>
            <a:spLocks xmlns:a="http://schemas.openxmlformats.org/drawingml/2006/main" noGrp="1"/>
          </p:cNvSpPr>
          <p:nvPr/>
        </p:nvSpPr>
        <p:spPr>
          <a:xfrm xmlns:a="http://schemas.openxmlformats.org/drawingml/2006/main">
            <a:off x="6191250" y="4524375"/>
            <a:ext cx="2333625"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19050">
            <a:solidFill>
              <a:srgbClr val="0078D4"/>
            </a:solidFill>
          </a:ln>
        </p:spPr>
      </p:sp>
      <p:sp>
        <p:nvSpPr>
          <p:cNvPr id="17" name="">
            <a:extLst xmlns:a="http://schemas.openxmlformats.org/drawingml/2006/main">
              <a:ext uri="{FF2B5EF4-FFF2-40B4-BE49-F238E27FC236}">
                <a16:creationId xmlns:a16="http://schemas.microsoft.com/office/drawing/2014/main" id="{39B0C950-7FF3-4421-A354-565C388E2A13}"/>
              </a:ext>
            </a:extLst>
          </p:cNvPr>
          <p:cNvSpPr>
            <a:spLocks xmlns:a="http://schemas.openxmlformats.org/drawingml/2006/main" noGrp="1"/>
          </p:cNvSpPr>
          <p:nvPr/>
        </p:nvSpPr>
        <p:spPr>
          <a:xfrm xmlns:a="http://schemas.openxmlformats.org/drawingml/2006/main">
            <a:off x="630555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Resource group</a:t>
            </a:r>
          </a:p>
        </p:txBody>
      </p:sp>
      <p:sp>
        <p:nvSpPr>
          <p:cNvPr id="18" name="">
            <a:extLst xmlns:a="http://schemas.openxmlformats.org/drawingml/2006/main">
              <a:ext uri="{FF2B5EF4-FFF2-40B4-BE49-F238E27FC236}">
                <a16:creationId xmlns:a16="http://schemas.microsoft.com/office/drawing/2014/main" id="{C9042462-4B4A-4A6D-A926-FE71E378C5AE}"/>
              </a:ext>
            </a:extLst>
          </p:cNvPr>
          <p:cNvSpPr>
            <a:spLocks xmlns:a="http://schemas.openxmlformats.org/drawingml/2006/main" noGrp="1"/>
          </p:cNvSpPr>
          <p:nvPr/>
        </p:nvSpPr>
        <p:spPr>
          <a:xfrm xmlns:a="http://schemas.openxmlformats.org/drawingml/2006/main">
            <a:off x="890587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EB1444DE-6777-48B8-B8C8-FC3293BA81CB}"/>
              </a:ext>
            </a:extLst>
          </p:cNvPr>
          <p:cNvSpPr>
            <a:spLocks xmlns:a="http://schemas.openxmlformats.org/drawingml/2006/main" noGrp="1"/>
          </p:cNvSpPr>
          <p:nvPr/>
        </p:nvSpPr>
        <p:spPr>
          <a:xfrm xmlns:a="http://schemas.openxmlformats.org/drawingml/2006/main">
            <a:off x="902017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Resource</a:t>
            </a:r>
          </a:p>
        </p:txBody>
      </p:sp>
      <p:sp>
        <p:nvSpPr>
          <p:cNvPr id="20" name="">
            <a:extLst xmlns:a="http://schemas.openxmlformats.org/drawingml/2006/main">
              <a:ext uri="{FF2B5EF4-FFF2-40B4-BE49-F238E27FC236}">
                <a16:creationId xmlns:a16="http://schemas.microsoft.com/office/drawing/2014/main" id="{F6105581-557E-47BD-833D-5DF4B8CFC05F}"/>
              </a:ext>
            </a:extLst>
          </p:cNvPr>
          <p:cNvSpPr>
            <a:spLocks xmlns:a="http://schemas.openxmlformats.org/drawingml/2006/main" noGrp="1"/>
          </p:cNvSpPr>
          <p:nvPr/>
        </p:nvSpPr>
        <p:spPr>
          <a:xfrm xmlns:a="http://schemas.openxmlformats.org/drawingml/2006/main">
            <a:off x="2381250" y="5657850"/>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D83B01"/>
                </a:solidFill>
                <a:latin typeface="Arial"/>
                <a:ea typeface="Arial"/>
                <a:cs typeface="Arial"/>
              </a:defRPr>
            </a:pPr>
            <a:r>
              <a:rPr sz="1650" b="1">
                <a:solidFill>
                  <a:srgbClr val="D83B01"/>
                </a:solidFill>
                <a:latin typeface="Arial"/>
                <a:ea typeface="Arial"/>
                <a:cs typeface="Arial"/>
              </a:rPr>
              <a:t>Least privilege: grant only the access needed for the task</a:t>
            </a:r>
          </a:p>
        </p:txBody>
      </p:sp>
    </p:spTree>
    <p:extLst>
      <p:ext uri="{BB962C8B-B14F-4D97-AF65-F5344CB8AC3E}">
        <p14:creationId xmlns:p14="http://schemas.microsoft.com/office/powerpoint/2010/main" val="5328923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E9A6AFE-164C-430A-8DB3-BC1B1EFB6C88}"/>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App Service</a:t>
            </a:r>
          </a:p>
        </p:txBody>
      </p:sp>
      <p:sp>
        <p:nvSpPr>
          <p:cNvPr id="2" name="">
            <a:extLst xmlns:a="http://schemas.openxmlformats.org/drawingml/2006/main">
              <a:ext uri="{FF2B5EF4-FFF2-40B4-BE49-F238E27FC236}">
                <a16:creationId xmlns:a16="http://schemas.microsoft.com/office/drawing/2014/main" id="{C7C7CEE1-671A-4383-9ECE-10AA412FD018}"/>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A71F66-AC8E-480C-BDC3-DB34CC525475}"/>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 managed platform for websites and APIs</a:t>
            </a:r>
          </a:p>
        </p:txBody>
      </p:sp>
      <p:sp>
        <p:nvSpPr>
          <p:cNvPr id="4" name="">
            <a:extLst xmlns:a="http://schemas.openxmlformats.org/drawingml/2006/main">
              <a:ext uri="{FF2B5EF4-FFF2-40B4-BE49-F238E27FC236}">
                <a16:creationId xmlns:a16="http://schemas.microsoft.com/office/drawing/2014/main" id="{0B558221-746E-41FA-A053-5ED9423C4B2A}"/>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12</a:t>
            </a:r>
          </a:p>
        </p:txBody>
      </p:sp>
      <p:sp>
        <p:nvSpPr>
          <p:cNvPr id="5" name="">
            <a:extLst xmlns:a="http://schemas.openxmlformats.org/drawingml/2006/main">
              <a:ext uri="{FF2B5EF4-FFF2-40B4-BE49-F238E27FC236}">
                <a16:creationId xmlns:a16="http://schemas.microsoft.com/office/drawing/2014/main" id="{3ED1FAE9-D1B9-43C2-B8D3-E04BF219B18F}"/>
              </a:ext>
            </a:extLst>
          </p:cNvPr>
          <p:cNvSpPr>
            <a:spLocks xmlns:a="http://schemas.openxmlformats.org/drawingml/2006/main" noGrp="1"/>
          </p:cNvSpPr>
          <p:nvPr/>
        </p:nvSpPr>
        <p:spPr>
          <a:xfrm xmlns:a="http://schemas.openxmlformats.org/drawingml/2006/main">
            <a:off x="1143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17324D"/>
                </a:solidFill>
                <a:latin typeface="Arial"/>
                <a:ea typeface="Arial"/>
                <a:cs typeface="Arial"/>
              </a:defRPr>
            </a:pPr>
            <a:r>
              <a:rPr sz="2025" b="1">
                <a:solidFill>
                  <a:srgbClr val="17324D"/>
                </a:solidFill>
                <a:latin typeface="Arial"/>
                <a:ea typeface="Arial"/>
                <a:cs typeface="Arial"/>
              </a:rPr>
              <a:t>Virtual Machine</a:t>
            </a:r>
          </a:p>
        </p:txBody>
      </p:sp>
      <p:sp>
        <p:nvSpPr>
          <p:cNvPr id="6" name="">
            <a:extLst xmlns:a="http://schemas.openxmlformats.org/drawingml/2006/main">
              <a:ext uri="{FF2B5EF4-FFF2-40B4-BE49-F238E27FC236}">
                <a16:creationId xmlns:a16="http://schemas.microsoft.com/office/drawing/2014/main" id="{FCED6823-B94B-4548-8104-6569FDC0FB4D}"/>
              </a:ext>
            </a:extLst>
          </p:cNvPr>
          <p:cNvSpPr>
            <a:spLocks xmlns:a="http://schemas.openxmlformats.org/drawingml/2006/main" noGrp="1"/>
          </p:cNvSpPr>
          <p:nvPr/>
        </p:nvSpPr>
        <p:spPr>
          <a:xfrm xmlns:a="http://schemas.openxmlformats.org/drawingml/2006/main">
            <a:off x="1143000" y="21431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7" name="">
            <a:extLst xmlns:a="http://schemas.openxmlformats.org/drawingml/2006/main">
              <a:ext uri="{FF2B5EF4-FFF2-40B4-BE49-F238E27FC236}">
                <a16:creationId xmlns:a16="http://schemas.microsoft.com/office/drawing/2014/main" id="{5FBBCFE2-06EA-4766-BCE7-418E815B3043}"/>
              </a:ext>
            </a:extLst>
          </p:cNvPr>
          <p:cNvSpPr>
            <a:spLocks xmlns:a="http://schemas.openxmlformats.org/drawingml/2006/main" noGrp="1"/>
          </p:cNvSpPr>
          <p:nvPr/>
        </p:nvSpPr>
        <p:spPr>
          <a:xfrm xmlns:a="http://schemas.openxmlformats.org/drawingml/2006/main">
            <a:off x="1381125" y="22669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Patch the operating system</a:t>
            </a:r>
          </a:p>
        </p:txBody>
      </p:sp>
      <p:sp>
        <p:nvSpPr>
          <p:cNvPr id="8" name="">
            <a:extLst xmlns:a="http://schemas.openxmlformats.org/drawingml/2006/main">
              <a:ext uri="{FF2B5EF4-FFF2-40B4-BE49-F238E27FC236}">
                <a16:creationId xmlns:a16="http://schemas.microsoft.com/office/drawing/2014/main" id="{2735530A-4A94-497E-BB85-98787FADA2F8}"/>
              </a:ext>
            </a:extLst>
          </p:cNvPr>
          <p:cNvSpPr>
            <a:spLocks xmlns:a="http://schemas.openxmlformats.org/drawingml/2006/main" noGrp="1"/>
          </p:cNvSpPr>
          <p:nvPr/>
        </p:nvSpPr>
        <p:spPr>
          <a:xfrm xmlns:a="http://schemas.openxmlformats.org/drawingml/2006/main">
            <a:off x="1143000" y="28289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9" name="">
            <a:extLst xmlns:a="http://schemas.openxmlformats.org/drawingml/2006/main">
              <a:ext uri="{FF2B5EF4-FFF2-40B4-BE49-F238E27FC236}">
                <a16:creationId xmlns:a16="http://schemas.microsoft.com/office/drawing/2014/main" id="{6A3B7645-CC88-4B1A-B66C-5D2E2A89A475}"/>
              </a:ext>
            </a:extLst>
          </p:cNvPr>
          <p:cNvSpPr>
            <a:spLocks xmlns:a="http://schemas.openxmlformats.org/drawingml/2006/main" noGrp="1"/>
          </p:cNvSpPr>
          <p:nvPr/>
        </p:nvSpPr>
        <p:spPr>
          <a:xfrm xmlns:a="http://schemas.openxmlformats.org/drawingml/2006/main">
            <a:off x="1381125" y="29527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Configure the web server</a:t>
            </a:r>
          </a:p>
        </p:txBody>
      </p:sp>
      <p:sp>
        <p:nvSpPr>
          <p:cNvPr id="10" name="">
            <a:extLst xmlns:a="http://schemas.openxmlformats.org/drawingml/2006/main">
              <a:ext uri="{FF2B5EF4-FFF2-40B4-BE49-F238E27FC236}">
                <a16:creationId xmlns:a16="http://schemas.microsoft.com/office/drawing/2014/main" id="{D7AA93C4-4C3D-4E54-8CA4-4224098D037C}"/>
              </a:ext>
            </a:extLst>
          </p:cNvPr>
          <p:cNvSpPr>
            <a:spLocks xmlns:a="http://schemas.openxmlformats.org/drawingml/2006/main" noGrp="1"/>
          </p:cNvSpPr>
          <p:nvPr/>
        </p:nvSpPr>
        <p:spPr>
          <a:xfrm xmlns:a="http://schemas.openxmlformats.org/drawingml/2006/main">
            <a:off x="1143000" y="35147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78D4"/>
            </a:solidFill>
          </a:ln>
        </p:spPr>
      </p:sp>
      <p:sp>
        <p:nvSpPr>
          <p:cNvPr id="11" name="">
            <a:extLst xmlns:a="http://schemas.openxmlformats.org/drawingml/2006/main">
              <a:ext uri="{FF2B5EF4-FFF2-40B4-BE49-F238E27FC236}">
                <a16:creationId xmlns:a16="http://schemas.microsoft.com/office/drawing/2014/main" id="{6505307D-12CD-4DCC-8426-0CC1F8B85C0F}"/>
              </a:ext>
            </a:extLst>
          </p:cNvPr>
          <p:cNvSpPr>
            <a:spLocks xmlns:a="http://schemas.openxmlformats.org/drawingml/2006/main" noGrp="1"/>
          </p:cNvSpPr>
          <p:nvPr/>
        </p:nvSpPr>
        <p:spPr>
          <a:xfrm xmlns:a="http://schemas.openxmlformats.org/drawingml/2006/main">
            <a:off x="1381125" y="36385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Deploy application files</a:t>
            </a:r>
          </a:p>
        </p:txBody>
      </p:sp>
      <p:sp>
        <p:nvSpPr>
          <p:cNvPr id="12" name="">
            <a:extLst xmlns:a="http://schemas.openxmlformats.org/drawingml/2006/main">
              <a:ext uri="{FF2B5EF4-FFF2-40B4-BE49-F238E27FC236}">
                <a16:creationId xmlns:a16="http://schemas.microsoft.com/office/drawing/2014/main" id="{4C013C4E-2A35-4D39-9E2C-AB4944DF00B5}"/>
              </a:ext>
            </a:extLst>
          </p:cNvPr>
          <p:cNvSpPr>
            <a:spLocks xmlns:a="http://schemas.openxmlformats.org/drawingml/2006/main" noGrp="1"/>
          </p:cNvSpPr>
          <p:nvPr/>
        </p:nvSpPr>
        <p:spPr>
          <a:xfrm xmlns:a="http://schemas.openxmlformats.org/drawingml/2006/main">
            <a:off x="1143000" y="42005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A4EF"/>
            </a:solidFill>
          </a:ln>
        </p:spPr>
      </p:sp>
      <p:sp>
        <p:nvSpPr>
          <p:cNvPr id="13" name="">
            <a:extLst xmlns:a="http://schemas.openxmlformats.org/drawingml/2006/main">
              <a:ext uri="{FF2B5EF4-FFF2-40B4-BE49-F238E27FC236}">
                <a16:creationId xmlns:a16="http://schemas.microsoft.com/office/drawing/2014/main" id="{68ABB78E-744A-4F6E-80C7-EE1FAE3D5C2A}"/>
              </a:ext>
            </a:extLst>
          </p:cNvPr>
          <p:cNvSpPr>
            <a:spLocks xmlns:a="http://schemas.openxmlformats.org/drawingml/2006/main" noGrp="1"/>
          </p:cNvSpPr>
          <p:nvPr/>
        </p:nvSpPr>
        <p:spPr>
          <a:xfrm xmlns:a="http://schemas.openxmlformats.org/drawingml/2006/main">
            <a:off x="1381125" y="43243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Monitor and scale</a:t>
            </a:r>
          </a:p>
        </p:txBody>
      </p:sp>
      <p:sp>
        <p:nvSpPr>
          <p:cNvPr id="14" name="">
            <a:extLst xmlns:a="http://schemas.openxmlformats.org/drawingml/2006/main">
              <a:ext uri="{FF2B5EF4-FFF2-40B4-BE49-F238E27FC236}">
                <a16:creationId xmlns:a16="http://schemas.microsoft.com/office/drawing/2014/main" id="{579B8917-1A99-4E9D-8266-E1DF5D7236B9}"/>
              </a:ext>
            </a:extLst>
          </p:cNvPr>
          <p:cNvSpPr>
            <a:spLocks xmlns:a="http://schemas.openxmlformats.org/drawingml/2006/main" noGrp="1"/>
          </p:cNvSpPr>
          <p:nvPr/>
        </p:nvSpPr>
        <p:spPr>
          <a:xfrm xmlns:a="http://schemas.openxmlformats.org/drawingml/2006/main">
            <a:off x="7239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0078D4"/>
                </a:solidFill>
                <a:latin typeface="Arial"/>
                <a:ea typeface="Arial"/>
                <a:cs typeface="Arial"/>
              </a:defRPr>
            </a:pPr>
            <a:r>
              <a:rPr sz="2025" b="1">
                <a:solidFill>
                  <a:srgbClr val="0078D4"/>
                </a:solidFill>
                <a:latin typeface="Arial"/>
                <a:ea typeface="Arial"/>
                <a:cs typeface="Arial"/>
              </a:rPr>
              <a:t>App Service</a:t>
            </a:r>
          </a:p>
        </p:txBody>
      </p:sp>
      <p:sp>
        <p:nvSpPr>
          <p:cNvPr id="15" name="">
            <a:extLst xmlns:a="http://schemas.openxmlformats.org/drawingml/2006/main">
              <a:ext uri="{FF2B5EF4-FFF2-40B4-BE49-F238E27FC236}">
                <a16:creationId xmlns:a16="http://schemas.microsoft.com/office/drawing/2014/main" id="{C35476D1-BA64-40D5-ADD4-948351E83064}"/>
              </a:ext>
            </a:extLst>
          </p:cNvPr>
          <p:cNvSpPr>
            <a:spLocks xmlns:a="http://schemas.openxmlformats.org/drawingml/2006/main" noGrp="1"/>
          </p:cNvSpPr>
          <p:nvPr/>
        </p:nvSpPr>
        <p:spPr>
          <a:xfrm xmlns:a="http://schemas.openxmlformats.org/drawingml/2006/main">
            <a:off x="7239000" y="2428875"/>
            <a:ext cx="3905250" cy="781050"/>
          </a:xfrm>
          <a:prstGeom xmlns:a="http://schemas.openxmlformats.org/drawingml/2006/main" prst="roundRect">
            <a:avLst>
              <a:gd name="adj" fmla="val 9756"/>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6D235EBC-FFC0-46D1-8E2E-64C977E9BCFB}"/>
              </a:ext>
            </a:extLst>
          </p:cNvPr>
          <p:cNvSpPr>
            <a:spLocks xmlns:a="http://schemas.openxmlformats.org/drawingml/2006/main" noGrp="1"/>
          </p:cNvSpPr>
          <p:nvPr/>
        </p:nvSpPr>
        <p:spPr>
          <a:xfrm xmlns:a="http://schemas.openxmlformats.org/drawingml/2006/main">
            <a:off x="7524750" y="26479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93"/>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Microsoft manages the platform</a:t>
            </a:r>
          </a:p>
        </p:txBody>
      </p:sp>
      <p:sp>
        <p:nvSpPr>
          <p:cNvPr id="17" name="">
            <a:extLst xmlns:a="http://schemas.openxmlformats.org/drawingml/2006/main">
              <a:ext uri="{FF2B5EF4-FFF2-40B4-BE49-F238E27FC236}">
                <a16:creationId xmlns:a16="http://schemas.microsoft.com/office/drawing/2014/main" id="{8C65A147-A58C-4BD8-B96B-135E3407E886}"/>
              </a:ext>
            </a:extLst>
          </p:cNvPr>
          <p:cNvSpPr>
            <a:spLocks xmlns:a="http://schemas.openxmlformats.org/drawingml/2006/main" noGrp="1"/>
          </p:cNvSpPr>
          <p:nvPr/>
        </p:nvSpPr>
        <p:spPr>
          <a:xfrm xmlns:a="http://schemas.openxmlformats.org/drawingml/2006/main">
            <a:off x="7239000" y="3524250"/>
            <a:ext cx="3905250" cy="781050"/>
          </a:xfrm>
          <a:prstGeom xmlns:a="http://schemas.openxmlformats.org/drawingml/2006/main" prst="roundRect">
            <a:avLst>
              <a:gd name="adj" fmla="val 9756"/>
            </a:avLst>
          </a:prstGeom>
          <a:solidFill xmlns:a="http://schemas.openxmlformats.org/drawingml/2006/main">
            <a:srgbClr val="EAF5FC"/>
          </a:solidFill>
          <a:ln xmlns:a="http://schemas.openxmlformats.org/drawingml/2006/main" w="19050">
            <a:solidFill>
              <a:srgbClr val="0078D4"/>
            </a:solidFill>
          </a:ln>
        </p:spPr>
      </p:sp>
      <p:sp>
        <p:nvSpPr>
          <p:cNvPr id="18" name="">
            <a:extLst xmlns:a="http://schemas.openxmlformats.org/drawingml/2006/main">
              <a:ext uri="{FF2B5EF4-FFF2-40B4-BE49-F238E27FC236}">
                <a16:creationId xmlns:a16="http://schemas.microsoft.com/office/drawing/2014/main" id="{CB93B06D-3BE4-4863-9388-F0A04223CE81}"/>
              </a:ext>
            </a:extLst>
          </p:cNvPr>
          <p:cNvSpPr>
            <a:spLocks xmlns:a="http://schemas.openxmlformats.org/drawingml/2006/main" noGrp="1"/>
          </p:cNvSpPr>
          <p:nvPr/>
        </p:nvSpPr>
        <p:spPr>
          <a:xfrm xmlns:a="http://schemas.openxmlformats.org/drawingml/2006/main">
            <a:off x="752475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You deploy the application</a:t>
            </a:r>
          </a:p>
        </p:txBody>
      </p:sp>
      <p:sp>
        <p:nvSpPr>
          <p:cNvPr id="19" name="">
            <a:extLst xmlns:a="http://schemas.openxmlformats.org/drawingml/2006/main">
              <a:ext uri="{FF2B5EF4-FFF2-40B4-BE49-F238E27FC236}">
                <a16:creationId xmlns:a16="http://schemas.microsoft.com/office/drawing/2014/main" id="{0F7DF464-92BC-4FB7-AFA6-327C6971A722}"/>
              </a:ext>
            </a:extLst>
          </p:cNvPr>
          <p:cNvSpPr>
            <a:spLocks xmlns:a="http://schemas.openxmlformats.org/drawingml/2006/main" noGrp="1"/>
          </p:cNvSpPr>
          <p:nvPr/>
        </p:nvSpPr>
        <p:spPr>
          <a:xfrm xmlns:a="http://schemas.openxmlformats.org/drawingml/2006/main">
            <a:off x="4762500" y="5429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0078D4"/>
                </a:solidFill>
                <a:latin typeface="Arial"/>
                <a:ea typeface="Arial"/>
                <a:cs typeface="Arial"/>
              </a:defRPr>
            </a:pPr>
            <a:r>
              <a:rPr sz="1500" b="1">
                <a:solidFill>
                  <a:srgbClr val="0078D4"/>
                </a:solidFill>
                <a:latin typeface="Arial"/>
                <a:ea typeface="Arial"/>
                <a:cs typeface="Arial"/>
              </a:rPr>
              <a:t>Lab deployment</a:t>
            </a:r>
          </a:p>
        </p:txBody>
      </p:sp>
      <p:sp>
        <p:nvSpPr>
          <p:cNvPr id="20" name="">
            <a:extLst xmlns:a="http://schemas.openxmlformats.org/drawingml/2006/main">
              <a:ext uri="{FF2B5EF4-FFF2-40B4-BE49-F238E27FC236}">
                <a16:creationId xmlns:a16="http://schemas.microsoft.com/office/drawing/2014/main" id="{591B11E1-F370-411F-A5D1-A40E3BAEC435}"/>
              </a:ext>
            </a:extLst>
          </p:cNvPr>
          <p:cNvSpPr>
            <a:spLocks xmlns:a="http://schemas.openxmlformats.org/drawingml/2006/main" noGrp="1"/>
          </p:cNvSpPr>
          <p:nvPr/>
        </p:nvSpPr>
        <p:spPr>
          <a:xfrm xmlns:a="http://schemas.openxmlformats.org/drawingml/2006/main">
            <a:off x="4048125" y="57912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index.html in a ZIP package</a:t>
            </a:r>
          </a:p>
        </p:txBody>
      </p:sp>
    </p:spTree>
    <p:extLst>
      <p:ext uri="{BB962C8B-B14F-4D97-AF65-F5344CB8AC3E}">
        <p14:creationId xmlns:p14="http://schemas.microsoft.com/office/powerpoint/2010/main" val="5626008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0061FE-F00D-4074-BFD9-77013A0053B7}"/>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Monitoring</a:t>
            </a:r>
          </a:p>
        </p:txBody>
      </p:sp>
      <p:sp>
        <p:nvSpPr>
          <p:cNvPr id="2" name="">
            <a:extLst xmlns:a="http://schemas.openxmlformats.org/drawingml/2006/main">
              <a:ext uri="{FF2B5EF4-FFF2-40B4-BE49-F238E27FC236}">
                <a16:creationId xmlns:a16="http://schemas.microsoft.com/office/drawing/2014/main" id="{A7BDB551-6441-4CD4-9C9B-916B62C66C2A}"/>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8A15D9-D436-479C-B8FB-856B046F9C00}"/>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Azure records health, performance, and changes</a:t>
            </a:r>
          </a:p>
        </p:txBody>
      </p:sp>
      <p:sp>
        <p:nvSpPr>
          <p:cNvPr id="4" name="">
            <a:extLst xmlns:a="http://schemas.openxmlformats.org/drawingml/2006/main">
              <a:ext uri="{FF2B5EF4-FFF2-40B4-BE49-F238E27FC236}">
                <a16:creationId xmlns:a16="http://schemas.microsoft.com/office/drawing/2014/main" id="{D87EA05F-7DC2-49F8-ADCE-BCF2F08D5254}"/>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13</a:t>
            </a:r>
          </a:p>
        </p:txBody>
      </p:sp>
      <p:sp>
        <p:nvSpPr>
          <p:cNvPr id="5" name="">
            <a:extLst xmlns:a="http://schemas.openxmlformats.org/drawingml/2006/main">
              <a:ext uri="{FF2B5EF4-FFF2-40B4-BE49-F238E27FC236}">
                <a16:creationId xmlns:a16="http://schemas.microsoft.com/office/drawing/2014/main" id="{9B6C76A9-66BB-4623-8AC3-B64A437E8CDD}"/>
              </a:ext>
            </a:extLst>
          </p:cNvPr>
          <p:cNvSpPr>
            <a:spLocks xmlns:a="http://schemas.openxmlformats.org/drawingml/2006/main" noGrp="1"/>
          </p:cNvSpPr>
          <p:nvPr/>
        </p:nvSpPr>
        <p:spPr>
          <a:xfrm xmlns:a="http://schemas.openxmlformats.org/drawingml/2006/main">
            <a:off x="1428750" y="1809750"/>
            <a:ext cx="800100" cy="8001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451CF25-B1D8-4430-B2B0-134FEC120166}"/>
              </a:ext>
            </a:extLst>
          </p:cNvPr>
          <p:cNvSpPr>
            <a:spLocks xmlns:a="http://schemas.openxmlformats.org/drawingml/2006/main" noGrp="1"/>
          </p:cNvSpPr>
          <p:nvPr/>
        </p:nvSpPr>
        <p:spPr>
          <a:xfrm xmlns:a="http://schemas.openxmlformats.org/drawingml/2006/main">
            <a:off x="6667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Metrics</a:t>
            </a:r>
          </a:p>
        </p:txBody>
      </p:sp>
      <p:sp>
        <p:nvSpPr>
          <p:cNvPr id="7" name="">
            <a:extLst xmlns:a="http://schemas.openxmlformats.org/drawingml/2006/main">
              <a:ext uri="{FF2B5EF4-FFF2-40B4-BE49-F238E27FC236}">
                <a16:creationId xmlns:a16="http://schemas.microsoft.com/office/drawing/2014/main" id="{2DB0A1FA-528B-47B3-80F9-D06C57FC997A}"/>
              </a:ext>
            </a:extLst>
          </p:cNvPr>
          <p:cNvSpPr>
            <a:spLocks xmlns:a="http://schemas.openxmlformats.org/drawingml/2006/main" noGrp="1"/>
          </p:cNvSpPr>
          <p:nvPr/>
        </p:nvSpPr>
        <p:spPr>
          <a:xfrm xmlns:a="http://schemas.openxmlformats.org/drawingml/2006/main">
            <a:off x="6667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Numbers over time</a:t>
            </a:r>
          </a:p>
        </p:txBody>
      </p:sp>
      <p:sp>
        <p:nvSpPr>
          <p:cNvPr id="8" name="">
            <a:extLst xmlns:a="http://schemas.openxmlformats.org/drawingml/2006/main">
              <a:ext uri="{FF2B5EF4-FFF2-40B4-BE49-F238E27FC236}">
                <a16:creationId xmlns:a16="http://schemas.microsoft.com/office/drawing/2014/main" id="{1B45456A-66B7-4443-9E6D-06F7DCFD217F}"/>
              </a:ext>
            </a:extLst>
          </p:cNvPr>
          <p:cNvSpPr>
            <a:spLocks xmlns:a="http://schemas.openxmlformats.org/drawingml/2006/main" noGrp="1"/>
          </p:cNvSpPr>
          <p:nvPr/>
        </p:nvSpPr>
        <p:spPr>
          <a:xfrm xmlns:a="http://schemas.openxmlformats.org/drawingml/2006/main">
            <a:off x="4305300" y="1809750"/>
            <a:ext cx="800100" cy="8001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F967B651-7AF8-4E0E-8247-695E7733F0FF}"/>
              </a:ext>
            </a:extLst>
          </p:cNvPr>
          <p:cNvSpPr>
            <a:spLocks xmlns:a="http://schemas.openxmlformats.org/drawingml/2006/main" noGrp="1"/>
          </p:cNvSpPr>
          <p:nvPr/>
        </p:nvSpPr>
        <p:spPr>
          <a:xfrm xmlns:a="http://schemas.openxmlformats.org/drawingml/2006/main">
            <a:off x="35433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Logs</a:t>
            </a:r>
          </a:p>
        </p:txBody>
      </p:sp>
      <p:sp>
        <p:nvSpPr>
          <p:cNvPr id="10" name="">
            <a:extLst xmlns:a="http://schemas.openxmlformats.org/drawingml/2006/main">
              <a:ext uri="{FF2B5EF4-FFF2-40B4-BE49-F238E27FC236}">
                <a16:creationId xmlns:a16="http://schemas.microsoft.com/office/drawing/2014/main" id="{55BE45D6-26BA-4FAB-B4D9-05204EAA9E2A}"/>
              </a:ext>
            </a:extLst>
          </p:cNvPr>
          <p:cNvSpPr>
            <a:spLocks xmlns:a="http://schemas.openxmlformats.org/drawingml/2006/main" noGrp="1"/>
          </p:cNvSpPr>
          <p:nvPr/>
        </p:nvSpPr>
        <p:spPr>
          <a:xfrm xmlns:a="http://schemas.openxmlformats.org/drawingml/2006/main">
            <a:off x="35433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Detailed records</a:t>
            </a:r>
          </a:p>
        </p:txBody>
      </p:sp>
      <p:sp>
        <p:nvSpPr>
          <p:cNvPr id="11" name="">
            <a:extLst xmlns:a="http://schemas.openxmlformats.org/drawingml/2006/main">
              <a:ext uri="{FF2B5EF4-FFF2-40B4-BE49-F238E27FC236}">
                <a16:creationId xmlns:a16="http://schemas.microsoft.com/office/drawing/2014/main" id="{90894807-5AE0-4AF0-9614-E5A4828191C3}"/>
              </a:ext>
            </a:extLst>
          </p:cNvPr>
          <p:cNvSpPr>
            <a:spLocks xmlns:a="http://schemas.openxmlformats.org/drawingml/2006/main" noGrp="1"/>
          </p:cNvSpPr>
          <p:nvPr/>
        </p:nvSpPr>
        <p:spPr>
          <a:xfrm xmlns:a="http://schemas.openxmlformats.org/drawingml/2006/main">
            <a:off x="7181850" y="1809750"/>
            <a:ext cx="800100" cy="8001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0D835735-8F63-4560-8110-B594D79F73B7}"/>
              </a:ext>
            </a:extLst>
          </p:cNvPr>
          <p:cNvSpPr>
            <a:spLocks xmlns:a="http://schemas.openxmlformats.org/drawingml/2006/main" noGrp="1"/>
          </p:cNvSpPr>
          <p:nvPr/>
        </p:nvSpPr>
        <p:spPr>
          <a:xfrm xmlns:a="http://schemas.openxmlformats.org/drawingml/2006/main">
            <a:off x="64198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Alerts</a:t>
            </a:r>
          </a:p>
        </p:txBody>
      </p:sp>
      <p:sp>
        <p:nvSpPr>
          <p:cNvPr id="13" name="">
            <a:extLst xmlns:a="http://schemas.openxmlformats.org/drawingml/2006/main">
              <a:ext uri="{FF2B5EF4-FFF2-40B4-BE49-F238E27FC236}">
                <a16:creationId xmlns:a16="http://schemas.microsoft.com/office/drawing/2014/main" id="{CECBC665-FE72-428A-94DB-5A0B7D7FC5C6}"/>
              </a:ext>
            </a:extLst>
          </p:cNvPr>
          <p:cNvSpPr>
            <a:spLocks xmlns:a="http://schemas.openxmlformats.org/drawingml/2006/main" noGrp="1"/>
          </p:cNvSpPr>
          <p:nvPr/>
        </p:nvSpPr>
        <p:spPr>
          <a:xfrm xmlns:a="http://schemas.openxmlformats.org/drawingml/2006/main">
            <a:off x="64198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Notification after a condition</a:t>
            </a:r>
          </a:p>
        </p:txBody>
      </p:sp>
      <p:sp>
        <p:nvSpPr>
          <p:cNvPr id="14" name="">
            <a:extLst xmlns:a="http://schemas.openxmlformats.org/drawingml/2006/main">
              <a:ext uri="{FF2B5EF4-FFF2-40B4-BE49-F238E27FC236}">
                <a16:creationId xmlns:a16="http://schemas.microsoft.com/office/drawing/2014/main" id="{202B82E5-A909-4752-A9E3-B5422D77FE2D}"/>
              </a:ext>
            </a:extLst>
          </p:cNvPr>
          <p:cNvSpPr>
            <a:spLocks xmlns:a="http://schemas.openxmlformats.org/drawingml/2006/main" noGrp="1"/>
          </p:cNvSpPr>
          <p:nvPr/>
        </p:nvSpPr>
        <p:spPr>
          <a:xfrm xmlns:a="http://schemas.openxmlformats.org/drawingml/2006/main">
            <a:off x="10058400" y="1809750"/>
            <a:ext cx="800100" cy="8001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B0770D3-B553-48EB-B3C5-05A71C69DC25}"/>
              </a:ext>
            </a:extLst>
          </p:cNvPr>
          <p:cNvSpPr>
            <a:spLocks xmlns:a="http://schemas.openxmlformats.org/drawingml/2006/main" noGrp="1"/>
          </p:cNvSpPr>
          <p:nvPr/>
        </p:nvSpPr>
        <p:spPr>
          <a:xfrm xmlns:a="http://schemas.openxmlformats.org/drawingml/2006/main">
            <a:off x="92964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Activity Log</a:t>
            </a:r>
          </a:p>
        </p:txBody>
      </p:sp>
      <p:sp>
        <p:nvSpPr>
          <p:cNvPr id="16" name="">
            <a:extLst xmlns:a="http://schemas.openxmlformats.org/drawingml/2006/main">
              <a:ext uri="{FF2B5EF4-FFF2-40B4-BE49-F238E27FC236}">
                <a16:creationId xmlns:a16="http://schemas.microsoft.com/office/drawing/2014/main" id="{429D654C-86EA-4A9E-86E9-23476FC62485}"/>
              </a:ext>
            </a:extLst>
          </p:cNvPr>
          <p:cNvSpPr>
            <a:spLocks xmlns:a="http://schemas.openxmlformats.org/drawingml/2006/main" noGrp="1"/>
          </p:cNvSpPr>
          <p:nvPr/>
        </p:nvSpPr>
        <p:spPr>
          <a:xfrm xmlns:a="http://schemas.openxmlformats.org/drawingml/2006/main">
            <a:off x="92964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Who changed a resource</a:t>
            </a:r>
          </a:p>
        </p:txBody>
      </p:sp>
      <p:sp>
        <p:nvSpPr>
          <p:cNvPr id="17" name="">
            <a:extLst xmlns:a="http://schemas.openxmlformats.org/drawingml/2006/main">
              <a:ext uri="{FF2B5EF4-FFF2-40B4-BE49-F238E27FC236}">
                <a16:creationId xmlns:a16="http://schemas.microsoft.com/office/drawing/2014/main" id="{9105BA51-93D4-4226-A71E-113D7E0633D3}"/>
              </a:ext>
            </a:extLst>
          </p:cNvPr>
          <p:cNvSpPr>
            <a:spLocks xmlns:a="http://schemas.openxmlformats.org/drawingml/2006/main" noGrp="1"/>
          </p:cNvSpPr>
          <p:nvPr/>
        </p:nvSpPr>
        <p:spPr>
          <a:xfrm xmlns:a="http://schemas.openxmlformats.org/drawingml/2006/main">
            <a:off x="2238375" y="4619625"/>
            <a:ext cx="7715250" cy="876300"/>
          </a:xfrm>
          <a:prstGeom xmlns:a="http://schemas.openxmlformats.org/drawingml/2006/main" prst="roundRect">
            <a:avLst>
              <a:gd name="adj" fmla="val 8696"/>
            </a:avLst>
          </a:prstGeom>
          <a:solidFill xmlns:a="http://schemas.openxmlformats.org/drawingml/2006/main">
            <a:srgbClr val="F5F8FB"/>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A0B5B5CE-923E-40C6-8401-C769AF52C13B}"/>
              </a:ext>
            </a:extLst>
          </p:cNvPr>
          <p:cNvSpPr>
            <a:spLocks xmlns:a="http://schemas.openxmlformats.org/drawingml/2006/main" noGrp="1"/>
          </p:cNvSpPr>
          <p:nvPr/>
        </p:nvSpPr>
        <p:spPr>
          <a:xfrm xmlns:a="http://schemas.openxmlformats.org/drawingml/2006/main">
            <a:off x="2571750" y="48577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Lab task</a:t>
            </a:r>
          </a:p>
        </p:txBody>
      </p:sp>
      <p:sp>
        <p:nvSpPr>
          <p:cNvPr id="19" name="">
            <a:extLst xmlns:a="http://schemas.openxmlformats.org/drawingml/2006/main">
              <a:ext uri="{FF2B5EF4-FFF2-40B4-BE49-F238E27FC236}">
                <a16:creationId xmlns:a16="http://schemas.microsoft.com/office/drawing/2014/main" id="{CF838D5F-0161-4BAF-9D32-E59DD7C261F6}"/>
              </a:ext>
            </a:extLst>
          </p:cNvPr>
          <p:cNvSpPr>
            <a:spLocks xmlns:a="http://schemas.openxmlformats.org/drawingml/2006/main" noGrp="1"/>
          </p:cNvSpPr>
          <p:nvPr/>
        </p:nvSpPr>
        <p:spPr>
          <a:xfrm xmlns:a="http://schemas.openxmlformats.org/drawingml/2006/main">
            <a:off x="3905250" y="4791075"/>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27"/>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Find a successful resource creation event in the Resource Group Activity Log</a:t>
            </a:r>
          </a:p>
        </p:txBody>
      </p:sp>
    </p:spTree>
    <p:extLst>
      <p:ext uri="{BB962C8B-B14F-4D97-AF65-F5344CB8AC3E}">
        <p14:creationId xmlns:p14="http://schemas.microsoft.com/office/powerpoint/2010/main" val="4210632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68B2EAE-D38B-41A6-8174-72345997B86C}"/>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Cost management</a:t>
            </a:r>
          </a:p>
        </p:txBody>
      </p:sp>
      <p:sp>
        <p:nvSpPr>
          <p:cNvPr id="2" name="">
            <a:extLst xmlns:a="http://schemas.openxmlformats.org/drawingml/2006/main">
              <a:ext uri="{FF2B5EF4-FFF2-40B4-BE49-F238E27FC236}">
                <a16:creationId xmlns:a16="http://schemas.microsoft.com/office/drawing/2014/main" id="{0E9A0C4C-D2DF-4696-AD2A-A395550ABFAD}"/>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5F2AAA-6A16-411C-9454-E9E3C8F05429}"/>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Every resource has a lifecycle and a cost consequence</a:t>
            </a:r>
          </a:p>
        </p:txBody>
      </p:sp>
      <p:sp>
        <p:nvSpPr>
          <p:cNvPr id="4" name="">
            <a:extLst xmlns:a="http://schemas.openxmlformats.org/drawingml/2006/main">
              <a:ext uri="{FF2B5EF4-FFF2-40B4-BE49-F238E27FC236}">
                <a16:creationId xmlns:a16="http://schemas.microsoft.com/office/drawing/2014/main" id="{A3A34750-EAD6-43DA-A3E4-5BA76E58C3E2}"/>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14</a:t>
            </a:r>
          </a:p>
        </p:txBody>
      </p:sp>
      <p:sp>
        <p:nvSpPr>
          <p:cNvPr id="5" name="">
            <a:extLst xmlns:a="http://schemas.openxmlformats.org/drawingml/2006/main">
              <a:ext uri="{FF2B5EF4-FFF2-40B4-BE49-F238E27FC236}">
                <a16:creationId xmlns:a16="http://schemas.microsoft.com/office/drawing/2014/main" id="{6C84B02F-E298-4F72-85AA-DD51AD8FF6FD}"/>
              </a:ext>
            </a:extLst>
          </p:cNvPr>
          <p:cNvSpPr>
            <a:spLocks xmlns:a="http://schemas.openxmlformats.org/drawingml/2006/main" noGrp="1"/>
          </p:cNvSpPr>
          <p:nvPr/>
        </p:nvSpPr>
        <p:spPr>
          <a:xfrm xmlns:a="http://schemas.openxmlformats.org/drawingml/2006/main">
            <a:off x="714375" y="1952625"/>
            <a:ext cx="742950" cy="7429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06E60DF-CE90-481F-8544-C88E301B706A}"/>
              </a:ext>
            </a:extLst>
          </p:cNvPr>
          <p:cNvSpPr>
            <a:spLocks xmlns:a="http://schemas.openxmlformats.org/drawingml/2006/main" noGrp="1"/>
          </p:cNvSpPr>
          <p:nvPr/>
        </p:nvSpPr>
        <p:spPr>
          <a:xfrm xmlns:a="http://schemas.openxmlformats.org/drawingml/2006/main">
            <a:off x="381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Estimate</a:t>
            </a:r>
          </a:p>
        </p:txBody>
      </p:sp>
      <p:sp>
        <p:nvSpPr>
          <p:cNvPr id="7" name="">
            <a:extLst xmlns:a="http://schemas.openxmlformats.org/drawingml/2006/main">
              <a:ext uri="{FF2B5EF4-FFF2-40B4-BE49-F238E27FC236}">
                <a16:creationId xmlns:a16="http://schemas.microsoft.com/office/drawing/2014/main" id="{51586A0F-D0FF-437B-88A9-94CCF262A50F}"/>
              </a:ext>
            </a:extLst>
          </p:cNvPr>
          <p:cNvSpPr>
            <a:spLocks xmlns:a="http://schemas.openxmlformats.org/drawingml/2006/main" noGrp="1"/>
          </p:cNvSpPr>
          <p:nvPr/>
        </p:nvSpPr>
        <p:spPr>
          <a:xfrm xmlns:a="http://schemas.openxmlformats.org/drawingml/2006/main">
            <a:off x="190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Pricing calculator</a:t>
            </a:r>
          </a:p>
        </p:txBody>
      </p:sp>
      <p:sp>
        <p:nvSpPr>
          <p:cNvPr id="8" name="">
            <a:extLst xmlns:a="http://schemas.openxmlformats.org/drawingml/2006/main">
              <a:ext uri="{FF2B5EF4-FFF2-40B4-BE49-F238E27FC236}">
                <a16:creationId xmlns:a16="http://schemas.microsoft.com/office/drawing/2014/main" id="{10304337-11E1-4B70-8B3A-C8CA36C745E9}"/>
              </a:ext>
            </a:extLst>
          </p:cNvPr>
          <p:cNvSpPr>
            <a:spLocks xmlns:a="http://schemas.openxmlformats.org/drawingml/2006/main" noGrp="1"/>
          </p:cNvSpPr>
          <p:nvPr/>
        </p:nvSpPr>
        <p:spPr>
          <a:xfrm xmlns:a="http://schemas.openxmlformats.org/drawingml/2006/main">
            <a:off x="1457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4E248A-8F66-4565-8F72-B24F8CFCE60D}"/>
              </a:ext>
            </a:extLst>
          </p:cNvPr>
          <p:cNvSpPr>
            <a:spLocks xmlns:a="http://schemas.openxmlformats.org/drawingml/2006/main" noGrp="1"/>
          </p:cNvSpPr>
          <p:nvPr/>
        </p:nvSpPr>
        <p:spPr>
          <a:xfrm xmlns:a="http://schemas.openxmlformats.org/drawingml/2006/main">
            <a:off x="3571875" y="1952625"/>
            <a:ext cx="742950" cy="7429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54966BEF-D7AF-4F28-89D6-72E0B939E72C}"/>
              </a:ext>
            </a:extLst>
          </p:cNvPr>
          <p:cNvSpPr>
            <a:spLocks xmlns:a="http://schemas.openxmlformats.org/drawingml/2006/main" noGrp="1"/>
          </p:cNvSpPr>
          <p:nvPr/>
        </p:nvSpPr>
        <p:spPr>
          <a:xfrm xmlns:a="http://schemas.openxmlformats.org/drawingml/2006/main">
            <a:off x="3238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Observe</a:t>
            </a:r>
          </a:p>
        </p:txBody>
      </p:sp>
      <p:sp>
        <p:nvSpPr>
          <p:cNvPr id="11" name="">
            <a:extLst xmlns:a="http://schemas.openxmlformats.org/drawingml/2006/main">
              <a:ext uri="{FF2B5EF4-FFF2-40B4-BE49-F238E27FC236}">
                <a16:creationId xmlns:a16="http://schemas.microsoft.com/office/drawing/2014/main" id="{DA2A9FB3-7202-49BF-8312-57AE2A04B3A0}"/>
              </a:ext>
            </a:extLst>
          </p:cNvPr>
          <p:cNvSpPr>
            <a:spLocks xmlns:a="http://schemas.openxmlformats.org/drawingml/2006/main" noGrp="1"/>
          </p:cNvSpPr>
          <p:nvPr/>
        </p:nvSpPr>
        <p:spPr>
          <a:xfrm xmlns:a="http://schemas.openxmlformats.org/drawingml/2006/main">
            <a:off x="3048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Cost analysis</a:t>
            </a:r>
          </a:p>
        </p:txBody>
      </p:sp>
      <p:sp>
        <p:nvSpPr>
          <p:cNvPr id="12" name="">
            <a:extLst xmlns:a="http://schemas.openxmlformats.org/drawingml/2006/main">
              <a:ext uri="{FF2B5EF4-FFF2-40B4-BE49-F238E27FC236}">
                <a16:creationId xmlns:a16="http://schemas.microsoft.com/office/drawing/2014/main" id="{FC414590-9A2C-4E18-BB44-B65BFD23984F}"/>
              </a:ext>
            </a:extLst>
          </p:cNvPr>
          <p:cNvSpPr>
            <a:spLocks xmlns:a="http://schemas.openxmlformats.org/drawingml/2006/main" noGrp="1"/>
          </p:cNvSpPr>
          <p:nvPr/>
        </p:nvSpPr>
        <p:spPr>
          <a:xfrm xmlns:a="http://schemas.openxmlformats.org/drawingml/2006/main">
            <a:off x="43148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8A59DE-4206-4ABE-823B-B311260C3073}"/>
              </a:ext>
            </a:extLst>
          </p:cNvPr>
          <p:cNvSpPr>
            <a:spLocks xmlns:a="http://schemas.openxmlformats.org/drawingml/2006/main" noGrp="1"/>
          </p:cNvSpPr>
          <p:nvPr/>
        </p:nvSpPr>
        <p:spPr>
          <a:xfrm xmlns:a="http://schemas.openxmlformats.org/drawingml/2006/main">
            <a:off x="6429375" y="1952625"/>
            <a:ext cx="742950" cy="7429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2D173007-C1AE-4812-9DA7-2349A476CE49}"/>
              </a:ext>
            </a:extLst>
          </p:cNvPr>
          <p:cNvSpPr>
            <a:spLocks xmlns:a="http://schemas.openxmlformats.org/drawingml/2006/main" noGrp="1"/>
          </p:cNvSpPr>
          <p:nvPr/>
        </p:nvSpPr>
        <p:spPr>
          <a:xfrm xmlns:a="http://schemas.openxmlformats.org/drawingml/2006/main">
            <a:off x="6096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Control</a:t>
            </a:r>
          </a:p>
        </p:txBody>
      </p:sp>
      <p:sp>
        <p:nvSpPr>
          <p:cNvPr id="15" name="">
            <a:extLst xmlns:a="http://schemas.openxmlformats.org/drawingml/2006/main">
              <a:ext uri="{FF2B5EF4-FFF2-40B4-BE49-F238E27FC236}">
                <a16:creationId xmlns:a16="http://schemas.microsoft.com/office/drawing/2014/main" id="{36618D42-6932-4F1B-A831-B3FC709F7DC6}"/>
              </a:ext>
            </a:extLst>
          </p:cNvPr>
          <p:cNvSpPr>
            <a:spLocks xmlns:a="http://schemas.openxmlformats.org/drawingml/2006/main" noGrp="1"/>
          </p:cNvSpPr>
          <p:nvPr/>
        </p:nvSpPr>
        <p:spPr>
          <a:xfrm xmlns:a="http://schemas.openxmlformats.org/drawingml/2006/main">
            <a:off x="5905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Budgets and alerts</a:t>
            </a:r>
          </a:p>
        </p:txBody>
      </p:sp>
      <p:sp>
        <p:nvSpPr>
          <p:cNvPr id="16" name="">
            <a:extLst xmlns:a="http://schemas.openxmlformats.org/drawingml/2006/main">
              <a:ext uri="{FF2B5EF4-FFF2-40B4-BE49-F238E27FC236}">
                <a16:creationId xmlns:a16="http://schemas.microsoft.com/office/drawing/2014/main" id="{F68C8586-5995-4377-AA6C-BD9EF9148D33}"/>
              </a:ext>
            </a:extLst>
          </p:cNvPr>
          <p:cNvSpPr>
            <a:spLocks xmlns:a="http://schemas.openxmlformats.org/drawingml/2006/main" noGrp="1"/>
          </p:cNvSpPr>
          <p:nvPr/>
        </p:nvSpPr>
        <p:spPr>
          <a:xfrm xmlns:a="http://schemas.openxmlformats.org/drawingml/2006/main">
            <a:off x="7172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B4AAAAB-32C3-483D-A263-E0C6A0EB7876}"/>
              </a:ext>
            </a:extLst>
          </p:cNvPr>
          <p:cNvSpPr>
            <a:spLocks xmlns:a="http://schemas.openxmlformats.org/drawingml/2006/main" noGrp="1"/>
          </p:cNvSpPr>
          <p:nvPr/>
        </p:nvSpPr>
        <p:spPr>
          <a:xfrm xmlns:a="http://schemas.openxmlformats.org/drawingml/2006/main">
            <a:off x="9286875" y="1952625"/>
            <a:ext cx="742950" cy="7429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06746838-C166-4470-96A1-601D0C0BE967}"/>
              </a:ext>
            </a:extLst>
          </p:cNvPr>
          <p:cNvSpPr>
            <a:spLocks xmlns:a="http://schemas.openxmlformats.org/drawingml/2006/main" noGrp="1"/>
          </p:cNvSpPr>
          <p:nvPr/>
        </p:nvSpPr>
        <p:spPr>
          <a:xfrm xmlns:a="http://schemas.openxmlformats.org/drawingml/2006/main">
            <a:off x="8953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Remove</a:t>
            </a:r>
          </a:p>
        </p:txBody>
      </p:sp>
      <p:sp>
        <p:nvSpPr>
          <p:cNvPr id="19" name="">
            <a:extLst xmlns:a="http://schemas.openxmlformats.org/drawingml/2006/main">
              <a:ext uri="{FF2B5EF4-FFF2-40B4-BE49-F238E27FC236}">
                <a16:creationId xmlns:a16="http://schemas.microsoft.com/office/drawing/2014/main" id="{2F5CE9C3-4338-44F3-9E13-AA9789DA81BC}"/>
              </a:ext>
            </a:extLst>
          </p:cNvPr>
          <p:cNvSpPr>
            <a:spLocks xmlns:a="http://schemas.openxmlformats.org/drawingml/2006/main" noGrp="1"/>
          </p:cNvSpPr>
          <p:nvPr/>
        </p:nvSpPr>
        <p:spPr>
          <a:xfrm xmlns:a="http://schemas.openxmlformats.org/drawingml/2006/main">
            <a:off x="8763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Delete unused resources</a:t>
            </a:r>
          </a:p>
        </p:txBody>
      </p:sp>
      <p:sp>
        <p:nvSpPr>
          <p:cNvPr id="20" name="">
            <a:extLst xmlns:a="http://schemas.openxmlformats.org/drawingml/2006/main">
              <a:ext uri="{FF2B5EF4-FFF2-40B4-BE49-F238E27FC236}">
                <a16:creationId xmlns:a16="http://schemas.microsoft.com/office/drawing/2014/main" id="{20AFEE97-760B-496C-8A93-72136A534163}"/>
              </a:ext>
            </a:extLst>
          </p:cNvPr>
          <p:cNvSpPr>
            <a:spLocks xmlns:a="http://schemas.openxmlformats.org/drawingml/2006/main" noGrp="1"/>
          </p:cNvSpPr>
          <p:nvPr/>
        </p:nvSpPr>
        <p:spPr>
          <a:xfrm xmlns:a="http://schemas.openxmlformats.org/drawingml/2006/main">
            <a:off x="1762125" y="4667250"/>
            <a:ext cx="8667750" cy="857250"/>
          </a:xfrm>
          <a:prstGeom xmlns:a="http://schemas.openxmlformats.org/drawingml/2006/main" prst="roundRect">
            <a:avLst>
              <a:gd name="adj" fmla="val 8889"/>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0410B9B3-81D8-4EEB-BE70-147207B9C4A6}"/>
              </a:ext>
            </a:extLst>
          </p:cNvPr>
          <p:cNvSpPr>
            <a:spLocks xmlns:a="http://schemas.openxmlformats.org/drawingml/2006/main" noGrp="1"/>
          </p:cNvSpPr>
          <p:nvPr/>
        </p:nvSpPr>
        <p:spPr>
          <a:xfrm xmlns:a="http://schemas.openxmlformats.org/drawingml/2006/main">
            <a:off x="2143125" y="49053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D83B01"/>
                </a:solidFill>
                <a:latin typeface="Arial"/>
                <a:ea typeface="Arial"/>
                <a:cs typeface="Arial"/>
              </a:defRPr>
            </a:pPr>
            <a:r>
              <a:rPr sz="1725" b="1">
                <a:solidFill>
                  <a:srgbClr val="D83B01"/>
                </a:solidFill>
                <a:latin typeface="Arial"/>
                <a:ea typeface="Arial"/>
                <a:cs typeface="Arial"/>
              </a:rPr>
              <a:t>Cost notice</a:t>
            </a:r>
          </a:p>
        </p:txBody>
      </p:sp>
      <p:sp>
        <p:nvSpPr>
          <p:cNvPr id="22" name="">
            <a:extLst xmlns:a="http://schemas.openxmlformats.org/drawingml/2006/main">
              <a:ext uri="{FF2B5EF4-FFF2-40B4-BE49-F238E27FC236}">
                <a16:creationId xmlns:a16="http://schemas.microsoft.com/office/drawing/2014/main" id="{7AF80F5E-C6A8-4D44-8CF0-B94E575D1E8C}"/>
              </a:ext>
            </a:extLst>
          </p:cNvPr>
          <p:cNvSpPr>
            <a:spLocks xmlns:a="http://schemas.openxmlformats.org/drawingml/2006/main" noGrp="1"/>
          </p:cNvSpPr>
          <p:nvPr/>
        </p:nvSpPr>
        <p:spPr>
          <a:xfrm xmlns:a="http://schemas.openxmlformats.org/drawingml/2006/main">
            <a:off x="4000500" y="48482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15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VMs and App Service plans can charge while idle. Cleanup ends the lab.</a:t>
            </a:r>
          </a:p>
        </p:txBody>
      </p:sp>
    </p:spTree>
    <p:extLst>
      <p:ext uri="{BB962C8B-B14F-4D97-AF65-F5344CB8AC3E}">
        <p14:creationId xmlns:p14="http://schemas.microsoft.com/office/powerpoint/2010/main" val="13084676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1BA02CF-9501-48FC-9D49-7C980D1C6460}"/>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Two-hour hands-on route</a:t>
            </a:r>
          </a:p>
        </p:txBody>
      </p:sp>
      <p:sp>
        <p:nvSpPr>
          <p:cNvPr id="2" name="">
            <a:extLst xmlns:a="http://schemas.openxmlformats.org/drawingml/2006/main">
              <a:ext uri="{FF2B5EF4-FFF2-40B4-BE49-F238E27FC236}">
                <a16:creationId xmlns:a16="http://schemas.microsoft.com/office/drawing/2014/main" id="{87C6A474-4974-4F24-85B5-C7A02AE81348}"/>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3512FE-41F9-45E9-9CAE-E2692D182FD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Six labs, validation, and cleanup</a:t>
            </a:r>
          </a:p>
        </p:txBody>
      </p:sp>
      <p:sp>
        <p:nvSpPr>
          <p:cNvPr id="4" name="">
            <a:extLst xmlns:a="http://schemas.openxmlformats.org/drawingml/2006/main">
              <a:ext uri="{FF2B5EF4-FFF2-40B4-BE49-F238E27FC236}">
                <a16:creationId xmlns:a16="http://schemas.microsoft.com/office/drawing/2014/main" id="{919007B3-1850-4ABD-8295-82AF1672800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15</a:t>
            </a:r>
          </a:p>
        </p:txBody>
      </p:sp>
      <p:sp>
        <p:nvSpPr>
          <p:cNvPr id="5" name="">
            <a:extLst xmlns:a="http://schemas.openxmlformats.org/drawingml/2006/main">
              <a:ext uri="{FF2B5EF4-FFF2-40B4-BE49-F238E27FC236}">
                <a16:creationId xmlns:a16="http://schemas.microsoft.com/office/drawing/2014/main" id="{F7E389F8-EEFF-4B88-9664-553CC3ECD2E0}"/>
              </a:ext>
            </a:extLst>
          </p:cNvPr>
          <p:cNvSpPr>
            <a:spLocks xmlns:a="http://schemas.openxmlformats.org/drawingml/2006/main" noGrp="1"/>
          </p:cNvSpPr>
          <p:nvPr/>
        </p:nvSpPr>
        <p:spPr>
          <a:xfrm xmlns:a="http://schemas.openxmlformats.org/drawingml/2006/main">
            <a:off x="666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090C35F-CE6C-4037-BFC8-6C782CB612C7}"/>
              </a:ext>
            </a:extLst>
          </p:cNvPr>
          <p:cNvSpPr>
            <a:spLocks xmlns:a="http://schemas.openxmlformats.org/drawingml/2006/main" noGrp="1"/>
          </p:cNvSpPr>
          <p:nvPr/>
        </p:nvSpPr>
        <p:spPr>
          <a:xfrm xmlns:a="http://schemas.openxmlformats.org/drawingml/2006/main">
            <a:off x="1485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Portal</a:t>
            </a:r>
          </a:p>
        </p:txBody>
      </p:sp>
      <p:sp>
        <p:nvSpPr>
          <p:cNvPr id="7" name="">
            <a:extLst xmlns:a="http://schemas.openxmlformats.org/drawingml/2006/main">
              <a:ext uri="{FF2B5EF4-FFF2-40B4-BE49-F238E27FC236}">
                <a16:creationId xmlns:a16="http://schemas.microsoft.com/office/drawing/2014/main" id="{CC177BD9-E1BE-4613-A098-E92078ECD535}"/>
              </a:ext>
            </a:extLst>
          </p:cNvPr>
          <p:cNvSpPr>
            <a:spLocks xmlns:a="http://schemas.openxmlformats.org/drawingml/2006/main" noGrp="1"/>
          </p:cNvSpPr>
          <p:nvPr/>
        </p:nvSpPr>
        <p:spPr>
          <a:xfrm xmlns:a="http://schemas.openxmlformats.org/drawingml/2006/main">
            <a:off x="1485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8" name="">
            <a:extLst xmlns:a="http://schemas.openxmlformats.org/drawingml/2006/main">
              <a:ext uri="{FF2B5EF4-FFF2-40B4-BE49-F238E27FC236}">
                <a16:creationId xmlns:a16="http://schemas.microsoft.com/office/drawing/2014/main" id="{CE089A98-1D0C-48C5-9105-1E04C3F335C0}"/>
              </a:ext>
            </a:extLst>
          </p:cNvPr>
          <p:cNvSpPr>
            <a:spLocks xmlns:a="http://schemas.openxmlformats.org/drawingml/2006/main" noGrp="1"/>
          </p:cNvSpPr>
          <p:nvPr/>
        </p:nvSpPr>
        <p:spPr>
          <a:xfrm xmlns:a="http://schemas.openxmlformats.org/drawingml/2006/main">
            <a:off x="3524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77C0026F-C2A8-49DD-86B0-9AEEF5144ECF}"/>
              </a:ext>
            </a:extLst>
          </p:cNvPr>
          <p:cNvSpPr>
            <a:spLocks xmlns:a="http://schemas.openxmlformats.org/drawingml/2006/main" noGrp="1"/>
          </p:cNvSpPr>
          <p:nvPr/>
        </p:nvSpPr>
        <p:spPr>
          <a:xfrm xmlns:a="http://schemas.openxmlformats.org/drawingml/2006/main">
            <a:off x="4343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62853382-120B-442F-A0AA-EA3FE43E4CFC}"/>
              </a:ext>
            </a:extLst>
          </p:cNvPr>
          <p:cNvSpPr>
            <a:spLocks xmlns:a="http://schemas.openxmlformats.org/drawingml/2006/main" noGrp="1"/>
          </p:cNvSpPr>
          <p:nvPr/>
        </p:nvSpPr>
        <p:spPr>
          <a:xfrm xmlns:a="http://schemas.openxmlformats.org/drawingml/2006/main">
            <a:off x="4343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1" name="">
            <a:extLst xmlns:a="http://schemas.openxmlformats.org/drawingml/2006/main">
              <a:ext uri="{FF2B5EF4-FFF2-40B4-BE49-F238E27FC236}">
                <a16:creationId xmlns:a16="http://schemas.microsoft.com/office/drawing/2014/main" id="{B6D676FD-7045-44D1-AC31-401A21AF7C2C}"/>
              </a:ext>
            </a:extLst>
          </p:cNvPr>
          <p:cNvSpPr>
            <a:spLocks xmlns:a="http://schemas.openxmlformats.org/drawingml/2006/main" noGrp="1"/>
          </p:cNvSpPr>
          <p:nvPr/>
        </p:nvSpPr>
        <p:spPr>
          <a:xfrm xmlns:a="http://schemas.openxmlformats.org/drawingml/2006/main">
            <a:off x="6381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33DCB6C6-F5CB-4367-A437-ABF9B2A8F683}"/>
              </a:ext>
            </a:extLst>
          </p:cNvPr>
          <p:cNvSpPr>
            <a:spLocks xmlns:a="http://schemas.openxmlformats.org/drawingml/2006/main" noGrp="1"/>
          </p:cNvSpPr>
          <p:nvPr/>
        </p:nvSpPr>
        <p:spPr>
          <a:xfrm xmlns:a="http://schemas.openxmlformats.org/drawingml/2006/main">
            <a:off x="7200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Virtual machine</a:t>
            </a:r>
          </a:p>
        </p:txBody>
      </p:sp>
      <p:sp>
        <p:nvSpPr>
          <p:cNvPr id="13" name="">
            <a:extLst xmlns:a="http://schemas.openxmlformats.org/drawingml/2006/main">
              <a:ext uri="{FF2B5EF4-FFF2-40B4-BE49-F238E27FC236}">
                <a16:creationId xmlns:a16="http://schemas.microsoft.com/office/drawing/2014/main" id="{966B4824-7095-4551-AFA3-B72B57C0158A}"/>
              </a:ext>
            </a:extLst>
          </p:cNvPr>
          <p:cNvSpPr>
            <a:spLocks xmlns:a="http://schemas.openxmlformats.org/drawingml/2006/main" noGrp="1"/>
          </p:cNvSpPr>
          <p:nvPr/>
        </p:nvSpPr>
        <p:spPr>
          <a:xfrm xmlns:a="http://schemas.openxmlformats.org/drawingml/2006/main">
            <a:off x="7200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30 min</a:t>
            </a:r>
          </a:p>
        </p:txBody>
      </p:sp>
      <p:sp>
        <p:nvSpPr>
          <p:cNvPr id="14" name="">
            <a:extLst xmlns:a="http://schemas.openxmlformats.org/drawingml/2006/main">
              <a:ext uri="{FF2B5EF4-FFF2-40B4-BE49-F238E27FC236}">
                <a16:creationId xmlns:a16="http://schemas.microsoft.com/office/drawing/2014/main" id="{3AEB6DC5-7020-4705-8224-AE2E4477EC00}"/>
              </a:ext>
            </a:extLst>
          </p:cNvPr>
          <p:cNvSpPr>
            <a:spLocks xmlns:a="http://schemas.openxmlformats.org/drawingml/2006/main" noGrp="1"/>
          </p:cNvSpPr>
          <p:nvPr/>
        </p:nvSpPr>
        <p:spPr>
          <a:xfrm xmlns:a="http://schemas.openxmlformats.org/drawingml/2006/main">
            <a:off x="9239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ECB1F852-F0A1-48A1-B7CE-05C8E44FD1AC}"/>
              </a:ext>
            </a:extLst>
          </p:cNvPr>
          <p:cNvSpPr>
            <a:spLocks xmlns:a="http://schemas.openxmlformats.org/drawingml/2006/main" noGrp="1"/>
          </p:cNvSpPr>
          <p:nvPr/>
        </p:nvSpPr>
        <p:spPr>
          <a:xfrm xmlns:a="http://schemas.openxmlformats.org/drawingml/2006/main">
            <a:off x="10058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Networking</a:t>
            </a:r>
          </a:p>
        </p:txBody>
      </p:sp>
      <p:sp>
        <p:nvSpPr>
          <p:cNvPr id="16" name="">
            <a:extLst xmlns:a="http://schemas.openxmlformats.org/drawingml/2006/main">
              <a:ext uri="{FF2B5EF4-FFF2-40B4-BE49-F238E27FC236}">
                <a16:creationId xmlns:a16="http://schemas.microsoft.com/office/drawing/2014/main" id="{F19A2A16-E29D-40FE-939A-EBD92E745FEE}"/>
              </a:ext>
            </a:extLst>
          </p:cNvPr>
          <p:cNvSpPr>
            <a:spLocks xmlns:a="http://schemas.openxmlformats.org/drawingml/2006/main" noGrp="1"/>
          </p:cNvSpPr>
          <p:nvPr/>
        </p:nvSpPr>
        <p:spPr>
          <a:xfrm xmlns:a="http://schemas.openxmlformats.org/drawingml/2006/main">
            <a:off x="10058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7" name="">
            <a:extLst xmlns:a="http://schemas.openxmlformats.org/drawingml/2006/main">
              <a:ext uri="{FF2B5EF4-FFF2-40B4-BE49-F238E27FC236}">
                <a16:creationId xmlns:a16="http://schemas.microsoft.com/office/drawing/2014/main" id="{9C26C73A-04A8-4552-841E-39205DF545E9}"/>
              </a:ext>
            </a:extLst>
          </p:cNvPr>
          <p:cNvSpPr>
            <a:spLocks xmlns:a="http://schemas.openxmlformats.org/drawingml/2006/main" noGrp="1"/>
          </p:cNvSpPr>
          <p:nvPr/>
        </p:nvSpPr>
        <p:spPr>
          <a:xfrm xmlns:a="http://schemas.openxmlformats.org/drawingml/2006/main">
            <a:off x="666750" y="3667125"/>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42050637-301F-4C3E-99E9-6B4B86ABB008}"/>
              </a:ext>
            </a:extLst>
          </p:cNvPr>
          <p:cNvSpPr>
            <a:spLocks xmlns:a="http://schemas.openxmlformats.org/drawingml/2006/main" noGrp="1"/>
          </p:cNvSpPr>
          <p:nvPr/>
        </p:nvSpPr>
        <p:spPr>
          <a:xfrm xmlns:a="http://schemas.openxmlformats.org/drawingml/2006/main">
            <a:off x="1485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Blob storage</a:t>
            </a:r>
          </a:p>
        </p:txBody>
      </p:sp>
      <p:sp>
        <p:nvSpPr>
          <p:cNvPr id="19" name="">
            <a:extLst xmlns:a="http://schemas.openxmlformats.org/drawingml/2006/main">
              <a:ext uri="{FF2B5EF4-FFF2-40B4-BE49-F238E27FC236}">
                <a16:creationId xmlns:a16="http://schemas.microsoft.com/office/drawing/2014/main" id="{822EBF3E-1E83-4439-A03C-FDC58541B644}"/>
              </a:ext>
            </a:extLst>
          </p:cNvPr>
          <p:cNvSpPr>
            <a:spLocks xmlns:a="http://schemas.openxmlformats.org/drawingml/2006/main" noGrp="1"/>
          </p:cNvSpPr>
          <p:nvPr/>
        </p:nvSpPr>
        <p:spPr>
          <a:xfrm xmlns:a="http://schemas.openxmlformats.org/drawingml/2006/main">
            <a:off x="1485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20 min</a:t>
            </a:r>
          </a:p>
        </p:txBody>
      </p:sp>
      <p:sp>
        <p:nvSpPr>
          <p:cNvPr id="20" name="">
            <a:extLst xmlns:a="http://schemas.openxmlformats.org/drawingml/2006/main">
              <a:ext uri="{FF2B5EF4-FFF2-40B4-BE49-F238E27FC236}">
                <a16:creationId xmlns:a16="http://schemas.microsoft.com/office/drawing/2014/main" id="{0E5A74F0-AFFE-43EB-9424-A96C1BC0A70D}"/>
              </a:ext>
            </a:extLst>
          </p:cNvPr>
          <p:cNvSpPr>
            <a:spLocks xmlns:a="http://schemas.openxmlformats.org/drawingml/2006/main" noGrp="1"/>
          </p:cNvSpPr>
          <p:nvPr/>
        </p:nvSpPr>
        <p:spPr>
          <a:xfrm xmlns:a="http://schemas.openxmlformats.org/drawingml/2006/main">
            <a:off x="3524250" y="3667125"/>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A618B7CD-9986-404B-8562-E6D06DF5A75D}"/>
              </a:ext>
            </a:extLst>
          </p:cNvPr>
          <p:cNvSpPr>
            <a:spLocks xmlns:a="http://schemas.openxmlformats.org/drawingml/2006/main" noGrp="1"/>
          </p:cNvSpPr>
          <p:nvPr/>
        </p:nvSpPr>
        <p:spPr>
          <a:xfrm xmlns:a="http://schemas.openxmlformats.org/drawingml/2006/main">
            <a:off x="4343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 Service</a:t>
            </a:r>
          </a:p>
        </p:txBody>
      </p:sp>
      <p:sp>
        <p:nvSpPr>
          <p:cNvPr id="22" name="">
            <a:extLst xmlns:a="http://schemas.openxmlformats.org/drawingml/2006/main">
              <a:ext uri="{FF2B5EF4-FFF2-40B4-BE49-F238E27FC236}">
                <a16:creationId xmlns:a16="http://schemas.microsoft.com/office/drawing/2014/main" id="{3FE39C50-CC01-4D41-9F83-6EF9CB3C186E}"/>
              </a:ext>
            </a:extLst>
          </p:cNvPr>
          <p:cNvSpPr>
            <a:spLocks xmlns:a="http://schemas.openxmlformats.org/drawingml/2006/main" noGrp="1"/>
          </p:cNvSpPr>
          <p:nvPr/>
        </p:nvSpPr>
        <p:spPr>
          <a:xfrm xmlns:a="http://schemas.openxmlformats.org/drawingml/2006/main">
            <a:off x="4343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25 min</a:t>
            </a:r>
          </a:p>
        </p:txBody>
      </p:sp>
      <p:sp>
        <p:nvSpPr>
          <p:cNvPr id="23" name="">
            <a:extLst xmlns:a="http://schemas.openxmlformats.org/drawingml/2006/main">
              <a:ext uri="{FF2B5EF4-FFF2-40B4-BE49-F238E27FC236}">
                <a16:creationId xmlns:a16="http://schemas.microsoft.com/office/drawing/2014/main" id="{252CDD6E-DAF1-4DD7-A0BE-64EA4C21F50D}"/>
              </a:ext>
            </a:extLst>
          </p:cNvPr>
          <p:cNvSpPr>
            <a:spLocks xmlns:a="http://schemas.openxmlformats.org/drawingml/2006/main" noGrp="1"/>
          </p:cNvSpPr>
          <p:nvPr/>
        </p:nvSpPr>
        <p:spPr>
          <a:xfrm xmlns:a="http://schemas.openxmlformats.org/drawingml/2006/main">
            <a:off x="6381750" y="3667125"/>
            <a:ext cx="609600" cy="60960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CF9E90C4-7921-4E14-B952-7FEB5436681A}"/>
              </a:ext>
            </a:extLst>
          </p:cNvPr>
          <p:cNvSpPr>
            <a:spLocks xmlns:a="http://schemas.openxmlformats.org/drawingml/2006/main" noGrp="1"/>
          </p:cNvSpPr>
          <p:nvPr/>
        </p:nvSpPr>
        <p:spPr>
          <a:xfrm xmlns:a="http://schemas.openxmlformats.org/drawingml/2006/main">
            <a:off x="7200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40F47FE0-1240-417B-A452-9036DE481627}"/>
              </a:ext>
            </a:extLst>
          </p:cNvPr>
          <p:cNvSpPr>
            <a:spLocks xmlns:a="http://schemas.openxmlformats.org/drawingml/2006/main" noGrp="1"/>
          </p:cNvSpPr>
          <p:nvPr/>
        </p:nvSpPr>
        <p:spPr>
          <a:xfrm xmlns:a="http://schemas.openxmlformats.org/drawingml/2006/main">
            <a:off x="7200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6" name="">
            <a:extLst xmlns:a="http://schemas.openxmlformats.org/drawingml/2006/main">
              <a:ext uri="{FF2B5EF4-FFF2-40B4-BE49-F238E27FC236}">
                <a16:creationId xmlns:a16="http://schemas.microsoft.com/office/drawing/2014/main" id="{3F34BD4B-AA30-46C0-9600-DC66AE4217B5}"/>
              </a:ext>
            </a:extLst>
          </p:cNvPr>
          <p:cNvSpPr>
            <a:spLocks xmlns:a="http://schemas.openxmlformats.org/drawingml/2006/main" noGrp="1"/>
          </p:cNvSpPr>
          <p:nvPr/>
        </p:nvSpPr>
        <p:spPr>
          <a:xfrm xmlns:a="http://schemas.openxmlformats.org/drawingml/2006/main">
            <a:off x="9239250" y="3667125"/>
            <a:ext cx="609600" cy="609600"/>
          </a:xfrm>
          <a:prstGeom xmlns:a="http://schemas.openxmlformats.org/drawingml/2006/main" prst="ellipse">
            <a:avLst/>
          </a:prstGeom>
          <a:solidFill xmlns:a="http://schemas.openxmlformats.org/drawingml/2006/main">
            <a:srgbClr val="D83B0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BD28838A-40EC-40D3-BF57-C1ACA811B8D5}"/>
              </a:ext>
            </a:extLst>
          </p:cNvPr>
          <p:cNvSpPr>
            <a:spLocks xmlns:a="http://schemas.openxmlformats.org/drawingml/2006/main" noGrp="1"/>
          </p:cNvSpPr>
          <p:nvPr/>
        </p:nvSpPr>
        <p:spPr>
          <a:xfrm xmlns:a="http://schemas.openxmlformats.org/drawingml/2006/main">
            <a:off x="10058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Cleanup</a:t>
            </a:r>
          </a:p>
        </p:txBody>
      </p:sp>
      <p:sp>
        <p:nvSpPr>
          <p:cNvPr id="28" name="">
            <a:extLst xmlns:a="http://schemas.openxmlformats.org/drawingml/2006/main">
              <a:ext uri="{FF2B5EF4-FFF2-40B4-BE49-F238E27FC236}">
                <a16:creationId xmlns:a16="http://schemas.microsoft.com/office/drawing/2014/main" id="{661E0AE6-2F84-4E47-BA42-7773E303F68D}"/>
              </a:ext>
            </a:extLst>
          </p:cNvPr>
          <p:cNvSpPr>
            <a:spLocks xmlns:a="http://schemas.openxmlformats.org/drawingml/2006/main" noGrp="1"/>
          </p:cNvSpPr>
          <p:nvPr/>
        </p:nvSpPr>
        <p:spPr>
          <a:xfrm xmlns:a="http://schemas.openxmlformats.org/drawingml/2006/main">
            <a:off x="10058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9" name="">
            <a:extLst xmlns:a="http://schemas.openxmlformats.org/drawingml/2006/main">
              <a:ext uri="{FF2B5EF4-FFF2-40B4-BE49-F238E27FC236}">
                <a16:creationId xmlns:a16="http://schemas.microsoft.com/office/drawing/2014/main" id="{2E4F99E1-E106-4F8A-9E08-4D60BB6E8452}"/>
              </a:ext>
            </a:extLst>
          </p:cNvPr>
          <p:cNvSpPr>
            <a:spLocks xmlns:a="http://schemas.openxmlformats.org/drawingml/2006/main" noGrp="1"/>
          </p:cNvSpPr>
          <p:nvPr/>
        </p:nvSpPr>
        <p:spPr>
          <a:xfrm xmlns:a="http://schemas.openxmlformats.org/drawingml/2006/main">
            <a:off x="3000375" y="5429250"/>
            <a:ext cx="6191250" cy="552450"/>
          </a:xfrm>
          <a:prstGeom xmlns:a="http://schemas.openxmlformats.org/drawingml/2006/main" prst="roundRect">
            <a:avLst>
              <a:gd name="adj" fmla="val 13793"/>
            </a:avLst>
          </a:prstGeom>
          <a:solidFill xmlns:a="http://schemas.openxmlformats.org/drawingml/2006/main">
            <a:srgbClr val="EAF5FC"/>
          </a:solidFill>
          <a:ln xmlns:a="http://schemas.openxmlformats.org/drawingml/2006/main" w="19050">
            <a:solidFill>
              <a:srgbClr val="0078D4"/>
            </a:solidFill>
          </a:ln>
        </p:spPr>
      </p:sp>
      <p:sp>
        <p:nvSpPr>
          <p:cNvPr id="30" name="">
            <a:extLst xmlns:a="http://schemas.openxmlformats.org/drawingml/2006/main">
              <a:ext uri="{FF2B5EF4-FFF2-40B4-BE49-F238E27FC236}">
                <a16:creationId xmlns:a16="http://schemas.microsoft.com/office/drawing/2014/main" id="{56C18C63-8237-4C01-8F6A-C17E7A2D4EC2}"/>
              </a:ext>
            </a:extLst>
          </p:cNvPr>
          <p:cNvSpPr>
            <a:spLocks xmlns:a="http://schemas.openxmlformats.org/drawingml/2006/main" noGrp="1"/>
          </p:cNvSpPr>
          <p:nvPr/>
        </p:nvSpPr>
        <p:spPr>
          <a:xfrm xmlns:a="http://schemas.openxmlformats.org/drawingml/2006/main">
            <a:off x="3219450" y="5572125"/>
            <a:ext cx="576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0078D4"/>
                </a:solidFill>
                <a:latin typeface="Arial"/>
                <a:ea typeface="Arial"/>
                <a:cs typeface="Arial"/>
              </a:defRPr>
            </a:pPr>
            <a:r>
              <a:rPr sz="1350" b="1">
                <a:solidFill>
                  <a:srgbClr val="0078D4"/>
                </a:solidFill>
                <a:latin typeface="Arial"/>
                <a:ea typeface="Arial"/>
                <a:cs typeface="Arial"/>
              </a:rPr>
              <a:t>If the VM deployment runs long, inspect the prepared VM and continue</a:t>
            </a:r>
          </a:p>
        </p:txBody>
      </p:sp>
    </p:spTree>
    <p:extLst>
      <p:ext uri="{BB962C8B-B14F-4D97-AF65-F5344CB8AC3E}">
        <p14:creationId xmlns:p14="http://schemas.microsoft.com/office/powerpoint/2010/main" val="2830613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FE09111-EE73-4C4E-BDC3-6137BFB17BA0}"/>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environment you will build</a:t>
            </a:r>
          </a:p>
        </p:txBody>
      </p:sp>
      <p:sp>
        <p:nvSpPr>
          <p:cNvPr id="2" name="">
            <a:extLst xmlns:a="http://schemas.openxmlformats.org/drawingml/2006/main">
              <a:ext uri="{FF2B5EF4-FFF2-40B4-BE49-F238E27FC236}">
                <a16:creationId xmlns:a16="http://schemas.microsoft.com/office/drawing/2014/main" id="{E5BBAEA6-328B-4636-A1AD-9FA6A2223D59}"/>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88E566-76D6-4199-B9EC-3D9818D38D7B}"/>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All lab resources live inside one Resource Group</a:t>
            </a:r>
          </a:p>
        </p:txBody>
      </p:sp>
      <p:sp>
        <p:nvSpPr>
          <p:cNvPr id="4" name="">
            <a:extLst xmlns:a="http://schemas.openxmlformats.org/drawingml/2006/main">
              <a:ext uri="{FF2B5EF4-FFF2-40B4-BE49-F238E27FC236}">
                <a16:creationId xmlns:a16="http://schemas.microsoft.com/office/drawing/2014/main" id="{AA9C45E4-E8B1-44A8-9106-A5C03C951900}"/>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16</a:t>
            </a:r>
          </a:p>
        </p:txBody>
      </p:sp>
      <p:sp>
        <p:nvSpPr>
          <p:cNvPr id="5" name="">
            <a:extLst xmlns:a="http://schemas.openxmlformats.org/drawingml/2006/main">
              <a:ext uri="{FF2B5EF4-FFF2-40B4-BE49-F238E27FC236}">
                <a16:creationId xmlns:a16="http://schemas.microsoft.com/office/drawing/2014/main" id="{924AA024-180E-4B9F-B942-353D96726356}"/>
              </a:ext>
            </a:extLst>
          </p:cNvPr>
          <p:cNvSpPr>
            <a:spLocks xmlns:a="http://schemas.openxmlformats.org/drawingml/2006/main" noGrp="1"/>
          </p:cNvSpPr>
          <p:nvPr/>
        </p:nvSpPr>
        <p:spPr>
          <a:xfrm xmlns:a="http://schemas.openxmlformats.org/drawingml/2006/main">
            <a:off x="523875" y="1352550"/>
            <a:ext cx="11144250" cy="4333875"/>
          </a:xfrm>
          <a:prstGeom xmlns:a="http://schemas.openxmlformats.org/drawingml/2006/main" prst="roundRect">
            <a:avLst>
              <a:gd name="adj" fmla="val 1758"/>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7E71AC7A-F48D-402F-8E4D-055B679CBA8A}"/>
              </a:ext>
            </a:extLst>
          </p:cNvPr>
          <p:cNvSpPr>
            <a:spLocks xmlns:a="http://schemas.openxmlformats.org/drawingml/2006/main" noGrp="1"/>
          </p:cNvSpPr>
          <p:nvPr/>
        </p:nvSpPr>
        <p:spPr>
          <a:xfrm xmlns:a="http://schemas.openxmlformats.org/drawingml/2006/main">
            <a:off x="781050" y="15240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l">
              <a:defRPr sz="1725" b="1">
                <a:solidFill>
                  <a:srgbClr val="0078D4"/>
                </a:solidFill>
                <a:latin typeface="Arial"/>
                <a:ea typeface="Arial"/>
                <a:cs typeface="Arial"/>
              </a:defRPr>
            </a:pPr>
            <a:r>
              <a:rPr sz="1725"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4D345FFA-FFC0-4539-AB72-D8686CEC3956}"/>
              </a:ext>
            </a:extLst>
          </p:cNvPr>
          <p:cNvSpPr>
            <a:spLocks xmlns:a="http://schemas.openxmlformats.org/drawingml/2006/main" noGrp="1"/>
          </p:cNvSpPr>
          <p:nvPr/>
        </p:nvSpPr>
        <p:spPr>
          <a:xfrm xmlns:a="http://schemas.openxmlformats.org/drawingml/2006/main">
            <a:off x="857250" y="2190750"/>
            <a:ext cx="50482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6BB20FC4-741B-45F5-AE34-DD3BCD5F10B1}"/>
              </a:ext>
            </a:extLst>
          </p:cNvPr>
          <p:cNvSpPr>
            <a:spLocks xmlns:a="http://schemas.openxmlformats.org/drawingml/2006/main" noGrp="1"/>
          </p:cNvSpPr>
          <p:nvPr/>
        </p:nvSpPr>
        <p:spPr>
          <a:xfrm xmlns:a="http://schemas.openxmlformats.org/drawingml/2006/main">
            <a:off x="1143000" y="24003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l">
              <a:defRPr sz="1575" b="1">
                <a:solidFill>
                  <a:srgbClr val="00A4EF"/>
                </a:solidFill>
                <a:latin typeface="Arial"/>
                <a:ea typeface="Arial"/>
                <a:cs typeface="Arial"/>
              </a:defRPr>
            </a:pPr>
            <a:r>
              <a:rPr sz="1575" b="1">
                <a:solidFill>
                  <a:srgbClr val="00A4EF"/>
                </a:solidFill>
                <a:latin typeface="Arial"/>
                <a:ea typeface="Arial"/>
                <a:cs typeface="Arial"/>
              </a:rPr>
              <a:t>Compute and network</a:t>
            </a:r>
          </a:p>
        </p:txBody>
      </p:sp>
      <p:sp>
        <p:nvSpPr>
          <p:cNvPr id="9" name="">
            <a:extLst xmlns:a="http://schemas.openxmlformats.org/drawingml/2006/main">
              <a:ext uri="{FF2B5EF4-FFF2-40B4-BE49-F238E27FC236}">
                <a16:creationId xmlns:a16="http://schemas.microsoft.com/office/drawing/2014/main" id="{B861739C-75C1-4BDE-AADB-BA9A569EF0ED}"/>
              </a:ext>
            </a:extLst>
          </p:cNvPr>
          <p:cNvSpPr>
            <a:spLocks xmlns:a="http://schemas.openxmlformats.org/drawingml/2006/main" noGrp="1"/>
          </p:cNvSpPr>
          <p:nvPr/>
        </p:nvSpPr>
        <p:spPr>
          <a:xfrm xmlns:a="http://schemas.openxmlformats.org/drawingml/2006/main">
            <a:off x="1238250" y="3000375"/>
            <a:ext cx="4000500"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B9D7EA"/>
            </a:solidFill>
          </a:ln>
        </p:spPr>
      </p:sp>
      <p:sp>
        <p:nvSpPr>
          <p:cNvPr id="10" name="">
            <a:extLst xmlns:a="http://schemas.openxmlformats.org/drawingml/2006/main">
              <a:ext uri="{FF2B5EF4-FFF2-40B4-BE49-F238E27FC236}">
                <a16:creationId xmlns:a16="http://schemas.microsoft.com/office/drawing/2014/main" id="{665E17EB-E9CF-497C-A89B-8D7DC20DA1A2}"/>
              </a:ext>
            </a:extLst>
          </p:cNvPr>
          <p:cNvSpPr>
            <a:spLocks xmlns:a="http://schemas.openxmlformats.org/drawingml/2006/main" noGrp="1"/>
          </p:cNvSpPr>
          <p:nvPr/>
        </p:nvSpPr>
        <p:spPr>
          <a:xfrm xmlns:a="http://schemas.openxmlformats.org/drawingml/2006/main">
            <a:off x="1524000" y="31432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46"/>
          </a:bodyPr>
          <a:lstStyle xmlns:a="http://schemas.openxmlformats.org/drawingml/2006/main"/>
          <a:p xmlns:a="http://schemas.openxmlformats.org/drawingml/2006/main">
            <a:pPr algn="l">
              <a:defRPr sz="1425" b="1">
                <a:solidFill>
                  <a:srgbClr val="0078D4"/>
                </a:solidFill>
                <a:latin typeface="Arial"/>
                <a:ea typeface="Arial"/>
                <a:cs typeface="Arial"/>
              </a:defRPr>
            </a:pPr>
            <a:r>
              <a:rPr sz="1425" b="1">
                <a:solidFill>
                  <a:srgbClr val="0078D4"/>
                </a:solidFill>
                <a:latin typeface="Arial"/>
                <a:ea typeface="Arial"/>
                <a:cs typeface="Arial"/>
              </a:rPr>
              <a:t>vnet-mmaug-demo</a:t>
            </a:r>
          </a:p>
        </p:txBody>
      </p:sp>
      <p:sp>
        <p:nvSpPr>
          <p:cNvPr id="11" name="">
            <a:extLst xmlns:a="http://schemas.openxmlformats.org/drawingml/2006/main">
              <a:ext uri="{FF2B5EF4-FFF2-40B4-BE49-F238E27FC236}">
                <a16:creationId xmlns:a16="http://schemas.microsoft.com/office/drawing/2014/main" id="{FB147026-7EA9-4027-A50B-80FB1E18AE4A}"/>
              </a:ext>
            </a:extLst>
          </p:cNvPr>
          <p:cNvSpPr>
            <a:spLocks xmlns:a="http://schemas.openxmlformats.org/drawingml/2006/main" noGrp="1"/>
          </p:cNvSpPr>
          <p:nvPr/>
        </p:nvSpPr>
        <p:spPr>
          <a:xfrm xmlns:a="http://schemas.openxmlformats.org/drawingml/2006/main">
            <a:off x="1619250" y="3648075"/>
            <a:ext cx="666750" cy="6667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NIC</a:t>
            </a:r>
          </a:p>
        </p:txBody>
      </p:sp>
      <p:sp>
        <p:nvSpPr>
          <p:cNvPr id="12" name="">
            <a:extLst xmlns:a="http://schemas.openxmlformats.org/drawingml/2006/main">
              <a:ext uri="{FF2B5EF4-FFF2-40B4-BE49-F238E27FC236}">
                <a16:creationId xmlns:a16="http://schemas.microsoft.com/office/drawing/2014/main" id="{7DA2E4D4-F719-4B5B-84A3-1C4530645B2E}"/>
              </a:ext>
            </a:extLst>
          </p:cNvPr>
          <p:cNvSpPr>
            <a:spLocks xmlns:a="http://schemas.openxmlformats.org/drawingml/2006/main" noGrp="1"/>
          </p:cNvSpPr>
          <p:nvPr/>
        </p:nvSpPr>
        <p:spPr>
          <a:xfrm xmlns:a="http://schemas.openxmlformats.org/drawingml/2006/main">
            <a:off x="2286000" y="3962400"/>
            <a:ext cx="79057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4E9C42-3143-4371-9CFC-059076EE2B18}"/>
              </a:ext>
            </a:extLst>
          </p:cNvPr>
          <p:cNvSpPr>
            <a:spLocks xmlns:a="http://schemas.openxmlformats.org/drawingml/2006/main" noGrp="1"/>
          </p:cNvSpPr>
          <p:nvPr/>
        </p:nvSpPr>
        <p:spPr>
          <a:xfrm xmlns:a="http://schemas.openxmlformats.org/drawingml/2006/main">
            <a:off x="3076575" y="3619500"/>
            <a:ext cx="762000" cy="7620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VM</a:t>
            </a:r>
          </a:p>
        </p:txBody>
      </p:sp>
      <p:sp>
        <p:nvSpPr>
          <p:cNvPr id="14" name="">
            <a:extLst xmlns:a="http://schemas.openxmlformats.org/drawingml/2006/main">
              <a:ext uri="{FF2B5EF4-FFF2-40B4-BE49-F238E27FC236}">
                <a16:creationId xmlns:a16="http://schemas.microsoft.com/office/drawing/2014/main" id="{FC4CDE56-2E73-4C81-959B-CDC411B06977}"/>
              </a:ext>
            </a:extLst>
          </p:cNvPr>
          <p:cNvSpPr>
            <a:spLocks xmlns:a="http://schemas.openxmlformats.org/drawingml/2006/main" noGrp="1"/>
          </p:cNvSpPr>
          <p:nvPr/>
        </p:nvSpPr>
        <p:spPr>
          <a:xfrm xmlns:a="http://schemas.openxmlformats.org/drawingml/2006/main">
            <a:off x="4171950" y="379095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D83B01"/>
                </a:solidFill>
                <a:latin typeface="Arial"/>
                <a:ea typeface="Arial"/>
                <a:cs typeface="Arial"/>
              </a:defRPr>
            </a:pPr>
            <a:r>
              <a:rPr sz="1350" b="1">
                <a:solidFill>
                  <a:srgbClr val="D83B01"/>
                </a:solidFill>
                <a:latin typeface="Arial"/>
                <a:ea typeface="Arial"/>
                <a:cs typeface="Arial"/>
              </a:rPr>
              <a:t>NSG</a:t>
            </a:r>
          </a:p>
        </p:txBody>
      </p:sp>
      <p:sp>
        <p:nvSpPr>
          <p:cNvPr id="15" name="">
            <a:extLst xmlns:a="http://schemas.openxmlformats.org/drawingml/2006/main">
              <a:ext uri="{FF2B5EF4-FFF2-40B4-BE49-F238E27FC236}">
                <a16:creationId xmlns:a16="http://schemas.microsoft.com/office/drawing/2014/main" id="{81741445-0515-4E1D-BFAD-A17B630CA4A3}"/>
              </a:ext>
            </a:extLst>
          </p:cNvPr>
          <p:cNvSpPr>
            <a:spLocks xmlns:a="http://schemas.openxmlformats.org/drawingml/2006/main" noGrp="1"/>
          </p:cNvSpPr>
          <p:nvPr/>
        </p:nvSpPr>
        <p:spPr>
          <a:xfrm xmlns:a="http://schemas.openxmlformats.org/drawingml/2006/main">
            <a:off x="6477000" y="2190750"/>
            <a:ext cx="2190750" cy="1257300"/>
          </a:xfrm>
          <a:prstGeom xmlns:a="http://schemas.openxmlformats.org/drawingml/2006/main" prst="roundRect">
            <a:avLst>
              <a:gd name="adj" fmla="val 6061"/>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431B4950-C09D-4DA5-8F46-2245CD8A97FB}"/>
              </a:ext>
            </a:extLst>
          </p:cNvPr>
          <p:cNvSpPr>
            <a:spLocks xmlns:a="http://schemas.openxmlformats.org/drawingml/2006/main" noGrp="1"/>
          </p:cNvSpPr>
          <p:nvPr/>
        </p:nvSpPr>
        <p:spPr>
          <a:xfrm xmlns:a="http://schemas.openxmlformats.org/drawingml/2006/main">
            <a:off x="6762750"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07C10"/>
                </a:solidFill>
                <a:latin typeface="Arial"/>
                <a:ea typeface="Arial"/>
                <a:cs typeface="Arial"/>
              </a:defRPr>
            </a:pPr>
            <a:r>
              <a:rPr sz="1500" b="1">
                <a:solidFill>
                  <a:srgbClr val="107C10"/>
                </a:solidFill>
                <a:latin typeface="Arial"/>
                <a:ea typeface="Arial"/>
                <a:cs typeface="Arial"/>
              </a:rPr>
              <a:t>Storage</a:t>
            </a:r>
          </a:p>
        </p:txBody>
      </p:sp>
      <p:sp>
        <p:nvSpPr>
          <p:cNvPr id="17" name="">
            <a:extLst xmlns:a="http://schemas.openxmlformats.org/drawingml/2006/main">
              <a:ext uri="{FF2B5EF4-FFF2-40B4-BE49-F238E27FC236}">
                <a16:creationId xmlns:a16="http://schemas.microsoft.com/office/drawing/2014/main" id="{314ED929-D53C-4E3E-B163-F3FD08A2D766}"/>
              </a:ext>
            </a:extLst>
          </p:cNvPr>
          <p:cNvSpPr>
            <a:spLocks xmlns:a="http://schemas.openxmlformats.org/drawingml/2006/main" noGrp="1"/>
          </p:cNvSpPr>
          <p:nvPr/>
        </p:nvSpPr>
        <p:spPr>
          <a:xfrm xmlns:a="http://schemas.openxmlformats.org/drawingml/2006/main">
            <a:off x="6762750"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Private Blob</a:t>
            </a:r>
          </a:p>
        </p:txBody>
      </p:sp>
      <p:sp>
        <p:nvSpPr>
          <p:cNvPr id="18" name="">
            <a:extLst xmlns:a="http://schemas.openxmlformats.org/drawingml/2006/main">
              <a:ext uri="{FF2B5EF4-FFF2-40B4-BE49-F238E27FC236}">
                <a16:creationId xmlns:a16="http://schemas.microsoft.com/office/drawing/2014/main" id="{DD8E0659-0859-4808-838E-59CDBC17B97D}"/>
              </a:ext>
            </a:extLst>
          </p:cNvPr>
          <p:cNvSpPr>
            <a:spLocks xmlns:a="http://schemas.openxmlformats.org/drawingml/2006/main" noGrp="1"/>
          </p:cNvSpPr>
          <p:nvPr/>
        </p:nvSpPr>
        <p:spPr>
          <a:xfrm xmlns:a="http://schemas.openxmlformats.org/drawingml/2006/main">
            <a:off x="9096375" y="2190750"/>
            <a:ext cx="2190750" cy="1257300"/>
          </a:xfrm>
          <a:prstGeom xmlns:a="http://schemas.openxmlformats.org/drawingml/2006/main" prst="roundRect">
            <a:avLst>
              <a:gd name="adj" fmla="val 6061"/>
            </a:avLst>
          </a:prstGeom>
          <a:solidFill xmlns:a="http://schemas.openxmlformats.org/drawingml/2006/main">
            <a:srgbClr val="FFF4E8"/>
          </a:solidFill>
          <a:ln xmlns:a="http://schemas.openxmlformats.org/drawingml/2006/main" w="19050">
            <a:solidFill>
              <a:srgbClr val="FFB900"/>
            </a:solidFill>
          </a:ln>
        </p:spPr>
      </p:sp>
      <p:sp>
        <p:nvSpPr>
          <p:cNvPr id="19" name="">
            <a:extLst xmlns:a="http://schemas.openxmlformats.org/drawingml/2006/main">
              <a:ext uri="{FF2B5EF4-FFF2-40B4-BE49-F238E27FC236}">
                <a16:creationId xmlns:a16="http://schemas.microsoft.com/office/drawing/2014/main" id="{2269D79A-705A-42C4-8875-3A14FD217603}"/>
              </a:ext>
            </a:extLst>
          </p:cNvPr>
          <p:cNvSpPr>
            <a:spLocks xmlns:a="http://schemas.openxmlformats.org/drawingml/2006/main" noGrp="1"/>
          </p:cNvSpPr>
          <p:nvPr/>
        </p:nvSpPr>
        <p:spPr>
          <a:xfrm xmlns:a="http://schemas.openxmlformats.org/drawingml/2006/main">
            <a:off x="9382125"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App Service</a:t>
            </a:r>
          </a:p>
        </p:txBody>
      </p:sp>
      <p:sp>
        <p:nvSpPr>
          <p:cNvPr id="20" name="">
            <a:extLst xmlns:a="http://schemas.openxmlformats.org/drawingml/2006/main">
              <a:ext uri="{FF2B5EF4-FFF2-40B4-BE49-F238E27FC236}">
                <a16:creationId xmlns:a16="http://schemas.microsoft.com/office/drawing/2014/main" id="{A797ED27-C50F-4200-BAAE-BA1A0642EB17}"/>
              </a:ext>
            </a:extLst>
          </p:cNvPr>
          <p:cNvSpPr>
            <a:spLocks xmlns:a="http://schemas.openxmlformats.org/drawingml/2006/main" noGrp="1"/>
          </p:cNvSpPr>
          <p:nvPr/>
        </p:nvSpPr>
        <p:spPr>
          <a:xfrm xmlns:a="http://schemas.openxmlformats.org/drawingml/2006/main">
            <a:off x="9382125"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Static web page</a:t>
            </a:r>
          </a:p>
        </p:txBody>
      </p:sp>
      <p:sp>
        <p:nvSpPr>
          <p:cNvPr id="21" name="">
            <a:extLst xmlns:a="http://schemas.openxmlformats.org/drawingml/2006/main">
              <a:ext uri="{FF2B5EF4-FFF2-40B4-BE49-F238E27FC236}">
                <a16:creationId xmlns:a16="http://schemas.microsoft.com/office/drawing/2014/main" id="{46FBA76E-9E83-43BE-9E65-22B872D90EA8}"/>
              </a:ext>
            </a:extLst>
          </p:cNvPr>
          <p:cNvSpPr>
            <a:spLocks xmlns:a="http://schemas.openxmlformats.org/drawingml/2006/main" noGrp="1"/>
          </p:cNvSpPr>
          <p:nvPr/>
        </p:nvSpPr>
        <p:spPr>
          <a:xfrm xmlns:a="http://schemas.openxmlformats.org/drawingml/2006/main">
            <a:off x="6477000" y="3905250"/>
            <a:ext cx="48101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B9D7EA"/>
            </a:solidFill>
          </a:ln>
        </p:spPr>
      </p:sp>
      <p:sp>
        <p:nvSpPr>
          <p:cNvPr id="22" name="">
            <a:extLst xmlns:a="http://schemas.openxmlformats.org/drawingml/2006/main">
              <a:ext uri="{FF2B5EF4-FFF2-40B4-BE49-F238E27FC236}">
                <a16:creationId xmlns:a16="http://schemas.microsoft.com/office/drawing/2014/main" id="{40B081AB-DE9D-4044-A5B0-B0BD132438EA}"/>
              </a:ext>
            </a:extLst>
          </p:cNvPr>
          <p:cNvSpPr>
            <a:spLocks xmlns:a="http://schemas.openxmlformats.org/drawingml/2006/main" noGrp="1"/>
          </p:cNvSpPr>
          <p:nvPr/>
        </p:nvSpPr>
        <p:spPr>
          <a:xfrm xmlns:a="http://schemas.openxmlformats.org/drawingml/2006/main">
            <a:off x="6810375" y="4095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Activity Log</a:t>
            </a:r>
          </a:p>
        </p:txBody>
      </p:sp>
      <p:sp>
        <p:nvSpPr>
          <p:cNvPr id="23" name="">
            <a:extLst xmlns:a="http://schemas.openxmlformats.org/drawingml/2006/main">
              <a:ext uri="{FF2B5EF4-FFF2-40B4-BE49-F238E27FC236}">
                <a16:creationId xmlns:a16="http://schemas.microsoft.com/office/drawing/2014/main" id="{6C6D1493-B97C-4E3E-A58F-EB9C471A1FBB}"/>
              </a:ext>
            </a:extLst>
          </p:cNvPr>
          <p:cNvSpPr>
            <a:spLocks xmlns:a="http://schemas.openxmlformats.org/drawingml/2006/main" noGrp="1"/>
          </p:cNvSpPr>
          <p:nvPr/>
        </p:nvSpPr>
        <p:spPr>
          <a:xfrm xmlns:a="http://schemas.openxmlformats.org/drawingml/2006/main">
            <a:off x="8572500" y="40957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314"/>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Creation events and failures</a:t>
            </a:r>
          </a:p>
        </p:txBody>
      </p:sp>
    </p:spTree>
    <p:extLst>
      <p:ext uri="{BB962C8B-B14F-4D97-AF65-F5344CB8AC3E}">
        <p14:creationId xmlns:p14="http://schemas.microsoft.com/office/powerpoint/2010/main" val="11228078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43A4816-03CB-4F77-8CA0-0EB4D5E2AA88}"/>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Validation and safe troubleshooting</a:t>
            </a:r>
          </a:p>
        </p:txBody>
      </p:sp>
      <p:sp>
        <p:nvSpPr>
          <p:cNvPr id="2" name="">
            <a:extLst xmlns:a="http://schemas.openxmlformats.org/drawingml/2006/main">
              <a:ext uri="{FF2B5EF4-FFF2-40B4-BE49-F238E27FC236}">
                <a16:creationId xmlns:a16="http://schemas.microsoft.com/office/drawing/2014/main" id="{CD402193-C827-4A6E-AA44-05F3668B1B6C}"/>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FE9C79-3BA5-463A-82DE-5C8FEAB8A2FE}"/>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Read the first specific error before changing settings</a:t>
            </a:r>
          </a:p>
        </p:txBody>
      </p:sp>
      <p:sp>
        <p:nvSpPr>
          <p:cNvPr id="4" name="">
            <a:extLst xmlns:a="http://schemas.openxmlformats.org/drawingml/2006/main">
              <a:ext uri="{FF2B5EF4-FFF2-40B4-BE49-F238E27FC236}">
                <a16:creationId xmlns:a16="http://schemas.microsoft.com/office/drawing/2014/main" id="{FCC0D0F7-BEAF-4FE6-95CC-7E65D1D1D69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17</a:t>
            </a:r>
          </a:p>
        </p:txBody>
      </p:sp>
      <p:sp>
        <p:nvSpPr>
          <p:cNvPr id="5" name="">
            <a:extLst xmlns:a="http://schemas.openxmlformats.org/drawingml/2006/main">
              <a:ext uri="{FF2B5EF4-FFF2-40B4-BE49-F238E27FC236}">
                <a16:creationId xmlns:a16="http://schemas.microsoft.com/office/drawing/2014/main" id="{77E5BFAD-C83F-4430-97E3-A40A8E327182}"/>
              </a:ext>
            </a:extLst>
          </p:cNvPr>
          <p:cNvSpPr>
            <a:spLocks xmlns:a="http://schemas.openxmlformats.org/drawingml/2006/main" noGrp="1"/>
          </p:cNvSpPr>
          <p:nvPr/>
        </p:nvSpPr>
        <p:spPr>
          <a:xfrm xmlns:a="http://schemas.openxmlformats.org/drawingml/2006/main">
            <a:off x="781050" y="14287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C927AA05-CC3A-46DA-B905-F36D48469E09}"/>
              </a:ext>
            </a:extLst>
          </p:cNvPr>
          <p:cNvSpPr>
            <a:spLocks xmlns:a="http://schemas.openxmlformats.org/drawingml/2006/main" noGrp="1"/>
          </p:cNvSpPr>
          <p:nvPr/>
        </p:nvSpPr>
        <p:spPr>
          <a:xfrm xmlns:a="http://schemas.openxmlformats.org/drawingml/2006/main">
            <a:off x="1476375" y="14573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Subscription</a:t>
            </a:r>
          </a:p>
        </p:txBody>
      </p:sp>
      <p:sp>
        <p:nvSpPr>
          <p:cNvPr id="7" name="">
            <a:extLst xmlns:a="http://schemas.openxmlformats.org/drawingml/2006/main">
              <a:ext uri="{FF2B5EF4-FFF2-40B4-BE49-F238E27FC236}">
                <a16:creationId xmlns:a16="http://schemas.microsoft.com/office/drawing/2014/main" id="{BC3011D5-8A79-40FB-90B4-E139CD9C9CFC}"/>
              </a:ext>
            </a:extLst>
          </p:cNvPr>
          <p:cNvSpPr>
            <a:spLocks xmlns:a="http://schemas.openxmlformats.org/drawingml/2006/main" noGrp="1"/>
          </p:cNvSpPr>
          <p:nvPr/>
        </p:nvSpPr>
        <p:spPr>
          <a:xfrm xmlns:a="http://schemas.openxmlformats.org/drawingml/2006/main">
            <a:off x="4095750" y="14573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Correct bootcamp context</a:t>
            </a:r>
          </a:p>
        </p:txBody>
      </p:sp>
      <p:sp>
        <p:nvSpPr>
          <p:cNvPr id="8" name="">
            <a:extLst xmlns:a="http://schemas.openxmlformats.org/drawingml/2006/main">
              <a:ext uri="{FF2B5EF4-FFF2-40B4-BE49-F238E27FC236}">
                <a16:creationId xmlns:a16="http://schemas.microsoft.com/office/drawing/2014/main" id="{D1ADD9E8-2252-4CFA-8DA9-313347840D38}"/>
              </a:ext>
            </a:extLst>
          </p:cNvPr>
          <p:cNvSpPr>
            <a:spLocks xmlns:a="http://schemas.openxmlformats.org/drawingml/2006/main" noGrp="1"/>
          </p:cNvSpPr>
          <p:nvPr/>
        </p:nvSpPr>
        <p:spPr>
          <a:xfrm xmlns:a="http://schemas.openxmlformats.org/drawingml/2006/main">
            <a:off x="781050" y="22098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34992F2-681B-4278-A65F-A8FB5D4E423E}"/>
              </a:ext>
            </a:extLst>
          </p:cNvPr>
          <p:cNvSpPr>
            <a:spLocks xmlns:a="http://schemas.openxmlformats.org/drawingml/2006/main" noGrp="1"/>
          </p:cNvSpPr>
          <p:nvPr/>
        </p:nvSpPr>
        <p:spPr>
          <a:xfrm xmlns:a="http://schemas.openxmlformats.org/drawingml/2006/main">
            <a:off x="1476375" y="22383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B750F4A0-E030-42AF-9CBD-1698E542FDC9}"/>
              </a:ext>
            </a:extLst>
          </p:cNvPr>
          <p:cNvSpPr>
            <a:spLocks xmlns:a="http://schemas.openxmlformats.org/drawingml/2006/main" noGrp="1"/>
          </p:cNvSpPr>
          <p:nvPr/>
        </p:nvSpPr>
        <p:spPr>
          <a:xfrm xmlns:a="http://schemas.openxmlformats.org/drawingml/2006/main">
            <a:off x="4095750" y="22383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Exact lab name</a:t>
            </a:r>
          </a:p>
        </p:txBody>
      </p:sp>
      <p:sp>
        <p:nvSpPr>
          <p:cNvPr id="11" name="">
            <a:extLst xmlns:a="http://schemas.openxmlformats.org/drawingml/2006/main">
              <a:ext uri="{FF2B5EF4-FFF2-40B4-BE49-F238E27FC236}">
                <a16:creationId xmlns:a16="http://schemas.microsoft.com/office/drawing/2014/main" id="{F3F8F85E-2B6B-4766-AD96-E9B87E7973B1}"/>
              </a:ext>
            </a:extLst>
          </p:cNvPr>
          <p:cNvSpPr>
            <a:spLocks xmlns:a="http://schemas.openxmlformats.org/drawingml/2006/main" noGrp="1"/>
          </p:cNvSpPr>
          <p:nvPr/>
        </p:nvSpPr>
        <p:spPr>
          <a:xfrm xmlns:a="http://schemas.openxmlformats.org/drawingml/2006/main">
            <a:off x="781050" y="29908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9B6DBA1-E105-4101-9887-C6D245160E00}"/>
              </a:ext>
            </a:extLst>
          </p:cNvPr>
          <p:cNvSpPr>
            <a:spLocks xmlns:a="http://schemas.openxmlformats.org/drawingml/2006/main" noGrp="1"/>
          </p:cNvSpPr>
          <p:nvPr/>
        </p:nvSpPr>
        <p:spPr>
          <a:xfrm xmlns:a="http://schemas.openxmlformats.org/drawingml/2006/main">
            <a:off x="1476375" y="30194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Deployment</a:t>
            </a:r>
          </a:p>
        </p:txBody>
      </p:sp>
      <p:sp>
        <p:nvSpPr>
          <p:cNvPr id="13" name="">
            <a:extLst xmlns:a="http://schemas.openxmlformats.org/drawingml/2006/main">
              <a:ext uri="{FF2B5EF4-FFF2-40B4-BE49-F238E27FC236}">
                <a16:creationId xmlns:a16="http://schemas.microsoft.com/office/drawing/2014/main" id="{60E153E9-DAF0-4808-9722-9FA7980501CE}"/>
              </a:ext>
            </a:extLst>
          </p:cNvPr>
          <p:cNvSpPr>
            <a:spLocks xmlns:a="http://schemas.openxmlformats.org/drawingml/2006/main" noGrp="1"/>
          </p:cNvSpPr>
          <p:nvPr/>
        </p:nvSpPr>
        <p:spPr>
          <a:xfrm xmlns:a="http://schemas.openxmlformats.org/drawingml/2006/main">
            <a:off x="4095750" y="30194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Provisioning succeeded</a:t>
            </a:r>
          </a:p>
        </p:txBody>
      </p:sp>
      <p:sp>
        <p:nvSpPr>
          <p:cNvPr id="14" name="">
            <a:extLst xmlns:a="http://schemas.openxmlformats.org/drawingml/2006/main">
              <a:ext uri="{FF2B5EF4-FFF2-40B4-BE49-F238E27FC236}">
                <a16:creationId xmlns:a16="http://schemas.microsoft.com/office/drawing/2014/main" id="{E790ED3C-2700-4696-B51B-9CAF33368ECC}"/>
              </a:ext>
            </a:extLst>
          </p:cNvPr>
          <p:cNvSpPr>
            <a:spLocks xmlns:a="http://schemas.openxmlformats.org/drawingml/2006/main" noGrp="1"/>
          </p:cNvSpPr>
          <p:nvPr/>
        </p:nvSpPr>
        <p:spPr>
          <a:xfrm xmlns:a="http://schemas.openxmlformats.org/drawingml/2006/main">
            <a:off x="781050" y="37719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CE48D228-85E6-4766-B7FE-9DF765BB64F3}"/>
              </a:ext>
            </a:extLst>
          </p:cNvPr>
          <p:cNvSpPr>
            <a:spLocks xmlns:a="http://schemas.openxmlformats.org/drawingml/2006/main" noGrp="1"/>
          </p:cNvSpPr>
          <p:nvPr/>
        </p:nvSpPr>
        <p:spPr>
          <a:xfrm xmlns:a="http://schemas.openxmlformats.org/drawingml/2006/main">
            <a:off x="1476375" y="38004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Security</a:t>
            </a:r>
          </a:p>
        </p:txBody>
      </p:sp>
      <p:sp>
        <p:nvSpPr>
          <p:cNvPr id="16" name="">
            <a:extLst xmlns:a="http://schemas.openxmlformats.org/drawingml/2006/main">
              <a:ext uri="{FF2B5EF4-FFF2-40B4-BE49-F238E27FC236}">
                <a16:creationId xmlns:a16="http://schemas.microsoft.com/office/drawing/2014/main" id="{3C1E87FC-C56C-4383-9B82-F8BC402E8C19}"/>
              </a:ext>
            </a:extLst>
          </p:cNvPr>
          <p:cNvSpPr>
            <a:spLocks xmlns:a="http://schemas.openxmlformats.org/drawingml/2006/main" noGrp="1"/>
          </p:cNvSpPr>
          <p:nvPr/>
        </p:nvSpPr>
        <p:spPr>
          <a:xfrm xmlns:a="http://schemas.openxmlformats.org/drawingml/2006/main">
            <a:off x="4095750" y="38004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No anonymous Blob or open RDP</a:t>
            </a:r>
          </a:p>
        </p:txBody>
      </p:sp>
      <p:sp>
        <p:nvSpPr>
          <p:cNvPr id="17" name="">
            <a:extLst xmlns:a="http://schemas.openxmlformats.org/drawingml/2006/main">
              <a:ext uri="{FF2B5EF4-FFF2-40B4-BE49-F238E27FC236}">
                <a16:creationId xmlns:a16="http://schemas.microsoft.com/office/drawing/2014/main" id="{04AADDC8-261B-4FF8-BA88-D86B701A8A5B}"/>
              </a:ext>
            </a:extLst>
          </p:cNvPr>
          <p:cNvSpPr>
            <a:spLocks xmlns:a="http://schemas.openxmlformats.org/drawingml/2006/main" noGrp="1"/>
          </p:cNvSpPr>
          <p:nvPr/>
        </p:nvSpPr>
        <p:spPr>
          <a:xfrm xmlns:a="http://schemas.openxmlformats.org/drawingml/2006/main">
            <a:off x="781050" y="45529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596CAD5-3B69-4451-82F2-9C6470948A79}"/>
              </a:ext>
            </a:extLst>
          </p:cNvPr>
          <p:cNvSpPr>
            <a:spLocks xmlns:a="http://schemas.openxmlformats.org/drawingml/2006/main" noGrp="1"/>
          </p:cNvSpPr>
          <p:nvPr/>
        </p:nvSpPr>
        <p:spPr>
          <a:xfrm xmlns:a="http://schemas.openxmlformats.org/drawingml/2006/main">
            <a:off x="1476375" y="45815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963D0795-C455-4D13-A383-246C41CFF75D}"/>
              </a:ext>
            </a:extLst>
          </p:cNvPr>
          <p:cNvSpPr>
            <a:spLocks xmlns:a="http://schemas.openxmlformats.org/drawingml/2006/main" noGrp="1"/>
          </p:cNvSpPr>
          <p:nvPr/>
        </p:nvSpPr>
        <p:spPr>
          <a:xfrm xmlns:a="http://schemas.openxmlformats.org/drawingml/2006/main">
            <a:off x="4095750" y="45815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HTTPS page loads</a:t>
            </a:r>
          </a:p>
        </p:txBody>
      </p:sp>
      <p:sp>
        <p:nvSpPr>
          <p:cNvPr id="20" name="">
            <a:extLst xmlns:a="http://schemas.openxmlformats.org/drawingml/2006/main">
              <a:ext uri="{FF2B5EF4-FFF2-40B4-BE49-F238E27FC236}">
                <a16:creationId xmlns:a16="http://schemas.microsoft.com/office/drawing/2014/main" id="{FBA74D6C-006C-4848-A812-EE2E24D26DE6}"/>
              </a:ext>
            </a:extLst>
          </p:cNvPr>
          <p:cNvSpPr>
            <a:spLocks xmlns:a="http://schemas.openxmlformats.org/drawingml/2006/main" noGrp="1"/>
          </p:cNvSpPr>
          <p:nvPr/>
        </p:nvSpPr>
        <p:spPr>
          <a:xfrm xmlns:a="http://schemas.openxmlformats.org/drawingml/2006/main">
            <a:off x="8239125" y="1619250"/>
            <a:ext cx="3143250" cy="3238500"/>
          </a:xfrm>
          <a:prstGeom xmlns:a="http://schemas.openxmlformats.org/drawingml/2006/main" prst="roundRect">
            <a:avLst>
              <a:gd name="adj" fmla="val 2424"/>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1CFE8152-8C85-4492-B317-ADCB643AE531}"/>
              </a:ext>
            </a:extLst>
          </p:cNvPr>
          <p:cNvSpPr>
            <a:spLocks xmlns:a="http://schemas.openxmlformats.org/drawingml/2006/main" noGrp="1"/>
          </p:cNvSpPr>
          <p:nvPr/>
        </p:nvSpPr>
        <p:spPr>
          <a:xfrm xmlns:a="http://schemas.openxmlformats.org/drawingml/2006/main">
            <a:off x="8572500" y="18859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Common blockers</a:t>
            </a:r>
          </a:p>
        </p:txBody>
      </p:sp>
      <p:sp>
        <p:nvSpPr>
          <p:cNvPr id="22" name="">
            <a:extLst xmlns:a="http://schemas.openxmlformats.org/drawingml/2006/main">
              <a:ext uri="{FF2B5EF4-FFF2-40B4-BE49-F238E27FC236}">
                <a16:creationId xmlns:a16="http://schemas.microsoft.com/office/drawing/2014/main" id="{272AAA02-CE84-435A-8536-760EF98903F1}"/>
              </a:ext>
            </a:extLst>
          </p:cNvPr>
          <p:cNvSpPr>
            <a:spLocks xmlns:a="http://schemas.openxmlformats.org/drawingml/2006/main" noGrp="1"/>
          </p:cNvSpPr>
          <p:nvPr/>
        </p:nvSpPr>
        <p:spPr>
          <a:xfrm xmlns:a="http://schemas.openxmlformats.org/drawingml/2006/main">
            <a:off x="8648700" y="2524125"/>
            <a:ext cx="2333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67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Permission denied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Region or size unavailable</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Name already used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Policy blocked the setting</a:t>
            </a:r>
          </a:p>
        </p:txBody>
      </p:sp>
      <p:sp>
        <p:nvSpPr>
          <p:cNvPr id="23" name="">
            <a:extLst xmlns:a="http://schemas.openxmlformats.org/drawingml/2006/main">
              <a:ext uri="{FF2B5EF4-FFF2-40B4-BE49-F238E27FC236}">
                <a16:creationId xmlns:a16="http://schemas.microsoft.com/office/drawing/2014/main" id="{2DEF37C5-BF09-4C65-AF3B-2BE56A1F57BB}"/>
              </a:ext>
            </a:extLst>
          </p:cNvPr>
          <p:cNvSpPr>
            <a:spLocks xmlns:a="http://schemas.openxmlformats.org/drawingml/2006/main" noGrp="1"/>
          </p:cNvSpPr>
          <p:nvPr/>
        </p:nvSpPr>
        <p:spPr>
          <a:xfrm xmlns:a="http://schemas.openxmlformats.org/drawingml/2006/main">
            <a:off x="7762875" y="521970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D83B01"/>
                </a:solidFill>
                <a:latin typeface="Arial"/>
                <a:ea typeface="Arial"/>
                <a:cs typeface="Arial"/>
              </a:defRPr>
            </a:pPr>
            <a:r>
              <a:rPr sz="1350" b="1">
                <a:solidFill>
                  <a:srgbClr val="D83B01"/>
                </a:solidFill>
                <a:latin typeface="Arial"/>
                <a:ea typeface="Arial"/>
                <a:cs typeface="Arial"/>
              </a:rPr>
              <a:t>Ask the instructor before changing scope, role, region, or security rules.</a:t>
            </a:r>
          </a:p>
        </p:txBody>
      </p:sp>
    </p:spTree>
    <p:extLst>
      <p:ext uri="{BB962C8B-B14F-4D97-AF65-F5344CB8AC3E}">
        <p14:creationId xmlns:p14="http://schemas.microsoft.com/office/powerpoint/2010/main" val="14385527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F8DBD4A-14D7-4F45-B851-92100ACF6D1C}"/>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Cleanup completes the lab</a:t>
            </a:r>
          </a:p>
        </p:txBody>
      </p:sp>
      <p:sp>
        <p:nvSpPr>
          <p:cNvPr id="2" name="">
            <a:extLst xmlns:a="http://schemas.openxmlformats.org/drawingml/2006/main">
              <a:ext uri="{FF2B5EF4-FFF2-40B4-BE49-F238E27FC236}">
                <a16:creationId xmlns:a16="http://schemas.microsoft.com/office/drawing/2014/main" id="{D34BD8DD-7036-421F-88D8-94C0E81B0ED6}"/>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842082-5FAE-49AD-8E5F-74898537A11B}"/>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Delete the exact Resource Group and verify the result</a:t>
            </a:r>
          </a:p>
        </p:txBody>
      </p:sp>
      <p:sp>
        <p:nvSpPr>
          <p:cNvPr id="4" name="">
            <a:extLst xmlns:a="http://schemas.openxmlformats.org/drawingml/2006/main">
              <a:ext uri="{FF2B5EF4-FFF2-40B4-BE49-F238E27FC236}">
                <a16:creationId xmlns:a16="http://schemas.microsoft.com/office/drawing/2014/main" id="{62899C06-71EF-481A-9AB7-D35682E8704F}"/>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18</a:t>
            </a:r>
          </a:p>
        </p:txBody>
      </p:sp>
      <p:sp>
        <p:nvSpPr>
          <p:cNvPr id="5" name="">
            <a:extLst xmlns:a="http://schemas.openxmlformats.org/drawingml/2006/main">
              <a:ext uri="{FF2B5EF4-FFF2-40B4-BE49-F238E27FC236}">
                <a16:creationId xmlns:a16="http://schemas.microsoft.com/office/drawing/2014/main" id="{A57ED90C-5BD7-423B-BEEB-71F0FBA4B959}"/>
              </a:ext>
            </a:extLst>
          </p:cNvPr>
          <p:cNvSpPr>
            <a:spLocks xmlns:a="http://schemas.openxmlformats.org/drawingml/2006/main" noGrp="1"/>
          </p:cNvSpPr>
          <p:nvPr/>
        </p:nvSpPr>
        <p:spPr>
          <a:xfrm xmlns:a="http://schemas.openxmlformats.org/drawingml/2006/main">
            <a:off x="1143000" y="1666875"/>
            <a:ext cx="9906000" cy="1000125"/>
          </a:xfrm>
          <a:prstGeom xmlns:a="http://schemas.openxmlformats.org/drawingml/2006/main" prst="roundRect">
            <a:avLst>
              <a:gd name="adj" fmla="val 7619"/>
            </a:avLst>
          </a:prstGeom>
          <a:solidFill xmlns:a="http://schemas.openxmlformats.org/drawingml/2006/main">
            <a:srgbClr val="FFF4E8"/>
          </a:solidFill>
          <a:ln xmlns:a="http://schemas.openxmlformats.org/drawingml/2006/main" w="19050">
            <a:solidFill>
              <a:srgbClr val="D83B01"/>
            </a:solidFill>
          </a:ln>
        </p:spPr>
      </p:sp>
      <p:sp>
        <p:nvSpPr>
          <p:cNvPr id="6" name="">
            <a:extLst xmlns:a="http://schemas.openxmlformats.org/drawingml/2006/main">
              <a:ext uri="{FF2B5EF4-FFF2-40B4-BE49-F238E27FC236}">
                <a16:creationId xmlns:a16="http://schemas.microsoft.com/office/drawing/2014/main" id="{24466564-BF05-4850-83C9-02C41BDEF271}"/>
              </a:ext>
            </a:extLst>
          </p:cNvPr>
          <p:cNvSpPr>
            <a:spLocks xmlns:a="http://schemas.openxmlformats.org/drawingml/2006/main" noGrp="1"/>
          </p:cNvSpPr>
          <p:nvPr/>
        </p:nvSpPr>
        <p:spPr>
          <a:xfrm xmlns:a="http://schemas.openxmlformats.org/drawingml/2006/main">
            <a:off x="1524000" y="1952625"/>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D83B01"/>
                </a:solidFill>
                <a:latin typeface="Arial"/>
                <a:ea typeface="Arial"/>
                <a:cs typeface="Arial"/>
              </a:defRPr>
            </a:pPr>
            <a:r>
              <a:rPr sz="2025" b="1">
                <a:solidFill>
                  <a:srgbClr val="D83B01"/>
                </a:solidFill>
                <a:latin typeface="Arial"/>
                <a:ea typeface="Arial"/>
                <a:cs typeface="Arial"/>
              </a:rPr>
              <a:t>Deleting a Resource Group permanently deletes every resource inside it</a:t>
            </a:r>
          </a:p>
        </p:txBody>
      </p:sp>
      <p:sp>
        <p:nvSpPr>
          <p:cNvPr id="7" name="">
            <a:extLst xmlns:a="http://schemas.openxmlformats.org/drawingml/2006/main">
              <a:ext uri="{FF2B5EF4-FFF2-40B4-BE49-F238E27FC236}">
                <a16:creationId xmlns:a16="http://schemas.microsoft.com/office/drawing/2014/main" id="{98F37BC9-C3F8-4A7C-BEA2-02A4C4EDD2DE}"/>
              </a:ext>
            </a:extLst>
          </p:cNvPr>
          <p:cNvSpPr>
            <a:spLocks xmlns:a="http://schemas.openxmlformats.org/drawingml/2006/main" noGrp="1"/>
          </p:cNvSpPr>
          <p:nvPr/>
        </p:nvSpPr>
        <p:spPr>
          <a:xfrm xmlns:a="http://schemas.openxmlformats.org/drawingml/2006/main">
            <a:off x="762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AB13A42A-A87A-45A7-87A4-F472B071473D}"/>
              </a:ext>
            </a:extLst>
          </p:cNvPr>
          <p:cNvSpPr>
            <a:spLocks xmlns:a="http://schemas.openxmlformats.org/drawingml/2006/main" noGrp="1"/>
          </p:cNvSpPr>
          <p:nvPr/>
        </p:nvSpPr>
        <p:spPr>
          <a:xfrm xmlns:a="http://schemas.openxmlformats.org/drawingml/2006/main">
            <a:off x="333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Review contents</a:t>
            </a:r>
          </a:p>
        </p:txBody>
      </p:sp>
      <p:sp>
        <p:nvSpPr>
          <p:cNvPr id="9" name="">
            <a:extLst xmlns:a="http://schemas.openxmlformats.org/drawingml/2006/main">
              <a:ext uri="{FF2B5EF4-FFF2-40B4-BE49-F238E27FC236}">
                <a16:creationId xmlns:a16="http://schemas.microsoft.com/office/drawing/2014/main" id="{1CAB2A2E-67BB-400E-8F91-7A432666796F}"/>
              </a:ext>
            </a:extLst>
          </p:cNvPr>
          <p:cNvSpPr>
            <a:spLocks xmlns:a="http://schemas.openxmlformats.org/drawingml/2006/main" noGrp="1"/>
          </p:cNvSpPr>
          <p:nvPr/>
        </p:nvSpPr>
        <p:spPr>
          <a:xfrm xmlns:a="http://schemas.openxmlformats.org/drawingml/2006/main">
            <a:off x="1447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E64DCC-76F0-47F5-8E73-12D38E7006A4}"/>
              </a:ext>
            </a:extLst>
          </p:cNvPr>
          <p:cNvSpPr>
            <a:spLocks xmlns:a="http://schemas.openxmlformats.org/drawingml/2006/main" noGrp="1"/>
          </p:cNvSpPr>
          <p:nvPr/>
        </p:nvSpPr>
        <p:spPr>
          <a:xfrm xmlns:a="http://schemas.openxmlformats.org/drawingml/2006/main">
            <a:off x="36195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1D81FC2-C48B-4390-969A-21BCFFA3E2D7}"/>
              </a:ext>
            </a:extLst>
          </p:cNvPr>
          <p:cNvSpPr>
            <a:spLocks xmlns:a="http://schemas.openxmlformats.org/drawingml/2006/main" noGrp="1"/>
          </p:cNvSpPr>
          <p:nvPr/>
        </p:nvSpPr>
        <p:spPr>
          <a:xfrm xmlns:a="http://schemas.openxmlformats.org/drawingml/2006/main">
            <a:off x="3190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Confirm exact name</a:t>
            </a:r>
          </a:p>
        </p:txBody>
      </p:sp>
      <p:sp>
        <p:nvSpPr>
          <p:cNvPr id="12" name="">
            <a:extLst xmlns:a="http://schemas.openxmlformats.org/drawingml/2006/main">
              <a:ext uri="{FF2B5EF4-FFF2-40B4-BE49-F238E27FC236}">
                <a16:creationId xmlns:a16="http://schemas.microsoft.com/office/drawing/2014/main" id="{B14001BD-CF3D-408C-85F6-67035CC15850}"/>
              </a:ext>
            </a:extLst>
          </p:cNvPr>
          <p:cNvSpPr>
            <a:spLocks xmlns:a="http://schemas.openxmlformats.org/drawingml/2006/main" noGrp="1"/>
          </p:cNvSpPr>
          <p:nvPr/>
        </p:nvSpPr>
        <p:spPr>
          <a:xfrm xmlns:a="http://schemas.openxmlformats.org/drawingml/2006/main">
            <a:off x="43053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42B8F89-F1E0-4E49-8A04-03CFACE1C0FC}"/>
              </a:ext>
            </a:extLst>
          </p:cNvPr>
          <p:cNvSpPr>
            <a:spLocks xmlns:a="http://schemas.openxmlformats.org/drawingml/2006/main" noGrp="1"/>
          </p:cNvSpPr>
          <p:nvPr/>
        </p:nvSpPr>
        <p:spPr>
          <a:xfrm xmlns:a="http://schemas.openxmlformats.org/drawingml/2006/main">
            <a:off x="6477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34817BB0-93CF-4E53-8BC2-55BD0D41BE8F}"/>
              </a:ext>
            </a:extLst>
          </p:cNvPr>
          <p:cNvSpPr>
            <a:spLocks xmlns:a="http://schemas.openxmlformats.org/drawingml/2006/main" noGrp="1"/>
          </p:cNvSpPr>
          <p:nvPr/>
        </p:nvSpPr>
        <p:spPr>
          <a:xfrm xmlns:a="http://schemas.openxmlformats.org/drawingml/2006/main">
            <a:off x="6048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77"/>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Delete Resource Group</a:t>
            </a:r>
          </a:p>
        </p:txBody>
      </p:sp>
      <p:sp>
        <p:nvSpPr>
          <p:cNvPr id="15" name="">
            <a:extLst xmlns:a="http://schemas.openxmlformats.org/drawingml/2006/main">
              <a:ext uri="{FF2B5EF4-FFF2-40B4-BE49-F238E27FC236}">
                <a16:creationId xmlns:a16="http://schemas.microsoft.com/office/drawing/2014/main" id="{91313048-AD4B-42C2-8741-C703E5CFBE9F}"/>
              </a:ext>
            </a:extLst>
          </p:cNvPr>
          <p:cNvSpPr>
            <a:spLocks xmlns:a="http://schemas.openxmlformats.org/drawingml/2006/main" noGrp="1"/>
          </p:cNvSpPr>
          <p:nvPr/>
        </p:nvSpPr>
        <p:spPr>
          <a:xfrm xmlns:a="http://schemas.openxmlformats.org/drawingml/2006/main">
            <a:off x="7162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C665CA6-A525-4FA4-B625-BE4E90D81F2D}"/>
              </a:ext>
            </a:extLst>
          </p:cNvPr>
          <p:cNvSpPr>
            <a:spLocks xmlns:a="http://schemas.openxmlformats.org/drawingml/2006/main" noGrp="1"/>
          </p:cNvSpPr>
          <p:nvPr/>
        </p:nvSpPr>
        <p:spPr>
          <a:xfrm xmlns:a="http://schemas.openxmlformats.org/drawingml/2006/main">
            <a:off x="9334500" y="3476625"/>
            <a:ext cx="685800" cy="6858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DC5F8081-3F5E-4F2B-8DB8-19FE4CA29DC4}"/>
              </a:ext>
            </a:extLst>
          </p:cNvPr>
          <p:cNvSpPr>
            <a:spLocks xmlns:a="http://schemas.openxmlformats.org/drawingml/2006/main" noGrp="1"/>
          </p:cNvSpPr>
          <p:nvPr/>
        </p:nvSpPr>
        <p:spPr>
          <a:xfrm xmlns:a="http://schemas.openxmlformats.org/drawingml/2006/main">
            <a:off x="8905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Verify it is gone</a:t>
            </a:r>
          </a:p>
        </p:txBody>
      </p:sp>
      <p:sp>
        <p:nvSpPr>
          <p:cNvPr id="18" name="">
            <a:extLst xmlns:a="http://schemas.openxmlformats.org/drawingml/2006/main">
              <a:ext uri="{FF2B5EF4-FFF2-40B4-BE49-F238E27FC236}">
                <a16:creationId xmlns:a16="http://schemas.microsoft.com/office/drawing/2014/main" id="{9CF3D760-8F5B-4B50-84AF-2B965B672523}"/>
              </a:ext>
            </a:extLst>
          </p:cNvPr>
          <p:cNvSpPr>
            <a:spLocks xmlns:a="http://schemas.openxmlformats.org/drawingml/2006/main" noGrp="1"/>
          </p:cNvSpPr>
          <p:nvPr/>
        </p:nvSpPr>
        <p:spPr>
          <a:xfrm xmlns:a="http://schemas.openxmlformats.org/drawingml/2006/main">
            <a:off x="3286125" y="5429250"/>
            <a:ext cx="5619750" cy="533400"/>
          </a:xfrm>
          <a:prstGeom xmlns:a="http://schemas.openxmlformats.org/drawingml/2006/main" prst="roundRect">
            <a:avLst>
              <a:gd name="adj" fmla="val 14286"/>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75F66035-23D9-47BE-9C23-03DDBADB0520}"/>
              </a:ext>
            </a:extLst>
          </p:cNvPr>
          <p:cNvSpPr>
            <a:spLocks xmlns:a="http://schemas.openxmlformats.org/drawingml/2006/main" noGrp="1"/>
          </p:cNvSpPr>
          <p:nvPr/>
        </p:nvSpPr>
        <p:spPr>
          <a:xfrm xmlns:a="http://schemas.openxmlformats.org/drawingml/2006/main">
            <a:off x="3524250" y="55721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 group exists --name rg-mmaug-azurefundamentals</a:t>
            </a:r>
          </a:p>
        </p:txBody>
      </p:sp>
      <p:sp>
        <p:nvSpPr>
          <p:cNvPr id="20" name="">
            <a:extLst xmlns:a="http://schemas.openxmlformats.org/drawingml/2006/main">
              <a:ext uri="{FF2B5EF4-FFF2-40B4-BE49-F238E27FC236}">
                <a16:creationId xmlns:a16="http://schemas.microsoft.com/office/drawing/2014/main" id="{D39A34AE-AD50-4FDD-AD8C-20997C21A5AE}"/>
              </a:ext>
            </a:extLst>
          </p:cNvPr>
          <p:cNvSpPr>
            <a:spLocks xmlns:a="http://schemas.openxmlformats.org/drawingml/2006/main" noGrp="1"/>
          </p:cNvSpPr>
          <p:nvPr/>
        </p:nvSpPr>
        <p:spPr>
          <a:xfrm xmlns:a="http://schemas.openxmlformats.org/drawingml/2006/main">
            <a:off x="4762500" y="6048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7C10"/>
                </a:solidFill>
                <a:latin typeface="Arial"/>
                <a:ea typeface="Arial"/>
                <a:cs typeface="Arial"/>
              </a:defRPr>
            </a:pPr>
            <a:r>
              <a:rPr sz="1350" b="1">
                <a:solidFill>
                  <a:srgbClr val="107C10"/>
                </a:solidFill>
                <a:latin typeface="Arial"/>
                <a:ea typeface="Arial"/>
                <a:cs typeface="Arial"/>
              </a:rPr>
              <a:t>Expected: false</a:t>
            </a:r>
          </a:p>
        </p:txBody>
      </p:sp>
    </p:spTree>
    <p:extLst>
      <p:ext uri="{BB962C8B-B14F-4D97-AF65-F5344CB8AC3E}">
        <p14:creationId xmlns:p14="http://schemas.microsoft.com/office/powerpoint/2010/main" val="19469539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2026-09-29T13:22:01.1560000Z</dcterms:created>
  <dcterms:modified xsi:type="dcterms:W3CDTF">2026-09-29T13:22:01.1570000Z</dcterms:modified>
</coreProperties>
</file>